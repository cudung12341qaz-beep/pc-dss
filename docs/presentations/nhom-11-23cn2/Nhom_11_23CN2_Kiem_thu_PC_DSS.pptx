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25 giây.</a:t>
            </a:r>
          </a:p>
          <a:p/>
          <a:p>
            <a:r>
              <a:t>LỜI THUYẾT TRÌNH:</a:t>
            </a:r>
          </a:p>
          <a:p>
            <a:r>
              <a:t>Em chào cô và các bạn. Nhóm 11 xin trình bày đề tài kiểm thử thủ công và tự động hệ thống PC-DSS bằng Postman và Playwright. Trong bài này, nhóm tập trung vào cách thiết kế ca kiểm thử, thực hiện kiểm thử và đánh giá kết quả.</a:t>
            </a:r>
          </a:p>
          <a:p/>
          <a:p>
            <a:r>
              <a:t>NGUỒN:</a:t>
            </a:r>
          </a:p>
          <a:p>
            <a:r>
              <a:t>Tên giảng viên và thành viên theo trang bìa báo cáo Word; lớp, nhóm theo yêu cầu.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25 giây.</a:t>
            </a:r>
          </a:p>
          <a:p/>
          <a:p>
            <a:r>
              <a:t>LỜI THUYẾT TRÌNH:</a:t>
            </a:r>
          </a:p>
          <a:p>
            <a:r>
              <a:t>Bài trình bày gồm bốn chương. Trước hết nhóm giới thiệu đối tượng và mục tiêu kiểm thử. Tiếp theo là cách thiết kế các ca kiểm thử. Phần chính trình bày việc thực hiện bằng tay và bằng công cụ. Cuối cùng, nhóm tổng hợp kết quả, các lỗi còn mở và hướng cải thiện.</a:t>
            </a:r>
          </a:p>
          <a:p/>
          <a:p>
            <a:r>
              <a:t>NGUỒN:</a:t>
            </a:r>
          </a:p>
          <a:p>
            <a:r>
              <a:t>Bố cục thuyết trình mới, biên tập từ báo cáo và số liệu đã đối chiếu.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35 giây.</a:t>
            </a:r>
          </a:p>
          <a:p/>
          <a:p>
            <a:r>
              <a:t>LỜI THUYẾT TRÌNH:</a:t>
            </a:r>
          </a:p>
          <a:p>
            <a:r>
              <a:t>PC-DSS là website gợi ý các bộ máy tính có sẵn theo nhu cầu và ngân sách. Nhóm sử dụng website này để thực hành kiến thức của môn kiểm thử. Mục tiêu là xem chức năng có làm đúng yêu cầu hay không, phát hiện sai lệch và lưu lại kết quả có minh chứng. Sau đây là các thành phần mà nhóm kiểm tra.</a:t>
            </a:r>
          </a:p>
          <a:p/>
          <a:p>
            <a:r>
              <a:t>NGUỒN:</a:t>
            </a:r>
          </a:p>
          <a:p>
            <a:r>
              <a:t>Word §3.1 và §4.1. Phạm vi thực thi theo Chương 4, không lấy nội dung CRUD ở giai đoạn kế hoạch cũ làm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40 giây.</a:t>
            </a:r>
          </a:p>
          <a:p/>
          <a:p>
            <a:r>
              <a:t>LỜI THUYẾT TRÌNH:</a:t>
            </a:r>
          </a:p>
          <a:p>
            <a:r>
              <a:t>Giao diện là phần người dùng thao tác. API là nơi nhận yêu cầu từ giao diện, xử lý rồi trả lại kết quả. Backend sử dụng dữ liệu CSV và thông tin mô hình. Nhóm kiểm tra giao diện bằng tay và bằng Playwright; còn Postman kiểm tra API trực tiếp. Nhờ đó có thể xem lỗi phát sinh khi xử lý yêu cầu hay khi hiển thị. Tiếp theo, nhóm trình bày cách thiết kế kiểm thử.</a:t>
            </a:r>
          </a:p>
          <a:p/>
          <a:p>
            <a:r>
              <a:t>NGUỒN:</a:t>
            </a:r>
          </a:p>
          <a:p>
            <a:r>
              <a:t>Word Hình 3.1.1, §4.1; PM-001 xác nhận storage=csv. Sơ đồ là hình giải thích do biên tập, không phải ảnh minh chứng thực thi.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45 giây.</a:t>
            </a:r>
          </a:p>
          <a:p/>
          <a:p>
            <a:r>
              <a:t>LỜI THUYẾT TRÌNH:</a:t>
            </a:r>
          </a:p>
          <a:p>
            <a:r>
              <a:t>Muốn đánh giá đúng sai, trước hết cần xác định kết quả mong đợi. Nhóm kiểm tra năm yêu cầu chính: đúng nhu cầu, đúng khoảng giá, đúng số lượng, đúng thứ tự và đúng số tiền còn lại. Ví dụ chọn từ 10 đến dưới 15 triệu thì giá máy phải nằm trong khoảng đó. Nếu không đủ số máy hợp lệ thì số kết quả có thể ít hơn số Top được chọn.</a:t>
            </a:r>
          </a:p>
          <a:p/>
          <a:p>
            <a:r>
              <a:t>NGUỒN:</a:t>
            </a:r>
          </a:p>
          <a:p>
            <a:r>
              <a:t>Word §4.1/4.4 và Excel PM-011–032. Quy tắc đầy đủ: điểm giảm dần, sau đó giá tăng dần, sau đó PcId. Tình huống cùng điểm và cùng giá chưa có fixture riêng trong bộ 50 API. Gaming dùng 3DMark Time Spy Overall, Rendering dùng PCMark 10 Rendering and Visualization. Số tiền tính bằng budget − pc.priceVnd.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40 giây.</a:t>
            </a:r>
          </a:p>
          <a:p/>
          <a:p>
            <a:r>
              <a:t>LỜI THUYẾT TRÌNH:</a:t>
            </a:r>
          </a:p>
          <a:p>
            <a:r>
              <a:t>Nhóm chủ yếu sử dụng kiểm thử hộp đen: chọn đầu vào và kiểm tra đầu ra theo yêu cầu. Môi trường gồm giao diện, API và dữ liệu 36 PC của lần kiểm thử. Khi kết quả đúng yêu cầu, nhóm ghi Pass; nếu sai thì ghi Fail. Nếu không đủ điều kiện chạy, ví dụ backend dừng hoặc dữ liệu không phù hợp, cần ghi bị chặn, tức Blocked, thay vì kết luận phần mềm sai.</a:t>
            </a:r>
          </a:p>
          <a:p/>
          <a:p>
            <a:r>
              <a:t>NGUỒN:</a:t>
            </a:r>
          </a:p>
          <a:p>
            <a:r>
              <a:t>Word §4.1–4.2; Excel Huong_dan và Test_cases. Không khẳng định đã đo bao phủ mã nguồn, kiểm thử tải hoặc nhiều trình duyệt khi chưa có bằng chứng.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50 giây.</a:t>
            </a:r>
          </a:p>
          <a:p/>
          <a:p>
            <a:r>
              <a:t>LỜI THUYẾT TRÌNH:</a:t>
            </a:r>
          </a:p>
          <a:p>
            <a:r>
              <a:t>Nhóm vận dụng các kỹ thuật thiết kế ca kiểm thử đã học. Phân vùng tương đương giúp chọn đại diện cho dữ liệu hợp lệ và không hợp lệ. Phân tích giá trị biên tập trung vào điểm dễ sai, như giá máy bằng đúng cận dưới hoặc cận trên. Với PM-023, hai cận đều là 14.280.000 đồng, bằng giá PC-031; kết quả mong đợi là vẫn có máy này và tiền còn lại bằng không. Sau bước thiết kế, nhóm thực hiện kiểm thử theo ba hình thức.</a:t>
            </a:r>
          </a:p>
          <a:p/>
          <a:p>
            <a:r>
              <a:t>NGUỒN:</a:t>
            </a:r>
          </a:p>
          <a:p>
            <a:r>
              <a:t>Excel PM-023; các ca PM-033 và PM-046 có thể dùng khi giải thích thêm. Cơ cấu kỹ thuật API đã kiểm đếm: 26 tương đương, 15 biên, 4 quy tắc nghiệp vụ, 2 nhất quán, 1 cơ bản, 1 bảng quyết định, 1 đoán lỗi. Slide chọn ba kỹ thuật tiêu biểu, không nói toàn bộ bộ test chỉ có ba loại.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45 giây.</a:t>
            </a:r>
          </a:p>
          <a:p/>
          <a:p>
            <a:r>
              <a:t>LỜI THUYẾT TRÌNH:</a:t>
            </a:r>
          </a:p>
          <a:p>
            <a:r>
              <a:t>Với kiểm thử thủ công, người kiểm thử thực hiện từng bước trên giao diện, quan sát kết quả rồi tự đối chiếu yêu cầu. Các nội dung gồm điều hướng, lựa chọn nhu cầu, giá, số máy và thông tin hiển thị. Kết quả mới nhất nhóm xác nhận là 79 ca, gồm 77 đạt và hai không đạt. Slide tiếp theo minh họa cách nhóm kiểm tra một ca cụ thể.</a:t>
            </a:r>
          </a:p>
          <a:p/>
          <a:p>
            <a:r>
              <a:t>NGUỒN:</a:t>
            </a:r>
          </a:p>
          <a:p>
            <a:r>
              <a:t>Nhóm xác nhận trực tiếp 79 ca: 77 Pass, 2 Fail; chưa retest. Word §4.2–4.3 mô tả phạm vi nhưng số 80/80 là thông tin cũ.</a:t>
            </a:r>
          </a:p>
          <a:p/>
          <a:p>
            <a:r>
              <a:t>NHÓM CẦN KIỂM TRA / BỔ SUNG:</a:t>
            </a:r>
          </a:p>
          <a:p>
            <a:r>
              <a:t>Cần đối chiếu workbook Manual UI gốc. Đây là nguồn xác nhận từ nhóm, không phải số đếm trực tiếp workbook vì ZIP Playwright chưa tải được.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50 giây.</a:t>
            </a:r>
          </a:p>
          <a:p/>
          <a:p>
            <a:r>
              <a:t>LỜI THUYẾT TRÌNH:</a:t>
            </a:r>
          </a:p>
          <a:p>
            <a:r>
              <a:t>Ca này chọn Gaming, khoảng 10 đến dưới 15 triệu và Top 3. Nhóm kiểm tra thấy bốn máy đủ điều kiện và giao diện hiển thị ba máy. Giá lần lượt là 14.790.000, 14.680.000 và 14.680.000 đồng, đều trong khoảng chọn. Điểm giảm dần từ 8849,3 xuống 6600,3 rồi 5513,0. Những điều kiện quan sát này đúng với yêu cầu của ca kiểm thử.</a:t>
            </a:r>
          </a:p>
          <a:p/>
          <a:p>
            <a:r>
              <a:t>NGUỒN:</a:t>
            </a:r>
          </a:p>
          <a:p>
            <a:r>
              <a:t>Word Hình 4.1, Bảng 4.3, ảnh image11.png. Không dùng một ảnh để kết luận các ca thủ công khác đều đã thực hiện.</a:t>
            </a:r>
          </a:p>
          <a:p/>
          <a:p>
            <a:r>
              <a:t>NHÓM CẦN KIỂM TRA / BỔ SUNG:</a:t>
            </a:r>
          </a:p>
          <a:p>
            <a:r>
              <a:t>Ảnh gốc cắt sát card thứ ba. Có thể thay bằng ảnh chụp đủ ba card nhưng phải cùng tình huống và có thể truy vết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65 giây.</a:t>
            </a:r>
          </a:p>
          <a:p/>
          <a:p>
            <a:r>
              <a:t>LỜI THUYẾT TRÌNH:</a:t>
            </a:r>
          </a:p>
          <a:p>
            <a:r>
              <a:t>Postman cho phép gửi yêu cầu trực tiếp tới API. Nhóm có 50 ca từ PM-001 đến PM-050. Khi chạy thủ công, người kiểm thử tự đọc phản hồi, tự so sánh với kỳ vọng và ghi Excel. Ví dụ PM-029 dùng ngân sách 34.999.999 đồng. Máy PC-042 có giá 31.980.000, nên còn 3.019.999 đồng, khớp phản hồi. Hai máy còn lại cũng khớp. Kết quả 50 ca thủ công đạt được lấy từ Excel, không suy ra từ chạy tự động.</a:t>
            </a:r>
          </a:p>
          <a:p/>
          <a:p>
            <a:r>
              <a:t>NGUỒN:</a:t>
            </a:r>
          </a:p>
          <a:p>
            <a:r>
              <a:t>Excel Test_cases có 50 dòng, cột N đều Pass. PM-029-response.json và Word image13.png có phản hồi thật. Request PM-029: Gaming, minBudget 25.000.000, budget 34.999.999, topCount 3. Cơ cấu API: 1 health, 4 catalog, 5 prediction, 40 recommendation.</a:t>
            </a:r>
          </a:p>
          <a:p/>
          <a:p>
            <a:r>
              <a:t>NHÓM CẦN KIỂM TRA / BỔ SUNG:</a:t>
            </a:r>
          </a:p>
          <a:p>
            <a:r>
              <a:t>Không dùng image12.png chưa có response làm minh chứng kết quả. Kiểm tra ảnh giữ đúng dòng budgetRemainingVnd.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45 giây.</a:t>
            </a:r>
          </a:p>
          <a:p/>
          <a:p>
            <a:r>
              <a:t>LỜI THUYẾT TRÌNH:</a:t>
            </a:r>
          </a:p>
          <a:p>
            <a:r>
              <a:t>Thay vì mỗi lần đều đối chiếu bằng mắt, nhóm viết các điều kiện kiểm tra thành đoạn mã. Ví dụ dòng này so sánh tiền còn lại trong phản hồi với ngân sách trừ giá máy. Nếu không bằng nhau, phép kiểm tra báo không đạt. Một ca có thể kiểm tra nhiều điều kiện như mã HTTP, dữ liệu và giá, vì vậy số phép kiểm tra lớn hơn số testcase. Bộ thủ công và tự động vẫn là cùng 50 ca, không cộng thành 100.</a:t>
            </a:r>
          </a:p>
          <a:p/>
          <a:p>
            <a:r>
              <a:t>NGUỒN:</a:t>
            </a:r>
          </a:p>
          <a:p>
            <a:r>
              <a:t>Đoạn trích đúng từ assertions.js, khối kiểm tra tiền còn lại. eq gọi pm.expect(a).to.eql(b); check dùng pm.test. Đây là mã thật được trình bày bằng văn bản chỉnh sửa được, không phải ảnh minh chứng chạy.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55 giây.</a:t>
            </a:r>
          </a:p>
          <a:p/>
          <a:p>
            <a:r>
              <a:t>LỜI THUYẾT TRÌNH:</a:t>
            </a:r>
          </a:p>
          <a:p>
            <a:r>
              <a:t>Collection là tập các yêu cầu API và mã kiểm tra đi kèm. Nhóm chạy bộ này bằng Runner trong Postman và chạy một lần riêng bằng Newman trên dòng lệnh. Ảnh Runner ghi 257 phép kiểm tra đạt, không có không đạt, bỏ qua hay lỗi; báo cáo Newman cũng cho kết quả tương ứng. Đây là hai lần chạy cùng bộ 50 ca, không cộng số ca. Ngoài ra, HTTP 400, 404 hoặc 415 vẫn được chấm đạt nếu ca kiểm thử yêu cầu đúng phản hồi đó, như thiếu purpose, ID không tồn tại hoặc sai Content-Type.</a:t>
            </a:r>
          </a:p>
          <a:p/>
          <a:p>
            <a:r>
              <a:t>NGUỒN:</a:t>
            </a:r>
          </a:p>
          <a:p>
            <a:r>
              <a:t>Ảnh Runner Word image15.png; reports/2026-10-05T19-34-53-868Z/results.json và newman-full.json: 50 item, 257 assertions, 0 failures/skipped/errors. PM-033/PM-005/PM-050 lần lượt kỳ vọng 400/404/415. Không trộn thời gian chạy của hai lần.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65 giây.</a:t>
            </a:r>
          </a:p>
          <a:p/>
          <a:p>
            <a:r>
              <a:t>LỜI THUYẾT TRÌNH:</a:t>
            </a:r>
          </a:p>
          <a:p>
            <a:r>
              <a:t>Playwright tự thực hiện thao tác trên trình duyệt. Bộ test có tám ca cơ bản và 42 trường hợp kết hợp hai nhu cầu, bảy khoảng giá và ba lựa chọn Top. Kịch bản kiểm tra dữ liệu gửi đi, phản hồi API và thông tin hiển thị như số máy, thứ hạng, điểm và giá. Nhóm xác nhận 50 ca đạt. Bộ này tự động hóa một phần kiểm thử thủ công và mở rộng tổ hợp, nên không ghép từng ca theo quan hệ một–một. Mã liên kết cụ thể phải lấy từ cột Related Manual TC.</a:t>
            </a:r>
          </a:p>
          <a:p/>
          <a:p>
            <a:r>
              <a:t>NGUỒN:</a:t>
            </a:r>
          </a:p>
          <a:p>
            <a:r>
              <a:t>Cấu trúc Word §4.5: Home 1, điều hướng 3, purpose 2, validation 1, trạng thái 1, recommendation 42. Số liệu 50 Pass theo xác nhận trực tiếp của nhóm; chưa đối chiếu report trong ZIP vượt 32 MiB.</a:t>
            </a:r>
          </a:p>
          <a:p/>
          <a:p>
            <a:r>
              <a:t>NHÓM CẦN KIỂM TRA / BỔ SUNG:</a:t>
            </a:r>
          </a:p>
          <a:p>
            <a:r>
              <a:t>Bổ sung report Playwright PC-DSS thật và 2–3 dòng có Related Manual TC; không đoán mã. Hình Word về 6 ca example.spec.js không phải minh chứng bộ 50 PC-DSS. Giữ hai ca Manual Fail chưa retest dù Playwright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45 giây.</a:t>
            </a:r>
          </a:p>
          <a:p/>
          <a:p>
            <a:r>
              <a:t>LỜI THUYẾT TRÌNH:</a:t>
            </a:r>
          </a:p>
          <a:p>
            <a:r>
              <a:t>Chuyển sang chương cuối, nhóm tổng hợp kết quả theo từng bộ. Giao diện thủ công có 79 ca, gồm 77 đạt và hai không đạt. Postman có 50 ca đạt và khi tự động hóa ghi nhận 257 phép kiểm tra đạt. Playwright có 50 ca đạt. Các bộ có phần nội dung giao nhau, nên nhóm không cộng chúng thành tổng số tình huống nghiệp vụ độc lập. Sau đây là tình trạng hai ca còn lại.</a:t>
            </a:r>
          </a:p>
          <a:p/>
          <a:p>
            <a:r>
              <a:t>NGUỒN:</a:t>
            </a:r>
          </a:p>
          <a:p>
            <a:r>
              <a:t>API đã đối chiếu trực tiếp Excel, Runner và Newman. Manual UI và Playwright theo nhóm xác nhận mới nhất, thay cho số liệu mâu thuẫn trong Word.</a:t>
            </a:r>
          </a:p>
          <a:p/>
          <a:p>
            <a:r>
              <a:t>NHÓM CẦN KIỂM TRA / BỔ SUNG:</a:t>
            </a:r>
          </a:p>
          <a:p>
            <a:r>
              <a:t>Chưa kiểm chứng trực tiếp workbook UI và report Playwright. Bổ sung nguồn trước bảo vệ; không nói đã đếm workbook khi chưa đọc.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45 giây.</a:t>
            </a:r>
          </a:p>
          <a:p/>
          <a:p>
            <a:r>
              <a:t>LỜI THUYẾT TRÌNH:</a:t>
            </a:r>
          </a:p>
          <a:p>
            <a:r>
              <a:t>Hai ca này hiện có kết quả không đạt và nhóm xác nhận chưa có kiểm thử lại. Vì vậy nhóm giữ trạng thái còn mở. Cách xử lý tiếp theo là lưu đủ thông tin lỗi, sửa, chạy lại chính ca đó rồi cập nhật kết quả. Việc Playwright có 50 ca đạt không có nghĩa hai ca thủ công đã hết lỗi, vì các ca có thể kiểm tra điều kiện khác nhau.</a:t>
            </a:r>
          </a:p>
          <a:p/>
          <a:p>
            <a:r>
              <a:t>NGUỒN:</a:t>
            </a:r>
          </a:p>
          <a:p>
            <a:r>
              <a:t>Hai mã ca theo yêu cầu và xác nhận của nhóm. Không có căn cứ gán Bug ID, mô tả chi tiết lỗi, mức độ, nguyên nhân hay kết quả sửa/retest. Excel Postman Bug_log trống chỉ áp dụng phần API.</a:t>
            </a:r>
          </a:p>
          <a:p/>
          <a:p>
            <a:r>
              <a:t>NHÓM CẦN KIỂM TRA / BỔ SUNG:</a:t>
            </a:r>
          </a:p>
          <a:p>
            <a:r>
              <a:t>Bổ sung ảnh, bước tái hiện, kết quả mong đợi và thực tế cho từng ca. Chỉ thêm Bug ID nếu đã tồn tại; chỉ ghi đã sửa khi có bằng chứng, đã retest khi có lần chạy lại thật.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40 giây.</a:t>
            </a:r>
          </a:p>
          <a:p/>
          <a:p>
            <a:r>
              <a:t>LỜI THUYẾT TRÌNH:</a:t>
            </a:r>
          </a:p>
          <a:p>
            <a:r>
              <a:t>Kết quả hiện tại chỉ có ý nghĩa với các điều kiện và dữ liệu đã kiểm tra. Nhóm tập trung vào chức năng, chưa có bằng chứng cho kiểm thử tải, bảo mật chuyên sâu hay bao phủ mã nguồn. Trong thời gian tiếp theo, ưu tiên là xử lý hai lỗi còn mở, bổ sung tình huống đặc biệt và mở rộng môi trường chạy. Kết quả kiểm thử chức năng cũng không chứng minh mô hình dự đoán hiệu năng chính xác với thực tế.</a:t>
            </a:r>
          </a:p>
          <a:p/>
          <a:p>
            <a:r>
              <a:t>NGUỒN:</a:t>
            </a:r>
          </a:p>
          <a:p>
            <a:r>
              <a:t>Word §4.4.7/4.9 và kết luận. Hướng bổ sung API: reference thiếu trả 422, lỗi dữ liệu CSV/model, thứ tự PcId khi bằng điểm và bằng giá. Mở rộng đa trình duyệt là đề xuất, không phải kết quả đã xác minh.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35 giây.</a:t>
            </a:r>
          </a:p>
          <a:p/>
          <a:p>
            <a:r>
              <a:t>LỜI THUYẾT TRÌNH:</a:t>
            </a:r>
          </a:p>
          <a:p>
            <a:r>
              <a:t>Qua đề tài, nhóm đã vận dụng kiến thức thiết kế testcase và thực hiện kiểm thử trên hệ thống thực tế. Postman giúp kiểm tra API, còn Playwright hỗ trợ tự động hóa thao tác giao diện. Bài học chính là luôn đối chiếu kết quả với yêu cầu và lưu minh chứng; không kết luận hệ thống hết lỗi chỉ vì nhiều ca đạt. Nhóm vẫn cần tiếp tục xử lý hai ca giao diện còn mở.</a:t>
            </a:r>
          </a:p>
          <a:p/>
          <a:p>
            <a:r>
              <a:t>NGUỒN:</a:t>
            </a:r>
          </a:p>
          <a:p>
            <a:r>
              <a:t>Tổng hợp phạm vi và số liệu đã trình bày; không đưa thêm kết quả hoặc số liệu mới.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25 giây.</a:t>
            </a:r>
          </a:p>
          <a:p/>
          <a:p>
            <a:r>
              <a:t>LỜI THUYẾT TRÌNH:</a:t>
            </a:r>
          </a:p>
          <a:p>
            <a:r>
              <a:t>Nhóm xin kết thúc phần trình bày. Nếu thời gian cho phép, nhóm minh họa PM-029 bằng cách gửi yêu cầu, xem giá máy và đối chiếu tiền còn lại. Cảm ơn cô và các bạn đã lắng nghe; nhóm xin nhận câu hỏi và góp ý.</a:t>
            </a:r>
          </a:p>
          <a:p/>
          <a:p>
            <a:r>
              <a:t>NGUỒN:</a:t>
            </a:r>
          </a:p>
          <a:p>
            <a:r>
              <a:t>PM-029 từ bộ Postman của nhóm; không tạo thêm kết quả giả cho demo.</a:t>
            </a:r>
          </a:p>
          <a:p/>
          <a:p>
            <a:r>
              <a:t>NHÓM CẦN KIỂM TRA / BỔ SUNG:</a:t>
            </a:r>
          </a:p>
          <a:p>
            <a:r>
              <a:t>Chuẩn bị sẵn API và request PM-029. Dành tối đa khoảng 1–2 phút demo để tổng thời lượng trong 15 phút; không cần mở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21207" y="246888"/>
            <a:ext cx="10972800" cy="283464"/>
          </a:xfrm>
          <a:prstGeom prst="rect">
            <a:avLst/>
          </a:prstGeom>
          <a:noFill/>
        </p:spPr>
        <p:txBody>
          <a:bodyPr wrap="square" lIns="18288" rIns="18288" tIns="18288" bIns="18288">
            <a:spAutoFit/>
          </a:bodyPr>
          <a:lstStyle/>
          <a:p>
            <a:pPr>
              <a:spcAft>
                <a:spcPts val="700"/>
              </a:spcAft>
              <a:defRPr sz="1200" b="1">
                <a:solidFill>
                  <a:srgbClr val="087F83"/>
                </a:solidFill>
                <a:latin typeface="DejaVu Sans"/>
              </a:defRPr>
            </a:pPr>
            <a:r>
              <a:t>KIỂM THỬ VÀ ĐẢM BẢO CHẤT LƯỢNG PHẦN MỀM</a:t>
            </a:r>
          </a:p>
        </p:txBody>
      </p:sp>
      <p:sp>
        <p:nvSpPr>
          <p:cNvPr id="3" name="TextBox 2"/>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KIỂM THỬ THỦ CÔNG VÀ TỰ ĐỘNG</a:t>
            </a:r>
          </a:p>
        </p:txBody>
      </p:sp>
      <p:sp>
        <p:nvSpPr>
          <p:cNvPr id="4" name="Rectangle 3"/>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6" name="TextBox 5"/>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01</a:t>
            </a:r>
          </a:p>
        </p:txBody>
      </p:sp>
      <p:sp>
        <p:nvSpPr>
          <p:cNvPr id="7" name="TextBox 6"/>
          <p:cNvSpPr txBox="1"/>
          <p:nvPr/>
        </p:nvSpPr>
        <p:spPr>
          <a:xfrm>
            <a:off x="548640" y="1773936"/>
            <a:ext cx="10972800" cy="1097280"/>
          </a:xfrm>
          <a:prstGeom prst="rect">
            <a:avLst/>
          </a:prstGeom>
          <a:noFill/>
        </p:spPr>
        <p:txBody>
          <a:bodyPr wrap="square" lIns="18288" rIns="18288" tIns="18288" bIns="18288">
            <a:spAutoFit/>
          </a:bodyPr>
          <a:lstStyle/>
          <a:p>
            <a:pPr>
              <a:spcAft>
                <a:spcPts val="700"/>
              </a:spcAft>
              <a:defRPr sz="2900" b="1">
                <a:solidFill>
                  <a:srgbClr val="142B49"/>
                </a:solidFill>
                <a:latin typeface="DejaVu Sans"/>
              </a:defRPr>
            </a:pPr>
            <a:r>
              <a:t>Hệ thống hỗ trợ lựa chọn cấu hình máy tính</a:t>
            </a:r>
          </a:p>
          <a:p>
            <a:pPr>
              <a:spcAft>
                <a:spcPts val="700"/>
              </a:spcAft>
              <a:defRPr sz="2900" b="1">
                <a:solidFill>
                  <a:srgbClr val="142B49"/>
                </a:solidFill>
                <a:latin typeface="DejaVu Sans"/>
              </a:defRPr>
            </a:pPr>
            <a:r>
              <a:t>PC-DSS với Postman và Playwright</a:t>
            </a:r>
          </a:p>
        </p:txBody>
      </p:sp>
      <p:sp>
        <p:nvSpPr>
          <p:cNvPr id="8" name="TextBox 7"/>
          <p:cNvSpPr txBox="1"/>
          <p:nvPr/>
        </p:nvSpPr>
        <p:spPr>
          <a:xfrm>
            <a:off x="548640" y="3081528"/>
            <a:ext cx="10972800" cy="502920"/>
          </a:xfrm>
          <a:prstGeom prst="rect">
            <a:avLst/>
          </a:prstGeom>
          <a:noFill/>
        </p:spPr>
        <p:txBody>
          <a:bodyPr wrap="square" lIns="18288" rIns="18288" tIns="18288" bIns="18288">
            <a:spAutoFit/>
          </a:bodyPr>
          <a:lstStyle/>
          <a:p>
            <a:pPr>
              <a:spcAft>
                <a:spcPts val="700"/>
              </a:spcAft>
              <a:defRPr sz="2600" b="1">
                <a:solidFill>
                  <a:srgbClr val="087F83"/>
                </a:solidFill>
                <a:latin typeface="DejaVu Sans"/>
              </a:defRPr>
            </a:pPr>
            <a:r>
              <a:t>Nhóm 11 · Lớp 23CN2</a:t>
            </a:r>
          </a:p>
        </p:txBody>
      </p:sp>
      <p:sp>
        <p:nvSpPr>
          <p:cNvPr id="9" name="TextBox 8"/>
          <p:cNvSpPr txBox="1"/>
          <p:nvPr/>
        </p:nvSpPr>
        <p:spPr>
          <a:xfrm>
            <a:off x="548640" y="3721608"/>
            <a:ext cx="10972800" cy="512064"/>
          </a:xfrm>
          <a:prstGeom prst="rect">
            <a:avLst/>
          </a:prstGeom>
          <a:noFill/>
        </p:spPr>
        <p:txBody>
          <a:bodyPr wrap="square" lIns="18288" rIns="18288" tIns="18288" bIns="18288">
            <a:spAutoFit/>
          </a:bodyPr>
          <a:lstStyle/>
          <a:p>
            <a:pPr>
              <a:spcAft>
                <a:spcPts val="700"/>
              </a:spcAft>
              <a:defRPr sz="2300" b="0">
                <a:solidFill>
                  <a:srgbClr val="23384F"/>
                </a:solidFill>
                <a:latin typeface="DejaVu Sans"/>
              </a:defRPr>
            </a:pPr>
            <a:r>
              <a:t>Giảng viên hướng dẫn: ThS. Nguyễn Thị Hạnh</a:t>
            </a:r>
          </a:p>
        </p:txBody>
      </p:sp>
      <p:sp>
        <p:nvSpPr>
          <p:cNvPr id="10" name="TextBox 9"/>
          <p:cNvSpPr txBox="1"/>
          <p:nvPr/>
        </p:nvSpPr>
        <p:spPr>
          <a:xfrm>
            <a:off x="548640" y="4608576"/>
            <a:ext cx="5669280" cy="950976"/>
          </a:xfrm>
          <a:prstGeom prst="rect">
            <a:avLst/>
          </a:prstGeom>
          <a:noFill/>
        </p:spPr>
        <p:txBody>
          <a:bodyPr wrap="square" lIns="18288" rIns="18288" tIns="18288" bIns="18288">
            <a:spAutoFit/>
          </a:bodyPr>
          <a:lstStyle/>
          <a:p>
            <a:pPr>
              <a:spcAft>
                <a:spcPts val="700"/>
              </a:spcAft>
              <a:defRPr sz="1800" b="0">
                <a:solidFill>
                  <a:srgbClr val="23384F"/>
                </a:solidFill>
                <a:latin typeface="DejaVu Sans"/>
              </a:defRPr>
            </a:pPr>
            <a:r>
              <a:t>Nguyễn Văn Quang Khải — 2355010114</a:t>
            </a:r>
          </a:p>
          <a:p>
            <a:pPr>
              <a:spcAft>
                <a:spcPts val="700"/>
              </a:spcAft>
              <a:defRPr sz="1800" b="0">
                <a:solidFill>
                  <a:srgbClr val="23384F"/>
                </a:solidFill>
                <a:latin typeface="DejaVu Sans"/>
              </a:defRPr>
            </a:pPr>
            <a:r>
              <a:t>Đinh Văn Chí — 2355010034</a:t>
            </a:r>
          </a:p>
        </p:txBody>
      </p:sp>
      <p:sp>
        <p:nvSpPr>
          <p:cNvPr id="11" name="TextBox 10"/>
          <p:cNvSpPr txBox="1"/>
          <p:nvPr/>
        </p:nvSpPr>
        <p:spPr>
          <a:xfrm>
            <a:off x="6373368" y="4608576"/>
            <a:ext cx="5330952" cy="950976"/>
          </a:xfrm>
          <a:prstGeom prst="rect">
            <a:avLst/>
          </a:prstGeom>
          <a:noFill/>
        </p:spPr>
        <p:txBody>
          <a:bodyPr wrap="square" lIns="18288" rIns="18288" tIns="18288" bIns="18288">
            <a:spAutoFit/>
          </a:bodyPr>
          <a:lstStyle/>
          <a:p>
            <a:pPr>
              <a:spcAft>
                <a:spcPts val="700"/>
              </a:spcAft>
              <a:defRPr sz="1800" b="0">
                <a:solidFill>
                  <a:srgbClr val="23384F"/>
                </a:solidFill>
                <a:latin typeface="DejaVu Sans"/>
              </a:defRPr>
            </a:pPr>
            <a:r>
              <a:t>Cù Huy Dũng — 2355010038</a:t>
            </a:r>
          </a:p>
          <a:p>
            <a:pPr>
              <a:spcAft>
                <a:spcPts val="700"/>
              </a:spcAft>
              <a:defRPr sz="1800" b="0">
                <a:solidFill>
                  <a:srgbClr val="23384F"/>
                </a:solidFill>
                <a:latin typeface="DejaVu Sans"/>
              </a:defRPr>
            </a:pPr>
            <a:r>
              <a:t>Đỗ Thị Quỳnh Hương — 2355020043</a:t>
            </a:r>
          </a:p>
        </p:txBody>
      </p:sp>
      <p:sp>
        <p:nvSpPr>
          <p:cNvPr id="12" name="TextBox 11"/>
          <p:cNvSpPr txBox="1"/>
          <p:nvPr/>
        </p:nvSpPr>
        <p:spPr>
          <a:xfrm>
            <a:off x="566928" y="6117336"/>
            <a:ext cx="10972800" cy="246888"/>
          </a:xfrm>
          <a:prstGeom prst="rect">
            <a:avLst/>
          </a:prstGeom>
          <a:noFill/>
        </p:spPr>
        <p:txBody>
          <a:bodyPr wrap="square" lIns="18288" rIns="18288" tIns="18288" bIns="18288">
            <a:spAutoFit/>
          </a:bodyPr>
          <a:lstStyle/>
          <a:p>
            <a:pPr>
              <a:spcAft>
                <a:spcPts val="700"/>
              </a:spcAft>
              <a:defRPr sz="1100" b="0">
                <a:solidFill>
                  <a:srgbClr val="5A6B7E"/>
                </a:solidFill>
                <a:latin typeface="DejaVu Sans"/>
              </a:defRPr>
            </a:pPr>
            <a:r>
              <a:t>Trường Đại học Kiến trúc Hà Nội · Khoa Công nghệ thông 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21207" y="246888"/>
            <a:ext cx="10972800" cy="283464"/>
          </a:xfrm>
          <a:prstGeom prst="rect">
            <a:avLst/>
          </a:prstGeom>
          <a:noFill/>
        </p:spPr>
        <p:txBody>
          <a:bodyPr wrap="square" lIns="18288" rIns="18288" tIns="18288" bIns="18288">
            <a:spAutoFit/>
          </a:bodyPr>
          <a:lstStyle/>
          <a:p>
            <a:pPr>
              <a:spcAft>
                <a:spcPts val="700"/>
              </a:spcAft>
              <a:defRPr sz="1200" b="1">
                <a:solidFill>
                  <a:srgbClr val="087F83"/>
                </a:solidFill>
                <a:latin typeface="DejaVu Sans"/>
              </a:defRPr>
            </a:pPr>
            <a:r>
              <a:t>KIỂM THỬ VÀ ĐẢM BẢO CHẤT LƯỢNG PHẦN MỀM</a:t>
            </a:r>
          </a:p>
        </p:txBody>
      </p:sp>
      <p:sp>
        <p:nvSpPr>
          <p:cNvPr id="3" name="TextBox 2"/>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NỘI DUNG TRÌNH BÀY</a:t>
            </a:r>
          </a:p>
        </p:txBody>
      </p:sp>
      <p:sp>
        <p:nvSpPr>
          <p:cNvPr id="4" name="Rectangle 3"/>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6" name="TextBox 5"/>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02</a:t>
            </a:r>
          </a:p>
        </p:txBody>
      </p:sp>
      <p:sp>
        <p:nvSpPr>
          <p:cNvPr id="7" name="Rounded Rectangle 6"/>
          <p:cNvSpPr/>
          <p:nvPr/>
        </p:nvSpPr>
        <p:spPr>
          <a:xfrm>
            <a:off x="548640" y="1810512"/>
            <a:ext cx="749808" cy="749808"/>
          </a:xfrm>
          <a:prstGeom prst="roundRect">
            <a:avLst>
              <a:gd name="adj" fmla="val 12000"/>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40080" y="1984248"/>
            <a:ext cx="566928" cy="429768"/>
          </a:xfrm>
          <a:prstGeom prst="rect">
            <a:avLst/>
          </a:prstGeom>
          <a:noFill/>
        </p:spPr>
        <p:txBody>
          <a:bodyPr wrap="square" lIns="18288" rIns="18288" tIns="18288" bIns="18288">
            <a:spAutoFit/>
          </a:bodyPr>
          <a:lstStyle/>
          <a:p>
            <a:pPr algn="ctr">
              <a:spcAft>
                <a:spcPts val="700"/>
              </a:spcAft>
              <a:defRPr sz="2500" b="1">
                <a:solidFill>
                  <a:srgbClr val="FFFFFF"/>
                </a:solidFill>
                <a:latin typeface="DejaVu Sans"/>
              </a:defRPr>
            </a:pPr>
            <a:r>
              <a:t>01</a:t>
            </a:r>
          </a:p>
        </p:txBody>
      </p:sp>
      <p:sp>
        <p:nvSpPr>
          <p:cNvPr id="9" name="TextBox 8"/>
          <p:cNvSpPr txBox="1"/>
          <p:nvPr/>
        </p:nvSpPr>
        <p:spPr>
          <a:xfrm>
            <a:off x="1554480" y="1847088"/>
            <a:ext cx="9966960" cy="393192"/>
          </a:xfrm>
          <a:prstGeom prst="rect">
            <a:avLst/>
          </a:prstGeom>
          <a:noFill/>
        </p:spPr>
        <p:txBody>
          <a:bodyPr wrap="square" lIns="18288" rIns="18288" tIns="18288" bIns="18288">
            <a:spAutoFit/>
          </a:bodyPr>
          <a:lstStyle/>
          <a:p>
            <a:pPr>
              <a:spcAft>
                <a:spcPts val="700"/>
              </a:spcAft>
              <a:defRPr sz="2400" b="1">
                <a:solidFill>
                  <a:srgbClr val="142B49"/>
                </a:solidFill>
                <a:latin typeface="DejaVu Sans"/>
              </a:defRPr>
            </a:pPr>
            <a:r>
              <a:t>Tổng quan và mục tiêu</a:t>
            </a:r>
          </a:p>
        </p:txBody>
      </p:sp>
      <p:sp>
        <p:nvSpPr>
          <p:cNvPr id="10" name="TextBox 9"/>
          <p:cNvSpPr txBox="1"/>
          <p:nvPr/>
        </p:nvSpPr>
        <p:spPr>
          <a:xfrm>
            <a:off x="1554480" y="2322576"/>
            <a:ext cx="9966960" cy="393192"/>
          </a:xfrm>
          <a:prstGeom prst="rect">
            <a:avLst/>
          </a:prstGeom>
          <a:noFill/>
        </p:spPr>
        <p:txBody>
          <a:bodyPr wrap="square" lIns="18288" rIns="18288" tIns="18288" bIns="18288">
            <a:spAutoFit/>
          </a:bodyPr>
          <a:lstStyle/>
          <a:p>
            <a:pPr>
              <a:spcAft>
                <a:spcPts val="700"/>
              </a:spcAft>
              <a:defRPr sz="1900" b="0">
                <a:solidFill>
                  <a:srgbClr val="5A6B7E"/>
                </a:solidFill>
                <a:latin typeface="DejaVu Sans"/>
              </a:defRPr>
            </a:pPr>
            <a:r>
              <a:t>Nhóm kiểm thử hệ thống nào?</a:t>
            </a:r>
          </a:p>
        </p:txBody>
      </p:sp>
      <p:sp>
        <p:nvSpPr>
          <p:cNvPr id="11" name="Rounded Rectangle 10"/>
          <p:cNvSpPr/>
          <p:nvPr/>
        </p:nvSpPr>
        <p:spPr>
          <a:xfrm>
            <a:off x="548640" y="2798064"/>
            <a:ext cx="749808" cy="749808"/>
          </a:xfrm>
          <a:prstGeom prst="roundRect">
            <a:avLst>
              <a:gd name="adj" fmla="val 12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0080" y="2971800"/>
            <a:ext cx="566928" cy="429768"/>
          </a:xfrm>
          <a:prstGeom prst="rect">
            <a:avLst/>
          </a:prstGeom>
          <a:noFill/>
        </p:spPr>
        <p:txBody>
          <a:bodyPr wrap="square" lIns="18288" rIns="18288" tIns="18288" bIns="18288">
            <a:spAutoFit/>
          </a:bodyPr>
          <a:lstStyle/>
          <a:p>
            <a:pPr algn="ctr">
              <a:spcAft>
                <a:spcPts val="700"/>
              </a:spcAft>
              <a:defRPr sz="2500" b="1">
                <a:solidFill>
                  <a:srgbClr val="FFFFFF"/>
                </a:solidFill>
                <a:latin typeface="DejaVu Sans"/>
              </a:defRPr>
            </a:pPr>
            <a:r>
              <a:t>02</a:t>
            </a:r>
          </a:p>
        </p:txBody>
      </p:sp>
      <p:sp>
        <p:nvSpPr>
          <p:cNvPr id="13" name="TextBox 12"/>
          <p:cNvSpPr txBox="1"/>
          <p:nvPr/>
        </p:nvSpPr>
        <p:spPr>
          <a:xfrm>
            <a:off x="1554480" y="2834640"/>
            <a:ext cx="9966960" cy="393192"/>
          </a:xfrm>
          <a:prstGeom prst="rect">
            <a:avLst/>
          </a:prstGeom>
          <a:noFill/>
        </p:spPr>
        <p:txBody>
          <a:bodyPr wrap="square" lIns="18288" rIns="18288" tIns="18288" bIns="18288">
            <a:spAutoFit/>
          </a:bodyPr>
          <a:lstStyle/>
          <a:p>
            <a:pPr>
              <a:spcAft>
                <a:spcPts val="700"/>
              </a:spcAft>
              <a:defRPr sz="2400" b="1">
                <a:solidFill>
                  <a:srgbClr val="142B49"/>
                </a:solidFill>
                <a:latin typeface="DejaVu Sans"/>
              </a:defRPr>
            </a:pPr>
            <a:r>
              <a:t>Thiết kế kiểm thử</a:t>
            </a:r>
          </a:p>
        </p:txBody>
      </p:sp>
      <p:sp>
        <p:nvSpPr>
          <p:cNvPr id="14" name="TextBox 13"/>
          <p:cNvSpPr txBox="1"/>
          <p:nvPr/>
        </p:nvSpPr>
        <p:spPr>
          <a:xfrm>
            <a:off x="1554480" y="3310128"/>
            <a:ext cx="9966960" cy="393192"/>
          </a:xfrm>
          <a:prstGeom prst="rect">
            <a:avLst/>
          </a:prstGeom>
          <a:noFill/>
        </p:spPr>
        <p:txBody>
          <a:bodyPr wrap="square" lIns="18288" rIns="18288" tIns="18288" bIns="18288">
            <a:spAutoFit/>
          </a:bodyPr>
          <a:lstStyle/>
          <a:p>
            <a:pPr>
              <a:spcAft>
                <a:spcPts val="700"/>
              </a:spcAft>
              <a:defRPr sz="1900" b="0">
                <a:solidFill>
                  <a:srgbClr val="5A6B7E"/>
                </a:solidFill>
                <a:latin typeface="DejaVu Sans"/>
              </a:defRPr>
            </a:pPr>
            <a:r>
              <a:t>Nhóm chọn nội dung và cách kiểm tra ra sao?</a:t>
            </a:r>
          </a:p>
        </p:txBody>
      </p:sp>
      <p:sp>
        <p:nvSpPr>
          <p:cNvPr id="15" name="Rounded Rectangle 14"/>
          <p:cNvSpPr/>
          <p:nvPr/>
        </p:nvSpPr>
        <p:spPr>
          <a:xfrm>
            <a:off x="548640" y="3785616"/>
            <a:ext cx="749808" cy="749808"/>
          </a:xfrm>
          <a:prstGeom prst="roundRect">
            <a:avLst>
              <a:gd name="adj" fmla="val 12000"/>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40080" y="3959352"/>
            <a:ext cx="566928" cy="429768"/>
          </a:xfrm>
          <a:prstGeom prst="rect">
            <a:avLst/>
          </a:prstGeom>
          <a:noFill/>
        </p:spPr>
        <p:txBody>
          <a:bodyPr wrap="square" lIns="18288" rIns="18288" tIns="18288" bIns="18288">
            <a:spAutoFit/>
          </a:bodyPr>
          <a:lstStyle/>
          <a:p>
            <a:pPr algn="ctr">
              <a:spcAft>
                <a:spcPts val="700"/>
              </a:spcAft>
              <a:defRPr sz="2500" b="1">
                <a:solidFill>
                  <a:srgbClr val="FFFFFF"/>
                </a:solidFill>
                <a:latin typeface="DejaVu Sans"/>
              </a:defRPr>
            </a:pPr>
            <a:r>
              <a:t>03</a:t>
            </a:r>
          </a:p>
        </p:txBody>
      </p:sp>
      <p:sp>
        <p:nvSpPr>
          <p:cNvPr id="17" name="TextBox 16"/>
          <p:cNvSpPr txBox="1"/>
          <p:nvPr/>
        </p:nvSpPr>
        <p:spPr>
          <a:xfrm>
            <a:off x="1554480" y="3822192"/>
            <a:ext cx="9966960" cy="393192"/>
          </a:xfrm>
          <a:prstGeom prst="rect">
            <a:avLst/>
          </a:prstGeom>
          <a:noFill/>
        </p:spPr>
        <p:txBody>
          <a:bodyPr wrap="square" lIns="18288" rIns="18288" tIns="18288" bIns="18288">
            <a:spAutoFit/>
          </a:bodyPr>
          <a:lstStyle/>
          <a:p>
            <a:pPr>
              <a:spcAft>
                <a:spcPts val="700"/>
              </a:spcAft>
              <a:defRPr sz="2400" b="1">
                <a:solidFill>
                  <a:srgbClr val="142B49"/>
                </a:solidFill>
                <a:latin typeface="DejaVu Sans"/>
              </a:defRPr>
            </a:pPr>
            <a:r>
              <a:t>Thực hiện kiểm thử</a:t>
            </a:r>
          </a:p>
        </p:txBody>
      </p:sp>
      <p:sp>
        <p:nvSpPr>
          <p:cNvPr id="18" name="TextBox 17"/>
          <p:cNvSpPr txBox="1"/>
          <p:nvPr/>
        </p:nvSpPr>
        <p:spPr>
          <a:xfrm>
            <a:off x="1554480" y="4297680"/>
            <a:ext cx="9966960" cy="393192"/>
          </a:xfrm>
          <a:prstGeom prst="rect">
            <a:avLst/>
          </a:prstGeom>
          <a:noFill/>
        </p:spPr>
        <p:txBody>
          <a:bodyPr wrap="square" lIns="18288" rIns="18288" tIns="18288" bIns="18288">
            <a:spAutoFit/>
          </a:bodyPr>
          <a:lstStyle/>
          <a:p>
            <a:pPr>
              <a:spcAft>
                <a:spcPts val="700"/>
              </a:spcAft>
              <a:defRPr sz="1900" b="0">
                <a:solidFill>
                  <a:srgbClr val="5A6B7E"/>
                </a:solidFill>
                <a:latin typeface="DejaVu Sans"/>
              </a:defRPr>
            </a:pPr>
            <a:r>
              <a:t>Thủ công, Postman và Playwright được dùng thế nào?</a:t>
            </a:r>
          </a:p>
        </p:txBody>
      </p:sp>
      <p:sp>
        <p:nvSpPr>
          <p:cNvPr id="19" name="Rounded Rectangle 18"/>
          <p:cNvSpPr/>
          <p:nvPr/>
        </p:nvSpPr>
        <p:spPr>
          <a:xfrm>
            <a:off x="548640" y="4773168"/>
            <a:ext cx="749808" cy="749808"/>
          </a:xfrm>
          <a:prstGeom prst="roundRect">
            <a:avLst>
              <a:gd name="adj" fmla="val 12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40080" y="4946904"/>
            <a:ext cx="566928" cy="429768"/>
          </a:xfrm>
          <a:prstGeom prst="rect">
            <a:avLst/>
          </a:prstGeom>
          <a:noFill/>
        </p:spPr>
        <p:txBody>
          <a:bodyPr wrap="square" lIns="18288" rIns="18288" tIns="18288" bIns="18288">
            <a:spAutoFit/>
          </a:bodyPr>
          <a:lstStyle/>
          <a:p>
            <a:pPr algn="ctr">
              <a:spcAft>
                <a:spcPts val="700"/>
              </a:spcAft>
              <a:defRPr sz="2500" b="1">
                <a:solidFill>
                  <a:srgbClr val="FFFFFF"/>
                </a:solidFill>
                <a:latin typeface="DejaVu Sans"/>
              </a:defRPr>
            </a:pPr>
            <a:r>
              <a:t>04</a:t>
            </a:r>
          </a:p>
        </p:txBody>
      </p:sp>
      <p:sp>
        <p:nvSpPr>
          <p:cNvPr id="21" name="TextBox 20"/>
          <p:cNvSpPr txBox="1"/>
          <p:nvPr/>
        </p:nvSpPr>
        <p:spPr>
          <a:xfrm>
            <a:off x="1554480" y="4809744"/>
            <a:ext cx="9966960" cy="393192"/>
          </a:xfrm>
          <a:prstGeom prst="rect">
            <a:avLst/>
          </a:prstGeom>
          <a:noFill/>
        </p:spPr>
        <p:txBody>
          <a:bodyPr wrap="square" lIns="18288" rIns="18288" tIns="18288" bIns="18288">
            <a:spAutoFit/>
          </a:bodyPr>
          <a:lstStyle/>
          <a:p>
            <a:pPr>
              <a:spcAft>
                <a:spcPts val="700"/>
              </a:spcAft>
              <a:defRPr sz="2400" b="1">
                <a:solidFill>
                  <a:srgbClr val="142B49"/>
                </a:solidFill>
                <a:latin typeface="DejaVu Sans"/>
              </a:defRPr>
            </a:pPr>
            <a:r>
              <a:t>Kết quả và kết luận</a:t>
            </a:r>
          </a:p>
        </p:txBody>
      </p:sp>
      <p:sp>
        <p:nvSpPr>
          <p:cNvPr id="22" name="TextBox 21"/>
          <p:cNvSpPr txBox="1"/>
          <p:nvPr/>
        </p:nvSpPr>
        <p:spPr>
          <a:xfrm>
            <a:off x="1554480" y="5285232"/>
            <a:ext cx="9966960" cy="393192"/>
          </a:xfrm>
          <a:prstGeom prst="rect">
            <a:avLst/>
          </a:prstGeom>
          <a:noFill/>
        </p:spPr>
        <p:txBody>
          <a:bodyPr wrap="square" lIns="18288" rIns="18288" tIns="18288" bIns="18288">
            <a:spAutoFit/>
          </a:bodyPr>
          <a:lstStyle/>
          <a:p>
            <a:pPr>
              <a:spcAft>
                <a:spcPts val="700"/>
              </a:spcAft>
              <a:defRPr sz="1900" b="0">
                <a:solidFill>
                  <a:srgbClr val="5A6B7E"/>
                </a:solidFill>
                <a:latin typeface="DejaVu Sans"/>
              </a:defRPr>
            </a:pPr>
            <a:r>
              <a:t>Kết quả đạt được, lỗi còn lại và hướng cải thiện.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1. TỔNG QUAN VÀ MỤC TIÊU</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1.1. Đối tượng và mục tiêu kiểm thử</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03</a:t>
            </a:r>
          </a:p>
        </p:txBody>
      </p:sp>
      <p:sp>
        <p:nvSpPr>
          <p:cNvPr id="12" name="Rounded Rectangle 11"/>
          <p:cNvSpPr/>
          <p:nvPr/>
        </p:nvSpPr>
        <p:spPr>
          <a:xfrm>
            <a:off x="548640" y="1819656"/>
            <a:ext cx="5422392" cy="3483864"/>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48640" y="1819656"/>
            <a:ext cx="59436" cy="3483864"/>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49808" y="1965960"/>
            <a:ext cx="5038344" cy="530352"/>
          </a:xfrm>
          <a:prstGeom prst="rect">
            <a:avLst/>
          </a:prstGeom>
          <a:noFill/>
        </p:spPr>
        <p:txBody>
          <a:bodyPr wrap="square" lIns="18288" rIns="18288" tIns="18288" bIns="18288">
            <a:spAutoFit/>
          </a:bodyPr>
          <a:lstStyle/>
          <a:p>
            <a:pPr>
              <a:spcAft>
                <a:spcPts val="700"/>
              </a:spcAft>
              <a:defRPr sz="2000" b="1">
                <a:solidFill>
                  <a:srgbClr val="245AD3"/>
                </a:solidFill>
                <a:latin typeface="DejaVu Sans"/>
              </a:defRPr>
            </a:pPr>
            <a:r>
              <a:t>Đối tượng: PC-DSS</a:t>
            </a:r>
          </a:p>
        </p:txBody>
      </p:sp>
      <p:sp>
        <p:nvSpPr>
          <p:cNvPr id="15" name="TextBox 14"/>
          <p:cNvSpPr txBox="1"/>
          <p:nvPr/>
        </p:nvSpPr>
        <p:spPr>
          <a:xfrm>
            <a:off x="749808" y="2606040"/>
            <a:ext cx="5038344" cy="2596896"/>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Website gợi ý bộ máy tính có sẵn</a:t>
            </a:r>
          </a:p>
          <a:p>
            <a:pPr>
              <a:spcAft>
                <a:spcPts val="700"/>
              </a:spcAft>
              <a:defRPr sz="2000" b="0">
                <a:solidFill>
                  <a:srgbClr val="23384F"/>
                </a:solidFill>
                <a:latin typeface="DejaVu Sans"/>
              </a:defRPr>
            </a:pPr>
            <a:r>
              <a:t>Người dùng chọn nhu cầu và mức giá</a:t>
            </a:r>
          </a:p>
          <a:p>
            <a:pPr>
              <a:spcAft>
                <a:spcPts val="700"/>
              </a:spcAft>
              <a:defRPr sz="2000" b="0">
                <a:solidFill>
                  <a:srgbClr val="23384F"/>
                </a:solidFill>
                <a:latin typeface="DejaVu Sans"/>
              </a:defRPr>
            </a:pPr>
            <a:r>
              <a:t>Hệ thống trả về danh sách gợi ý</a:t>
            </a:r>
          </a:p>
        </p:txBody>
      </p:sp>
      <p:sp>
        <p:nvSpPr>
          <p:cNvPr id="16" name="Rounded Rectangle 15"/>
          <p:cNvSpPr/>
          <p:nvPr/>
        </p:nvSpPr>
        <p:spPr>
          <a:xfrm>
            <a:off x="6217920" y="1819656"/>
            <a:ext cx="5422392" cy="3483864"/>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6217920" y="1819656"/>
            <a:ext cx="59436" cy="3483864"/>
          </a:xfrm>
          <a:prstGeom prst="rect">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419088" y="1965960"/>
            <a:ext cx="5038344" cy="530352"/>
          </a:xfrm>
          <a:prstGeom prst="rect">
            <a:avLst/>
          </a:prstGeom>
          <a:noFill/>
        </p:spPr>
        <p:txBody>
          <a:bodyPr wrap="square" lIns="18288" rIns="18288" tIns="18288" bIns="18288">
            <a:spAutoFit/>
          </a:bodyPr>
          <a:lstStyle/>
          <a:p>
            <a:pPr>
              <a:spcAft>
                <a:spcPts val="700"/>
              </a:spcAft>
              <a:defRPr sz="2000" b="1">
                <a:solidFill>
                  <a:srgbClr val="087F83"/>
                </a:solidFill>
                <a:latin typeface="DejaVu Sans"/>
              </a:defRPr>
            </a:pPr>
            <a:r>
              <a:t>Mục tiêu của nhóm</a:t>
            </a:r>
          </a:p>
        </p:txBody>
      </p:sp>
      <p:sp>
        <p:nvSpPr>
          <p:cNvPr id="19" name="TextBox 18"/>
          <p:cNvSpPr txBox="1"/>
          <p:nvPr/>
        </p:nvSpPr>
        <p:spPr>
          <a:xfrm>
            <a:off x="6419088" y="2606040"/>
            <a:ext cx="5038344" cy="2596896"/>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Kiểm tra chức năng theo yêu cầu</a:t>
            </a:r>
          </a:p>
          <a:p>
            <a:pPr>
              <a:spcAft>
                <a:spcPts val="700"/>
              </a:spcAft>
              <a:defRPr sz="2000" b="0">
                <a:solidFill>
                  <a:srgbClr val="23384F"/>
                </a:solidFill>
                <a:latin typeface="DejaVu Sans"/>
              </a:defRPr>
            </a:pPr>
            <a:r>
              <a:t>Phát hiện kết quả xử lý sai</a:t>
            </a:r>
          </a:p>
          <a:p>
            <a:pPr>
              <a:spcAft>
                <a:spcPts val="700"/>
              </a:spcAft>
              <a:defRPr sz="2000" b="0">
                <a:solidFill>
                  <a:srgbClr val="23384F"/>
                </a:solidFill>
                <a:latin typeface="DejaVu Sans"/>
              </a:defRPr>
            </a:pPr>
            <a:r>
              <a:t>Ghi nhận lỗi và kết quả kiểm thử</a:t>
            </a:r>
          </a:p>
        </p:txBody>
      </p:sp>
      <p:sp>
        <p:nvSpPr>
          <p:cNvPr id="20" name="Rounded Rectangle 19"/>
          <p:cNvSpPr/>
          <p:nvPr/>
        </p:nvSpPr>
        <p:spPr>
          <a:xfrm>
            <a:off x="530352" y="5614416"/>
            <a:ext cx="11109960" cy="438912"/>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94944" y="5664707"/>
            <a:ext cx="10789920" cy="338328"/>
          </a:xfrm>
          <a:prstGeom prst="rect">
            <a:avLst/>
          </a:prstGeom>
          <a:noFill/>
        </p:spPr>
        <p:txBody>
          <a:bodyPr wrap="square" lIns="18288" rIns="18288" tIns="18288" bIns="18288">
            <a:spAutoFit/>
          </a:bodyPr>
          <a:lstStyle/>
          <a:p>
            <a:pPr>
              <a:spcAft>
                <a:spcPts val="700"/>
              </a:spcAft>
              <a:defRPr sz="2100" b="1">
                <a:solidFill>
                  <a:srgbClr val="087F83"/>
                </a:solidFill>
                <a:latin typeface="DejaVu Sans"/>
              </a:defRPr>
            </a:pPr>
            <a:r>
              <a:t>PC-DSS được sử dụng làm đối tượng thực hành kiểm thử.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1. TỔNG QUAN VÀ MỤC TIÊU</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1.2. Các thành phần được kiểm thử</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04</a:t>
            </a:r>
          </a:p>
        </p:txBody>
      </p:sp>
      <p:sp>
        <p:nvSpPr>
          <p:cNvPr id="12" name="Rounded Rectangle 11"/>
          <p:cNvSpPr/>
          <p:nvPr/>
        </p:nvSpPr>
        <p:spPr>
          <a:xfrm>
            <a:off x="548640" y="2011680"/>
            <a:ext cx="3255264" cy="181051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04088" y="2249424"/>
            <a:ext cx="2944368" cy="566928"/>
          </a:xfrm>
          <a:prstGeom prst="rect">
            <a:avLst/>
          </a:prstGeom>
          <a:noFill/>
        </p:spPr>
        <p:txBody>
          <a:bodyPr wrap="square" lIns="18288" rIns="18288" tIns="18288" bIns="18288">
            <a:spAutoFit/>
          </a:bodyPr>
          <a:lstStyle/>
          <a:p>
            <a:pPr algn="ctr">
              <a:spcAft>
                <a:spcPts val="700"/>
              </a:spcAft>
              <a:defRPr sz="2000" b="1">
                <a:solidFill>
                  <a:srgbClr val="245AD3"/>
                </a:solidFill>
                <a:latin typeface="DejaVu Sans"/>
              </a:defRPr>
            </a:pPr>
            <a:r>
              <a:t>Giao diện React</a:t>
            </a:r>
          </a:p>
        </p:txBody>
      </p:sp>
      <p:sp>
        <p:nvSpPr>
          <p:cNvPr id="14" name="TextBox 13"/>
          <p:cNvSpPr txBox="1"/>
          <p:nvPr/>
        </p:nvSpPr>
        <p:spPr>
          <a:xfrm>
            <a:off x="704088" y="2889504"/>
            <a:ext cx="2944368" cy="768096"/>
          </a:xfrm>
          <a:prstGeom prst="rect">
            <a:avLst/>
          </a:prstGeom>
          <a:noFill/>
        </p:spPr>
        <p:txBody>
          <a:bodyPr wrap="square" lIns="18288" rIns="18288" tIns="18288" bIns="18288">
            <a:spAutoFit/>
          </a:bodyPr>
          <a:lstStyle/>
          <a:p>
            <a:pPr algn="ctr">
              <a:spcAft>
                <a:spcPts val="700"/>
              </a:spcAft>
              <a:defRPr sz="2100" b="0">
                <a:solidFill>
                  <a:srgbClr val="23384F"/>
                </a:solidFill>
                <a:latin typeface="DejaVu Sans"/>
              </a:defRPr>
            </a:pPr>
            <a:r>
              <a:t>Nhận lựa chọn</a:t>
            </a:r>
          </a:p>
          <a:p>
            <a:pPr algn="ctr">
              <a:spcAft>
                <a:spcPts val="700"/>
              </a:spcAft>
              <a:defRPr sz="2100" b="0">
                <a:solidFill>
                  <a:srgbClr val="23384F"/>
                </a:solidFill>
                <a:latin typeface="DejaVu Sans"/>
              </a:defRPr>
            </a:pPr>
            <a:r>
              <a:t>Hiển thị kết quả</a:t>
            </a:r>
          </a:p>
        </p:txBody>
      </p:sp>
      <p:sp>
        <p:nvSpPr>
          <p:cNvPr id="15" name="Rounded Rectangle 14"/>
          <p:cNvSpPr/>
          <p:nvPr/>
        </p:nvSpPr>
        <p:spPr>
          <a:xfrm>
            <a:off x="4462272" y="2011680"/>
            <a:ext cx="3255264" cy="181051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617720" y="2249424"/>
            <a:ext cx="2944368" cy="566928"/>
          </a:xfrm>
          <a:prstGeom prst="rect">
            <a:avLst/>
          </a:prstGeom>
          <a:noFill/>
        </p:spPr>
        <p:txBody>
          <a:bodyPr wrap="square" lIns="18288" rIns="18288" tIns="18288" bIns="18288">
            <a:spAutoFit/>
          </a:bodyPr>
          <a:lstStyle/>
          <a:p>
            <a:pPr algn="ctr">
              <a:spcAft>
                <a:spcPts val="700"/>
              </a:spcAft>
              <a:defRPr sz="2000" b="1">
                <a:solidFill>
                  <a:srgbClr val="245AD3"/>
                </a:solidFill>
                <a:latin typeface="DejaVu Sans"/>
              </a:defRPr>
            </a:pPr>
            <a:r>
              <a:t>API ASP.NET Core</a:t>
            </a:r>
          </a:p>
        </p:txBody>
      </p:sp>
      <p:sp>
        <p:nvSpPr>
          <p:cNvPr id="17" name="TextBox 16"/>
          <p:cNvSpPr txBox="1"/>
          <p:nvPr/>
        </p:nvSpPr>
        <p:spPr>
          <a:xfrm>
            <a:off x="4617720" y="2889504"/>
            <a:ext cx="2944368" cy="768096"/>
          </a:xfrm>
          <a:prstGeom prst="rect">
            <a:avLst/>
          </a:prstGeom>
          <a:noFill/>
        </p:spPr>
        <p:txBody>
          <a:bodyPr wrap="square" lIns="18288" rIns="18288" tIns="18288" bIns="18288">
            <a:spAutoFit/>
          </a:bodyPr>
          <a:lstStyle/>
          <a:p>
            <a:pPr algn="ctr">
              <a:spcAft>
                <a:spcPts val="700"/>
              </a:spcAft>
              <a:defRPr sz="2100" b="0">
                <a:solidFill>
                  <a:srgbClr val="23384F"/>
                </a:solidFill>
                <a:latin typeface="DejaVu Sans"/>
              </a:defRPr>
            </a:pPr>
            <a:r>
              <a:t>Nhận yêu cầu</a:t>
            </a:r>
          </a:p>
          <a:p>
            <a:pPr algn="ctr">
              <a:spcAft>
                <a:spcPts val="700"/>
              </a:spcAft>
              <a:defRPr sz="2100" b="0">
                <a:solidFill>
                  <a:srgbClr val="23384F"/>
                </a:solidFill>
                <a:latin typeface="DejaVu Sans"/>
              </a:defRPr>
            </a:pPr>
            <a:r>
              <a:t>Xử lý và trả kết quả</a:t>
            </a:r>
          </a:p>
        </p:txBody>
      </p:sp>
      <p:sp>
        <p:nvSpPr>
          <p:cNvPr id="18" name="Rounded Rectangle 17"/>
          <p:cNvSpPr/>
          <p:nvPr/>
        </p:nvSpPr>
        <p:spPr>
          <a:xfrm>
            <a:off x="8375904" y="2011680"/>
            <a:ext cx="3255264" cy="181051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531352" y="2249424"/>
            <a:ext cx="2944368" cy="566928"/>
          </a:xfrm>
          <a:prstGeom prst="rect">
            <a:avLst/>
          </a:prstGeom>
          <a:noFill/>
        </p:spPr>
        <p:txBody>
          <a:bodyPr wrap="square" lIns="18288" rIns="18288" tIns="18288" bIns="18288">
            <a:spAutoFit/>
          </a:bodyPr>
          <a:lstStyle/>
          <a:p>
            <a:pPr algn="ctr">
              <a:spcAft>
                <a:spcPts val="700"/>
              </a:spcAft>
              <a:defRPr sz="2000" b="1">
                <a:solidFill>
                  <a:srgbClr val="245AD3"/>
                </a:solidFill>
                <a:latin typeface="DejaVu Sans"/>
              </a:defRPr>
            </a:pPr>
            <a:r>
              <a:t>CSV và tệp mô hình</a:t>
            </a:r>
          </a:p>
        </p:txBody>
      </p:sp>
      <p:sp>
        <p:nvSpPr>
          <p:cNvPr id="20" name="TextBox 19"/>
          <p:cNvSpPr txBox="1"/>
          <p:nvPr/>
        </p:nvSpPr>
        <p:spPr>
          <a:xfrm>
            <a:off x="8531352" y="2889504"/>
            <a:ext cx="2944368" cy="768096"/>
          </a:xfrm>
          <a:prstGeom prst="rect">
            <a:avLst/>
          </a:prstGeom>
          <a:noFill/>
        </p:spPr>
        <p:txBody>
          <a:bodyPr wrap="square" lIns="18288" rIns="18288" tIns="18288" bIns="18288">
            <a:spAutoFit/>
          </a:bodyPr>
          <a:lstStyle/>
          <a:p>
            <a:pPr algn="ctr">
              <a:spcAft>
                <a:spcPts val="700"/>
              </a:spcAft>
              <a:defRPr sz="2100" b="0">
                <a:solidFill>
                  <a:srgbClr val="23384F"/>
                </a:solidFill>
                <a:latin typeface="DejaVu Sans"/>
              </a:defRPr>
            </a:pPr>
            <a:r>
              <a:t>Danh sách PC</a:t>
            </a:r>
          </a:p>
          <a:p>
            <a:pPr algn="ctr">
              <a:spcAft>
                <a:spcPts val="700"/>
              </a:spcAft>
              <a:defRPr sz="2100" b="0">
                <a:solidFill>
                  <a:srgbClr val="23384F"/>
                </a:solidFill>
                <a:latin typeface="DejaVu Sans"/>
              </a:defRPr>
            </a:pPr>
            <a:r>
              <a:t>Dữ liệu tính toán</a:t>
            </a:r>
          </a:p>
        </p:txBody>
      </p:sp>
      <p:sp>
        <p:nvSpPr>
          <p:cNvPr id="21" name="TextBox 20"/>
          <p:cNvSpPr txBox="1"/>
          <p:nvPr/>
        </p:nvSpPr>
        <p:spPr>
          <a:xfrm>
            <a:off x="3913632" y="2734056"/>
            <a:ext cx="457200" cy="548640"/>
          </a:xfrm>
          <a:prstGeom prst="rect">
            <a:avLst/>
          </a:prstGeom>
          <a:noFill/>
        </p:spPr>
        <p:txBody>
          <a:bodyPr wrap="square" lIns="18288" rIns="18288" tIns="18288" bIns="18288">
            <a:spAutoFit/>
          </a:bodyPr>
          <a:lstStyle/>
          <a:p>
            <a:pPr>
              <a:spcAft>
                <a:spcPts val="700"/>
              </a:spcAft>
              <a:defRPr sz="2900" b="1">
                <a:solidFill>
                  <a:srgbClr val="087F83"/>
                </a:solidFill>
                <a:latin typeface="DejaVu Sans"/>
              </a:defRPr>
            </a:pPr>
            <a:r>
              <a:t>↔</a:t>
            </a:r>
          </a:p>
        </p:txBody>
      </p:sp>
      <p:sp>
        <p:nvSpPr>
          <p:cNvPr id="22" name="TextBox 21"/>
          <p:cNvSpPr txBox="1"/>
          <p:nvPr/>
        </p:nvSpPr>
        <p:spPr>
          <a:xfrm>
            <a:off x="7827264" y="2734056"/>
            <a:ext cx="457200" cy="548640"/>
          </a:xfrm>
          <a:prstGeom prst="rect">
            <a:avLst/>
          </a:prstGeom>
          <a:noFill/>
        </p:spPr>
        <p:txBody>
          <a:bodyPr wrap="square" lIns="18288" rIns="18288" tIns="18288" bIns="18288">
            <a:spAutoFit/>
          </a:bodyPr>
          <a:lstStyle/>
          <a:p>
            <a:pPr>
              <a:spcAft>
                <a:spcPts val="700"/>
              </a:spcAft>
              <a:defRPr sz="2900" b="1">
                <a:solidFill>
                  <a:srgbClr val="087F83"/>
                </a:solidFill>
                <a:latin typeface="DejaVu Sans"/>
              </a:defRPr>
            </a:pPr>
            <a:r>
              <a:t>↔</a:t>
            </a:r>
          </a:p>
        </p:txBody>
      </p:sp>
      <p:sp>
        <p:nvSpPr>
          <p:cNvPr id="23" name="TextBox 22"/>
          <p:cNvSpPr txBox="1"/>
          <p:nvPr/>
        </p:nvSpPr>
        <p:spPr>
          <a:xfrm>
            <a:off x="566928" y="4233672"/>
            <a:ext cx="3291840" cy="886968"/>
          </a:xfrm>
          <a:prstGeom prst="rect">
            <a:avLst/>
          </a:prstGeom>
          <a:noFill/>
        </p:spPr>
        <p:txBody>
          <a:bodyPr wrap="square" lIns="18288" rIns="18288" tIns="18288" bIns="18288">
            <a:spAutoFit/>
          </a:bodyPr>
          <a:lstStyle/>
          <a:p>
            <a:pPr algn="ctr">
              <a:spcAft>
                <a:spcPts val="700"/>
              </a:spcAft>
              <a:defRPr sz="2300" b="1">
                <a:solidFill>
                  <a:srgbClr val="087F83"/>
                </a:solidFill>
                <a:latin typeface="DejaVu Sans"/>
              </a:defRPr>
            </a:pPr>
            <a:r>
              <a:t>Kiểm thử thủ công</a:t>
            </a:r>
          </a:p>
          <a:p>
            <a:pPr algn="ctr">
              <a:spcAft>
                <a:spcPts val="700"/>
              </a:spcAft>
              <a:defRPr sz="2300" b="1">
                <a:solidFill>
                  <a:srgbClr val="087F83"/>
                </a:solidFill>
                <a:latin typeface="DejaVu Sans"/>
              </a:defRPr>
            </a:pPr>
            <a:r>
              <a:t>và Playwright</a:t>
            </a:r>
          </a:p>
        </p:txBody>
      </p:sp>
      <p:sp>
        <p:nvSpPr>
          <p:cNvPr id="24" name="TextBox 23"/>
          <p:cNvSpPr txBox="1"/>
          <p:nvPr/>
        </p:nvSpPr>
        <p:spPr>
          <a:xfrm>
            <a:off x="4462272" y="4233672"/>
            <a:ext cx="3255264" cy="886968"/>
          </a:xfrm>
          <a:prstGeom prst="rect">
            <a:avLst/>
          </a:prstGeom>
          <a:noFill/>
        </p:spPr>
        <p:txBody>
          <a:bodyPr wrap="square" lIns="18288" rIns="18288" tIns="18288" bIns="18288">
            <a:spAutoFit/>
          </a:bodyPr>
          <a:lstStyle/>
          <a:p>
            <a:pPr algn="ctr">
              <a:spcAft>
                <a:spcPts val="700"/>
              </a:spcAft>
              <a:defRPr sz="2300" b="1">
                <a:solidFill>
                  <a:srgbClr val="087F83"/>
                </a:solidFill>
                <a:latin typeface="DejaVu Sans"/>
              </a:defRPr>
            </a:pPr>
            <a:r>
              <a:t>Postman</a:t>
            </a:r>
          </a:p>
          <a:p>
            <a:pPr algn="ctr">
              <a:spcAft>
                <a:spcPts val="700"/>
              </a:spcAft>
              <a:defRPr sz="2300" b="1">
                <a:solidFill>
                  <a:srgbClr val="087F83"/>
                </a:solidFill>
                <a:latin typeface="DejaVu Sans"/>
              </a:defRPr>
            </a:pPr>
            <a:r>
              <a:t>và Newman</a:t>
            </a:r>
          </a:p>
        </p:txBody>
      </p:sp>
      <p:sp>
        <p:nvSpPr>
          <p:cNvPr id="25" name="TextBox 24"/>
          <p:cNvSpPr txBox="1"/>
          <p:nvPr/>
        </p:nvSpPr>
        <p:spPr>
          <a:xfrm>
            <a:off x="8339327" y="4233672"/>
            <a:ext cx="3346704" cy="886968"/>
          </a:xfrm>
          <a:prstGeom prst="rect">
            <a:avLst/>
          </a:prstGeom>
          <a:noFill/>
        </p:spPr>
        <p:txBody>
          <a:bodyPr wrap="square" lIns="18288" rIns="18288" tIns="18288" bIns="18288">
            <a:spAutoFit/>
          </a:bodyPr>
          <a:lstStyle/>
          <a:p>
            <a:pPr algn="ctr">
              <a:spcAft>
                <a:spcPts val="700"/>
              </a:spcAft>
              <a:defRPr sz="2000" b="0">
                <a:solidFill>
                  <a:srgbClr val="5A6B7E"/>
                </a:solidFill>
                <a:latin typeface="DejaVu Sans"/>
              </a:defRPr>
            </a:pPr>
            <a:r>
              <a:t>Giữ dữ liệu nhất quán</a:t>
            </a:r>
          </a:p>
          <a:p>
            <a:pPr algn="ctr">
              <a:spcAft>
                <a:spcPts val="700"/>
              </a:spcAft>
              <a:defRPr sz="2000" b="0">
                <a:solidFill>
                  <a:srgbClr val="5A6B7E"/>
                </a:solidFill>
                <a:latin typeface="DejaVu Sans"/>
              </a:defRPr>
            </a:pPr>
            <a:r>
              <a:t>trong lần kiểm thử</a:t>
            </a:r>
          </a:p>
        </p:txBody>
      </p:sp>
      <p:sp>
        <p:nvSpPr>
          <p:cNvPr id="26" name="Rounded Rectangle 25"/>
          <p:cNvSpPr/>
          <p:nvPr/>
        </p:nvSpPr>
        <p:spPr>
          <a:xfrm>
            <a:off x="530352" y="5623560"/>
            <a:ext cx="11109960" cy="438912"/>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94944" y="5673852"/>
            <a:ext cx="10789920" cy="338328"/>
          </a:xfrm>
          <a:prstGeom prst="rect">
            <a:avLst/>
          </a:prstGeom>
          <a:noFill/>
        </p:spPr>
        <p:txBody>
          <a:bodyPr wrap="square" lIns="18288" rIns="18288" tIns="18288" bIns="18288">
            <a:spAutoFit/>
          </a:bodyPr>
          <a:lstStyle/>
          <a:p>
            <a:pPr>
              <a:spcAft>
                <a:spcPts val="700"/>
              </a:spcAft>
              <a:defRPr sz="2000" b="1">
                <a:solidFill>
                  <a:srgbClr val="087F83"/>
                </a:solidFill>
                <a:latin typeface="DejaVu Sans"/>
              </a:defRPr>
            </a:pPr>
            <a:r>
              <a:t>Kiểm tra cả thao tác trên giao diện và cách hệ thống trả lời yêu cầu.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2. THIẾT KẾ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2.1. Các yêu cầu cần kiểm tra</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05</a:t>
            </a:r>
          </a:p>
        </p:txBody>
      </p:sp>
      <p:sp>
        <p:nvSpPr>
          <p:cNvPr id="12" name="Rectangle 11"/>
          <p:cNvSpPr/>
          <p:nvPr/>
        </p:nvSpPr>
        <p:spPr>
          <a:xfrm>
            <a:off x="548640" y="1819656"/>
            <a:ext cx="3218688" cy="676656"/>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58368" y="1929384"/>
            <a:ext cx="3017520" cy="539496"/>
          </a:xfrm>
          <a:prstGeom prst="rect">
            <a:avLst/>
          </a:prstGeom>
          <a:noFill/>
        </p:spPr>
        <p:txBody>
          <a:bodyPr wrap="square" lIns="18288" rIns="18288" tIns="18288" bIns="18288">
            <a:spAutoFit/>
          </a:bodyPr>
          <a:lstStyle/>
          <a:p>
            <a:pPr>
              <a:spcAft>
                <a:spcPts val="700"/>
              </a:spcAft>
              <a:defRPr sz="2100" b="1">
                <a:solidFill>
                  <a:srgbClr val="FFFFFF"/>
                </a:solidFill>
                <a:latin typeface="DejaVu Sans"/>
              </a:defRPr>
            </a:pPr>
            <a:r>
              <a:t>Yêu cầu</a:t>
            </a:r>
          </a:p>
        </p:txBody>
      </p:sp>
      <p:sp>
        <p:nvSpPr>
          <p:cNvPr id="14" name="Rectangle 13"/>
          <p:cNvSpPr/>
          <p:nvPr/>
        </p:nvSpPr>
        <p:spPr>
          <a:xfrm>
            <a:off x="3767328" y="1819656"/>
            <a:ext cx="7845552" cy="676656"/>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877056" y="1929384"/>
            <a:ext cx="7644383" cy="539496"/>
          </a:xfrm>
          <a:prstGeom prst="rect">
            <a:avLst/>
          </a:prstGeom>
          <a:noFill/>
        </p:spPr>
        <p:txBody>
          <a:bodyPr wrap="square" lIns="18288" rIns="18288" tIns="18288" bIns="18288">
            <a:spAutoFit/>
          </a:bodyPr>
          <a:lstStyle/>
          <a:p>
            <a:pPr>
              <a:spcAft>
                <a:spcPts val="700"/>
              </a:spcAft>
              <a:defRPr sz="2100" b="1">
                <a:solidFill>
                  <a:srgbClr val="FFFFFF"/>
                </a:solidFill>
                <a:latin typeface="DejaVu Sans"/>
              </a:defRPr>
            </a:pPr>
            <a:r>
              <a:t>Kết quả mong đợi</a:t>
            </a:r>
          </a:p>
        </p:txBody>
      </p:sp>
      <p:sp>
        <p:nvSpPr>
          <p:cNvPr id="16" name="Rectangle 15"/>
          <p:cNvSpPr/>
          <p:nvPr/>
        </p:nvSpPr>
        <p:spPr>
          <a:xfrm>
            <a:off x="548640" y="2496312"/>
            <a:ext cx="3218688" cy="67665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58368" y="2606040"/>
            <a:ext cx="3017520" cy="539496"/>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Nhu cầu sử dụng</a:t>
            </a:r>
          </a:p>
        </p:txBody>
      </p:sp>
      <p:sp>
        <p:nvSpPr>
          <p:cNvPr id="18" name="Rectangle 17"/>
          <p:cNvSpPr/>
          <p:nvPr/>
        </p:nvSpPr>
        <p:spPr>
          <a:xfrm>
            <a:off x="3767328" y="2496312"/>
            <a:ext cx="7845552" cy="67665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877056" y="2606040"/>
            <a:ext cx="7644383" cy="53949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Gợi ý đúng cho Gaming hoặc Rendering</a:t>
            </a:r>
          </a:p>
        </p:txBody>
      </p:sp>
      <p:sp>
        <p:nvSpPr>
          <p:cNvPr id="20" name="Rectangle 19"/>
          <p:cNvSpPr/>
          <p:nvPr/>
        </p:nvSpPr>
        <p:spPr>
          <a:xfrm>
            <a:off x="548640" y="3172968"/>
            <a:ext cx="3218688" cy="676656"/>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58368" y="3282696"/>
            <a:ext cx="3017520" cy="539496"/>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Khoảng giá</a:t>
            </a:r>
          </a:p>
        </p:txBody>
      </p:sp>
      <p:sp>
        <p:nvSpPr>
          <p:cNvPr id="22" name="Rectangle 21"/>
          <p:cNvSpPr/>
          <p:nvPr/>
        </p:nvSpPr>
        <p:spPr>
          <a:xfrm>
            <a:off x="3767328" y="3172968"/>
            <a:ext cx="7845552" cy="676656"/>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3877056" y="3282696"/>
            <a:ext cx="7644383" cy="53949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Giá máy nằm trong khoảng người dùng chọn</a:t>
            </a:r>
          </a:p>
        </p:txBody>
      </p:sp>
      <p:sp>
        <p:nvSpPr>
          <p:cNvPr id="24" name="Rectangle 23"/>
          <p:cNvSpPr/>
          <p:nvPr/>
        </p:nvSpPr>
        <p:spPr>
          <a:xfrm>
            <a:off x="548640" y="3849624"/>
            <a:ext cx="3218688" cy="67665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58368" y="3959352"/>
            <a:ext cx="3017520" cy="539496"/>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Số lượng gợi ý</a:t>
            </a:r>
          </a:p>
        </p:txBody>
      </p:sp>
      <p:sp>
        <p:nvSpPr>
          <p:cNvPr id="26" name="Rectangle 25"/>
          <p:cNvSpPr/>
          <p:nvPr/>
        </p:nvSpPr>
        <p:spPr>
          <a:xfrm>
            <a:off x="3767328" y="3849624"/>
            <a:ext cx="7845552" cy="67665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3877056" y="3959352"/>
            <a:ext cx="7644383" cy="53949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Tối đa 1, 2 hoặc 3 máy theo lựa chọn</a:t>
            </a:r>
          </a:p>
        </p:txBody>
      </p:sp>
      <p:sp>
        <p:nvSpPr>
          <p:cNvPr id="28" name="Rectangle 27"/>
          <p:cNvSpPr/>
          <p:nvPr/>
        </p:nvSpPr>
        <p:spPr>
          <a:xfrm>
            <a:off x="548640" y="4526280"/>
            <a:ext cx="3218688" cy="676656"/>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58368" y="4636008"/>
            <a:ext cx="3017520" cy="539496"/>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Thứ tự kết quả</a:t>
            </a:r>
          </a:p>
        </p:txBody>
      </p:sp>
      <p:sp>
        <p:nvSpPr>
          <p:cNvPr id="30" name="Rectangle 29"/>
          <p:cNvSpPr/>
          <p:nvPr/>
        </p:nvSpPr>
        <p:spPr>
          <a:xfrm>
            <a:off x="3767328" y="4526280"/>
            <a:ext cx="7845552" cy="676656"/>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3877056" y="4636008"/>
            <a:ext cx="7644383" cy="53949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Điểm giảm dần; nếu bằng điểm, ưu tiên giá thấp</a:t>
            </a:r>
          </a:p>
        </p:txBody>
      </p:sp>
      <p:sp>
        <p:nvSpPr>
          <p:cNvPr id="32" name="Rectangle 31"/>
          <p:cNvSpPr/>
          <p:nvPr/>
        </p:nvSpPr>
        <p:spPr>
          <a:xfrm>
            <a:off x="548640" y="5202936"/>
            <a:ext cx="3218688" cy="67665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58368" y="5312664"/>
            <a:ext cx="3017520" cy="539496"/>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Số tiền còn lại</a:t>
            </a:r>
          </a:p>
        </p:txBody>
      </p:sp>
      <p:sp>
        <p:nvSpPr>
          <p:cNvPr id="34" name="Rectangle 33"/>
          <p:cNvSpPr/>
          <p:nvPr/>
        </p:nvSpPr>
        <p:spPr>
          <a:xfrm>
            <a:off x="3767328" y="5202936"/>
            <a:ext cx="7845552" cy="67665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877056" y="5312664"/>
            <a:ext cx="7644383" cy="53949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Ngân sách trừ giá máy, tính chính xác theo đồng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2. THIẾT KẾ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2.2. Phương pháp và môi trường kiểm thử</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06</a:t>
            </a:r>
          </a:p>
        </p:txBody>
      </p:sp>
      <p:sp>
        <p:nvSpPr>
          <p:cNvPr id="12" name="Rounded Rectangle 11"/>
          <p:cNvSpPr/>
          <p:nvPr/>
        </p:nvSpPr>
        <p:spPr>
          <a:xfrm>
            <a:off x="548640" y="1819656"/>
            <a:ext cx="5431536" cy="3611880"/>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48640" y="1819656"/>
            <a:ext cx="59436" cy="3611880"/>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49808" y="1965960"/>
            <a:ext cx="5047488" cy="530352"/>
          </a:xfrm>
          <a:prstGeom prst="rect">
            <a:avLst/>
          </a:prstGeom>
          <a:noFill/>
        </p:spPr>
        <p:txBody>
          <a:bodyPr wrap="square" lIns="18288" rIns="18288" tIns="18288" bIns="18288">
            <a:spAutoFit/>
          </a:bodyPr>
          <a:lstStyle/>
          <a:p>
            <a:pPr>
              <a:spcAft>
                <a:spcPts val="700"/>
              </a:spcAft>
              <a:defRPr sz="2000" b="1">
                <a:solidFill>
                  <a:srgbClr val="245AD3"/>
                </a:solidFill>
                <a:latin typeface="DejaVu Sans"/>
              </a:defRPr>
            </a:pPr>
            <a:r>
              <a:t>Phương pháp chính: hộp đen</a:t>
            </a:r>
          </a:p>
        </p:txBody>
      </p:sp>
      <p:sp>
        <p:nvSpPr>
          <p:cNvPr id="15" name="TextBox 14"/>
          <p:cNvSpPr txBox="1"/>
          <p:nvPr/>
        </p:nvSpPr>
        <p:spPr>
          <a:xfrm>
            <a:off x="749808" y="2606040"/>
            <a:ext cx="5047488" cy="2724912"/>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Chọn dữ liệu đầu vào</a:t>
            </a:r>
          </a:p>
          <a:p>
            <a:pPr>
              <a:spcAft>
                <a:spcPts val="700"/>
              </a:spcAft>
              <a:defRPr sz="2000" b="0">
                <a:solidFill>
                  <a:srgbClr val="23384F"/>
                </a:solidFill>
                <a:latin typeface="DejaVu Sans"/>
              </a:defRPr>
            </a:pPr>
            <a:r>
              <a:t>Thực hiện thao tác hoặc gửi yêu cầu</a:t>
            </a:r>
          </a:p>
          <a:p>
            <a:pPr>
              <a:spcAft>
                <a:spcPts val="700"/>
              </a:spcAft>
              <a:defRPr sz="2000" b="0">
                <a:solidFill>
                  <a:srgbClr val="23384F"/>
                </a:solidFill>
                <a:latin typeface="DejaVu Sans"/>
              </a:defRPr>
            </a:pPr>
            <a:r>
              <a:t>So sánh kết quả với yêu cầu</a:t>
            </a:r>
          </a:p>
          <a:p>
            <a:pPr>
              <a:spcAft>
                <a:spcPts val="700"/>
              </a:spcAft>
              <a:defRPr sz="2000" b="0">
                <a:solidFill>
                  <a:srgbClr val="23384F"/>
                </a:solidFill>
                <a:latin typeface="DejaVu Sans"/>
              </a:defRPr>
            </a:pPr>
            <a:r>
              <a:t>Ghi nhận đạt hoặc không đạt</a:t>
            </a:r>
          </a:p>
        </p:txBody>
      </p:sp>
      <p:sp>
        <p:nvSpPr>
          <p:cNvPr id="16" name="Rounded Rectangle 15"/>
          <p:cNvSpPr/>
          <p:nvPr/>
        </p:nvSpPr>
        <p:spPr>
          <a:xfrm>
            <a:off x="6217920" y="1819656"/>
            <a:ext cx="5431536" cy="3611880"/>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6217920" y="1819656"/>
            <a:ext cx="59436" cy="3611880"/>
          </a:xfrm>
          <a:prstGeom prst="rect">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419088" y="1965960"/>
            <a:ext cx="5047488" cy="530352"/>
          </a:xfrm>
          <a:prstGeom prst="rect">
            <a:avLst/>
          </a:prstGeom>
          <a:noFill/>
        </p:spPr>
        <p:txBody>
          <a:bodyPr wrap="square" lIns="18288" rIns="18288" tIns="18288" bIns="18288">
            <a:spAutoFit/>
          </a:bodyPr>
          <a:lstStyle/>
          <a:p>
            <a:pPr>
              <a:spcAft>
                <a:spcPts val="700"/>
              </a:spcAft>
              <a:defRPr sz="2000" b="1">
                <a:solidFill>
                  <a:srgbClr val="087F83"/>
                </a:solidFill>
                <a:latin typeface="DejaVu Sans"/>
              </a:defRPr>
            </a:pPr>
            <a:r>
              <a:t>Môi trường thực hiện</a:t>
            </a:r>
          </a:p>
        </p:txBody>
      </p:sp>
      <p:sp>
        <p:nvSpPr>
          <p:cNvPr id="19" name="TextBox 18"/>
          <p:cNvSpPr txBox="1"/>
          <p:nvPr/>
        </p:nvSpPr>
        <p:spPr>
          <a:xfrm>
            <a:off x="6419088" y="2606040"/>
            <a:ext cx="5047488" cy="2724912"/>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Giao diện React: cổng 5173</a:t>
            </a:r>
          </a:p>
          <a:p>
            <a:pPr>
              <a:spcAft>
                <a:spcPts val="700"/>
              </a:spcAft>
              <a:defRPr sz="2000" b="0">
                <a:solidFill>
                  <a:srgbClr val="23384F"/>
                </a:solidFill>
                <a:latin typeface="DejaVu Sans"/>
              </a:defRPr>
            </a:pPr>
            <a:r>
              <a:t>API ASP.NET Core: cổng 5170</a:t>
            </a:r>
          </a:p>
          <a:p>
            <a:pPr>
              <a:spcAft>
                <a:spcPts val="700"/>
              </a:spcAft>
              <a:defRPr sz="2000" b="0">
                <a:solidFill>
                  <a:srgbClr val="23384F"/>
                </a:solidFill>
                <a:latin typeface="DejaVu Sans"/>
              </a:defRPr>
            </a:pPr>
            <a:r>
              <a:t>Dữ liệu của lần kiểm thử: 36 PC</a:t>
            </a:r>
          </a:p>
          <a:p>
            <a:pPr>
              <a:spcAft>
                <a:spcPts val="700"/>
              </a:spcAft>
              <a:defRPr sz="2000" b="0">
                <a:solidFill>
                  <a:srgbClr val="23384F"/>
                </a:solidFill>
                <a:latin typeface="DejaVu Sans"/>
              </a:defRPr>
            </a:pPr>
            <a:r>
              <a:t>Công cụ: Postman, Playwright</a:t>
            </a:r>
          </a:p>
        </p:txBody>
      </p:sp>
      <p:sp>
        <p:nvSpPr>
          <p:cNvPr id="20" name="Rounded Rectangle 19"/>
          <p:cNvSpPr/>
          <p:nvPr/>
        </p:nvSpPr>
        <p:spPr>
          <a:xfrm>
            <a:off x="530352" y="5696712"/>
            <a:ext cx="11109960" cy="438912"/>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94944" y="5747004"/>
            <a:ext cx="10789920" cy="338328"/>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Pass = Đạt yêu cầu   |   Fail = Không đạt yêu cầu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2. THIẾT KẾ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2.3. Kỹ thuật thiết kế ca kiểm thử</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07</a:t>
            </a:r>
          </a:p>
        </p:txBody>
      </p:sp>
      <p:sp>
        <p:nvSpPr>
          <p:cNvPr id="12" name="Rectangle 11"/>
          <p:cNvSpPr/>
          <p:nvPr/>
        </p:nvSpPr>
        <p:spPr>
          <a:xfrm>
            <a:off x="548640" y="1865376"/>
            <a:ext cx="4315968" cy="795528"/>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58368" y="1975104"/>
            <a:ext cx="4114800" cy="658368"/>
          </a:xfrm>
          <a:prstGeom prst="rect">
            <a:avLst/>
          </a:prstGeom>
          <a:noFill/>
        </p:spPr>
        <p:txBody>
          <a:bodyPr wrap="square" lIns="18288" rIns="18288" tIns="18288" bIns="18288">
            <a:spAutoFit/>
          </a:bodyPr>
          <a:lstStyle/>
          <a:p>
            <a:pPr>
              <a:spcAft>
                <a:spcPts val="700"/>
              </a:spcAft>
              <a:defRPr sz="2100" b="1">
                <a:solidFill>
                  <a:srgbClr val="FFFFFF"/>
                </a:solidFill>
                <a:latin typeface="DejaVu Sans"/>
              </a:defRPr>
            </a:pPr>
            <a:r>
              <a:t>Kỹ thuật</a:t>
            </a:r>
          </a:p>
        </p:txBody>
      </p:sp>
      <p:sp>
        <p:nvSpPr>
          <p:cNvPr id="14" name="Rectangle 13"/>
          <p:cNvSpPr/>
          <p:nvPr/>
        </p:nvSpPr>
        <p:spPr>
          <a:xfrm>
            <a:off x="4864607" y="1865376"/>
            <a:ext cx="6748272" cy="795528"/>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974336" y="1975104"/>
            <a:ext cx="6547104" cy="658368"/>
          </a:xfrm>
          <a:prstGeom prst="rect">
            <a:avLst/>
          </a:prstGeom>
          <a:noFill/>
        </p:spPr>
        <p:txBody>
          <a:bodyPr wrap="square" lIns="18288" rIns="18288" tIns="18288" bIns="18288">
            <a:spAutoFit/>
          </a:bodyPr>
          <a:lstStyle/>
          <a:p>
            <a:pPr>
              <a:spcAft>
                <a:spcPts val="700"/>
              </a:spcAft>
              <a:defRPr sz="2100" b="1">
                <a:solidFill>
                  <a:srgbClr val="FFFFFF"/>
                </a:solidFill>
                <a:latin typeface="DejaVu Sans"/>
              </a:defRPr>
            </a:pPr>
            <a:r>
              <a:t>Cách áp dụng vào PC-DSS</a:t>
            </a:r>
          </a:p>
        </p:txBody>
      </p:sp>
      <p:sp>
        <p:nvSpPr>
          <p:cNvPr id="16" name="Rectangle 15"/>
          <p:cNvSpPr/>
          <p:nvPr/>
        </p:nvSpPr>
        <p:spPr>
          <a:xfrm>
            <a:off x="548640" y="2660904"/>
            <a:ext cx="4315968" cy="7955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58368" y="2770632"/>
            <a:ext cx="4114800" cy="658368"/>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Phân vùng tương đương</a:t>
            </a:r>
          </a:p>
        </p:txBody>
      </p:sp>
      <p:sp>
        <p:nvSpPr>
          <p:cNvPr id="18" name="Rectangle 17"/>
          <p:cNvSpPr/>
          <p:nvPr/>
        </p:nvSpPr>
        <p:spPr>
          <a:xfrm>
            <a:off x="4864607" y="2660904"/>
            <a:ext cx="6748272" cy="7955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974336" y="2770632"/>
            <a:ext cx="6547104" cy="658368"/>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Chọn dữ liệu hợp lệ và không hợp lệ để kiểm tra</a:t>
            </a:r>
          </a:p>
        </p:txBody>
      </p:sp>
      <p:sp>
        <p:nvSpPr>
          <p:cNvPr id="20" name="Rectangle 19"/>
          <p:cNvSpPr/>
          <p:nvPr/>
        </p:nvSpPr>
        <p:spPr>
          <a:xfrm>
            <a:off x="548640" y="3456432"/>
            <a:ext cx="4315968" cy="795528"/>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58368" y="3566160"/>
            <a:ext cx="4114800" cy="658368"/>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Phân tích giá trị biên</a:t>
            </a:r>
          </a:p>
        </p:txBody>
      </p:sp>
      <p:sp>
        <p:nvSpPr>
          <p:cNvPr id="22" name="Rectangle 21"/>
          <p:cNvSpPr/>
          <p:nvPr/>
        </p:nvSpPr>
        <p:spPr>
          <a:xfrm>
            <a:off x="4864607" y="3456432"/>
            <a:ext cx="6748272" cy="795528"/>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974336" y="3566160"/>
            <a:ext cx="6547104" cy="658368"/>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Kiểm tra đúng cận giá và giới hạn số máy gợi ý</a:t>
            </a:r>
          </a:p>
        </p:txBody>
      </p:sp>
      <p:sp>
        <p:nvSpPr>
          <p:cNvPr id="24" name="Rectangle 23"/>
          <p:cNvSpPr/>
          <p:nvPr/>
        </p:nvSpPr>
        <p:spPr>
          <a:xfrm>
            <a:off x="548640" y="4251960"/>
            <a:ext cx="4315968" cy="7955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58368" y="4361688"/>
            <a:ext cx="4114800" cy="658368"/>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Kiểm tra quy tắc nghiệp vụ</a:t>
            </a:r>
          </a:p>
        </p:txBody>
      </p:sp>
      <p:sp>
        <p:nvSpPr>
          <p:cNvPr id="26" name="Rectangle 25"/>
          <p:cNvSpPr/>
          <p:nvPr/>
        </p:nvSpPr>
        <p:spPr>
          <a:xfrm>
            <a:off x="4864607" y="4251960"/>
            <a:ext cx="6748272" cy="7955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974336" y="4361688"/>
            <a:ext cx="6547104" cy="658368"/>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Đối chiếu thứ tự xếp hạng và số tiền còn lại</a:t>
            </a:r>
          </a:p>
        </p:txBody>
      </p:sp>
      <p:sp>
        <p:nvSpPr>
          <p:cNvPr id="28" name="Rounded Rectangle 27"/>
          <p:cNvSpPr/>
          <p:nvPr/>
        </p:nvSpPr>
        <p:spPr>
          <a:xfrm>
            <a:off x="548640" y="5431536"/>
            <a:ext cx="11064240" cy="685800"/>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58952" y="5605272"/>
            <a:ext cx="10652760" cy="411480"/>
          </a:xfrm>
          <a:prstGeom prst="rect">
            <a:avLst/>
          </a:prstGeom>
          <a:noFill/>
        </p:spPr>
        <p:txBody>
          <a:bodyPr wrap="square" lIns="18288" rIns="18288" tIns="18288" bIns="18288">
            <a:spAutoFit/>
          </a:bodyPr>
          <a:lstStyle/>
          <a:p>
            <a:pPr>
              <a:spcAft>
                <a:spcPts val="700"/>
              </a:spcAft>
              <a:defRPr sz="2100" b="1">
                <a:solidFill>
                  <a:srgbClr val="087F83"/>
                </a:solidFill>
                <a:latin typeface="DejaVu Sans"/>
              </a:defRPr>
            </a:pPr>
            <a:r>
              <a:t>Ví dụ PM-023: hai cận bằng giá PC-031 → máy vẫn được chọn.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3. THỰC HIỆN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3.1. Kiểm thử giao diện thủ công</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08</a:t>
            </a:r>
          </a:p>
        </p:txBody>
      </p:sp>
      <p:sp>
        <p:nvSpPr>
          <p:cNvPr id="12" name="TextBox 11"/>
          <p:cNvSpPr txBox="1"/>
          <p:nvPr/>
        </p:nvSpPr>
        <p:spPr>
          <a:xfrm>
            <a:off x="576072" y="1792224"/>
            <a:ext cx="10972800" cy="576072"/>
          </a:xfrm>
          <a:prstGeom prst="rect">
            <a:avLst/>
          </a:prstGeom>
          <a:noFill/>
        </p:spPr>
        <p:txBody>
          <a:bodyPr wrap="square" lIns="18288" rIns="18288" tIns="18288" bIns="18288">
            <a:spAutoFit/>
          </a:bodyPr>
          <a:lstStyle/>
          <a:p>
            <a:pPr>
              <a:spcAft>
                <a:spcPts val="700"/>
              </a:spcAft>
              <a:defRPr sz="2500" b="1">
                <a:solidFill>
                  <a:srgbClr val="087F83"/>
                </a:solidFill>
                <a:latin typeface="DejaVu Sans"/>
              </a:defRPr>
            </a:pPr>
            <a:r>
              <a:t>Người kiểm thử trực tiếp thao tác và quan sát kết quả.</a:t>
            </a:r>
          </a:p>
        </p:txBody>
      </p:sp>
      <p:sp>
        <p:nvSpPr>
          <p:cNvPr id="13" name="Rounded Rectangle 12"/>
          <p:cNvSpPr/>
          <p:nvPr/>
        </p:nvSpPr>
        <p:spPr>
          <a:xfrm>
            <a:off x="548640" y="2679192"/>
            <a:ext cx="5422392" cy="254203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48640" y="2679192"/>
            <a:ext cx="59436" cy="2542032"/>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49808" y="2825496"/>
            <a:ext cx="5038344" cy="530352"/>
          </a:xfrm>
          <a:prstGeom prst="rect">
            <a:avLst/>
          </a:prstGeom>
          <a:noFill/>
        </p:spPr>
        <p:txBody>
          <a:bodyPr wrap="square" lIns="18288" rIns="18288" tIns="18288" bIns="18288">
            <a:spAutoFit/>
          </a:bodyPr>
          <a:lstStyle/>
          <a:p>
            <a:pPr>
              <a:spcAft>
                <a:spcPts val="700"/>
              </a:spcAft>
              <a:defRPr sz="2000" b="1">
                <a:solidFill>
                  <a:srgbClr val="245AD3"/>
                </a:solidFill>
                <a:latin typeface="DejaVu Sans"/>
              </a:defRPr>
            </a:pPr>
            <a:r>
              <a:t>Nội dung kiểm tra</a:t>
            </a:r>
          </a:p>
        </p:txBody>
      </p:sp>
      <p:sp>
        <p:nvSpPr>
          <p:cNvPr id="16" name="TextBox 15"/>
          <p:cNvSpPr txBox="1"/>
          <p:nvPr/>
        </p:nvSpPr>
        <p:spPr>
          <a:xfrm>
            <a:off x="749808" y="3465576"/>
            <a:ext cx="5038344" cy="1655063"/>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Điều hướng và lựa chọn nhu cầu</a:t>
            </a:r>
          </a:p>
          <a:p>
            <a:pPr>
              <a:spcAft>
                <a:spcPts val="700"/>
              </a:spcAft>
              <a:defRPr sz="2000" b="0">
                <a:solidFill>
                  <a:srgbClr val="23384F"/>
                </a:solidFill>
                <a:latin typeface="DejaVu Sans"/>
              </a:defRPr>
            </a:pPr>
            <a:r>
              <a:t>Khoảng giá, số máy và kết quả</a:t>
            </a:r>
          </a:p>
          <a:p>
            <a:pPr>
              <a:spcAft>
                <a:spcPts val="700"/>
              </a:spcAft>
              <a:defRPr sz="2000" b="0">
                <a:solidFill>
                  <a:srgbClr val="23384F"/>
                </a:solidFill>
                <a:latin typeface="DejaVu Sans"/>
              </a:defRPr>
            </a:pPr>
            <a:r>
              <a:t>Trạng thái lỗi, cách hiển thị</a:t>
            </a:r>
          </a:p>
        </p:txBody>
      </p:sp>
      <p:sp>
        <p:nvSpPr>
          <p:cNvPr id="17" name="Rounded Rectangle 16"/>
          <p:cNvSpPr/>
          <p:nvPr/>
        </p:nvSpPr>
        <p:spPr>
          <a:xfrm>
            <a:off x="6217920" y="2679192"/>
            <a:ext cx="5422392" cy="254203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217920" y="2679192"/>
            <a:ext cx="59436" cy="2542032"/>
          </a:xfrm>
          <a:prstGeom prst="rect">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419088" y="2825496"/>
            <a:ext cx="5038344" cy="530352"/>
          </a:xfrm>
          <a:prstGeom prst="rect">
            <a:avLst/>
          </a:prstGeom>
          <a:noFill/>
        </p:spPr>
        <p:txBody>
          <a:bodyPr wrap="square" lIns="18288" rIns="18288" tIns="18288" bIns="18288">
            <a:spAutoFit/>
          </a:bodyPr>
          <a:lstStyle/>
          <a:p>
            <a:pPr>
              <a:spcAft>
                <a:spcPts val="700"/>
              </a:spcAft>
              <a:defRPr sz="2000" b="1">
                <a:solidFill>
                  <a:srgbClr val="087F83"/>
                </a:solidFill>
                <a:latin typeface="DejaVu Sans"/>
              </a:defRPr>
            </a:pPr>
            <a:r>
              <a:t>Cách ghi nhận</a:t>
            </a:r>
          </a:p>
        </p:txBody>
      </p:sp>
      <p:sp>
        <p:nvSpPr>
          <p:cNvPr id="20" name="TextBox 19"/>
          <p:cNvSpPr txBox="1"/>
          <p:nvPr/>
        </p:nvSpPr>
        <p:spPr>
          <a:xfrm>
            <a:off x="6419088" y="3465576"/>
            <a:ext cx="5038344" cy="1655063"/>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Làm theo các bước của từng ca</a:t>
            </a:r>
          </a:p>
          <a:p>
            <a:pPr>
              <a:spcAft>
                <a:spcPts val="700"/>
              </a:spcAft>
              <a:defRPr sz="2000" b="0">
                <a:solidFill>
                  <a:srgbClr val="23384F"/>
                </a:solidFill>
                <a:latin typeface="DejaVu Sans"/>
              </a:defRPr>
            </a:pPr>
            <a:r>
              <a:t>So sánh thực tế với mong đợi</a:t>
            </a:r>
          </a:p>
          <a:p>
            <a:pPr>
              <a:spcAft>
                <a:spcPts val="700"/>
              </a:spcAft>
              <a:defRPr sz="2000" b="0">
                <a:solidFill>
                  <a:srgbClr val="23384F"/>
                </a:solidFill>
                <a:latin typeface="DejaVu Sans"/>
              </a:defRPr>
            </a:pPr>
            <a:r>
              <a:t>Ghi Excel và lưu ảnh minh chứng</a:t>
            </a:r>
          </a:p>
        </p:txBody>
      </p:sp>
      <p:sp>
        <p:nvSpPr>
          <p:cNvPr id="21" name="Rounded Rectangle 20"/>
          <p:cNvSpPr/>
          <p:nvPr/>
        </p:nvSpPr>
        <p:spPr>
          <a:xfrm>
            <a:off x="530352" y="5641848"/>
            <a:ext cx="11109960" cy="438912"/>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94944" y="5692140"/>
            <a:ext cx="10789920" cy="338328"/>
          </a:xfrm>
          <a:prstGeom prst="rect">
            <a:avLst/>
          </a:prstGeom>
          <a:noFill/>
        </p:spPr>
        <p:txBody>
          <a:bodyPr wrap="square" lIns="18288" rIns="18288" tIns="18288" bIns="18288">
            <a:spAutoFit/>
          </a:bodyPr>
          <a:lstStyle/>
          <a:p>
            <a:pPr>
              <a:spcAft>
                <a:spcPts val="700"/>
              </a:spcAft>
              <a:defRPr sz="2300" b="1">
                <a:solidFill>
                  <a:srgbClr val="087F83"/>
                </a:solidFill>
                <a:latin typeface="DejaVu Sans"/>
              </a:defRPr>
            </a:pPr>
            <a:r>
              <a:t>Đã thực hiện 79 ca: 77 đạt yêu cầu, 2 không đạt.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3. THỰC HIỆN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3.2. Ví dụ kiểm thử giao diện</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09</a:t>
            </a:r>
          </a:p>
        </p:txBody>
      </p:sp>
      <p:sp>
        <p:nvSpPr>
          <p:cNvPr id="12" name="TextBox 11"/>
          <p:cNvSpPr txBox="1"/>
          <p:nvPr/>
        </p:nvSpPr>
        <p:spPr>
          <a:xfrm>
            <a:off x="557784" y="1709928"/>
            <a:ext cx="10972800" cy="585216"/>
          </a:xfrm>
          <a:prstGeom prst="rect">
            <a:avLst/>
          </a:prstGeom>
          <a:noFill/>
        </p:spPr>
        <p:txBody>
          <a:bodyPr wrap="square" lIns="18288" rIns="18288" tIns="18288" bIns="18288">
            <a:spAutoFit/>
          </a:bodyPr>
          <a:lstStyle/>
          <a:p>
            <a:pPr>
              <a:spcAft>
                <a:spcPts val="700"/>
              </a:spcAft>
              <a:defRPr sz="2300" b="1">
                <a:solidFill>
                  <a:srgbClr val="087F83"/>
                </a:solidFill>
                <a:latin typeface="DejaVu Sans"/>
              </a:defRPr>
            </a:pPr>
            <a:r>
              <a:t>TC-REC-G-001: Gaming · Từ 10 đến dưới 15 triệu · Top 3</a:t>
            </a:r>
          </a:p>
        </p:txBody>
      </p:sp>
      <p:pic>
        <p:nvPicPr>
          <p:cNvPr id="13" name="Picture 12" descr="image11.png"/>
          <p:cNvPicPr>
            <a:picLocks noChangeAspect="1"/>
          </p:cNvPicPr>
          <p:nvPr/>
        </p:nvPicPr>
        <p:blipFill>
          <a:blip r:embed="rId2"/>
          <a:srcRect/>
          <a:stretch>
            <a:fillRect/>
          </a:stretch>
        </p:blipFill>
        <p:spPr>
          <a:xfrm>
            <a:off x="557784" y="2496312"/>
            <a:ext cx="6417781" cy="3575304"/>
          </a:xfrm>
          <a:prstGeom prst="rect">
            <a:avLst/>
          </a:prstGeom>
        </p:spPr>
      </p:pic>
      <p:sp>
        <p:nvSpPr>
          <p:cNvPr id="14" name="TextBox 13"/>
          <p:cNvSpPr txBox="1"/>
          <p:nvPr/>
        </p:nvSpPr>
        <p:spPr>
          <a:xfrm>
            <a:off x="7927848" y="2496312"/>
            <a:ext cx="3749039" cy="466344"/>
          </a:xfrm>
          <a:prstGeom prst="rect">
            <a:avLst/>
          </a:prstGeom>
          <a:noFill/>
        </p:spPr>
        <p:txBody>
          <a:bodyPr wrap="square" lIns="18288" rIns="18288" tIns="18288" bIns="18288">
            <a:spAutoFit/>
          </a:bodyPr>
          <a:lstStyle/>
          <a:p>
            <a:pPr>
              <a:spcAft>
                <a:spcPts val="700"/>
              </a:spcAft>
              <a:defRPr sz="2300" b="1">
                <a:solidFill>
                  <a:srgbClr val="142B49"/>
                </a:solidFill>
                <a:latin typeface="DejaVu Sans"/>
              </a:defRPr>
            </a:pPr>
            <a:r>
              <a:t>Kết quả quan sát</a:t>
            </a:r>
          </a:p>
        </p:txBody>
      </p:sp>
      <p:sp>
        <p:nvSpPr>
          <p:cNvPr id="15" name="TextBox 14"/>
          <p:cNvSpPr txBox="1"/>
          <p:nvPr/>
        </p:nvSpPr>
        <p:spPr>
          <a:xfrm>
            <a:off x="7927848" y="3182112"/>
            <a:ext cx="3712463" cy="2487168"/>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Có 4 máy đủ điều kiện</a:t>
            </a:r>
          </a:p>
          <a:p>
            <a:pPr>
              <a:spcAft>
                <a:spcPts val="700"/>
              </a:spcAft>
              <a:defRPr sz="2200" b="0">
                <a:solidFill>
                  <a:srgbClr val="23384F"/>
                </a:solidFill>
                <a:latin typeface="DejaVu Sans"/>
              </a:defRPr>
            </a:pPr>
            <a:r>
              <a:t>Hiển thị 3 máy gợi ý</a:t>
            </a:r>
          </a:p>
          <a:p>
            <a:pPr>
              <a:spcAft>
                <a:spcPts val="700"/>
              </a:spcAft>
              <a:defRPr sz="2200" b="0">
                <a:solidFill>
                  <a:srgbClr val="23384F"/>
                </a:solidFill>
                <a:latin typeface="DejaVu Sans"/>
              </a:defRPr>
            </a:pPr>
            <a:r>
              <a:t>Giá nằm trong khoảng</a:t>
            </a:r>
          </a:p>
          <a:p>
            <a:pPr>
              <a:spcAft>
                <a:spcPts val="700"/>
              </a:spcAft>
              <a:defRPr sz="2200" b="0">
                <a:solidFill>
                  <a:srgbClr val="23384F"/>
                </a:solidFill>
                <a:latin typeface="DejaVu Sans"/>
              </a:defRPr>
            </a:pPr>
            <a:r>
              <a:t>Điểm xếp từ cao xuống thấp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3. THỰC HIỆN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3.3. Kiểm thử API thủ công bằng Postman</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10</a:t>
            </a:r>
          </a:p>
        </p:txBody>
      </p:sp>
      <p:sp>
        <p:nvSpPr>
          <p:cNvPr id="12" name="TextBox 11"/>
          <p:cNvSpPr txBox="1"/>
          <p:nvPr/>
        </p:nvSpPr>
        <p:spPr>
          <a:xfrm>
            <a:off x="576072" y="1709928"/>
            <a:ext cx="10972800" cy="530352"/>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50 ca API: gửi yêu cầu → đọc phản hồi → đối chiếu → ghi Excel</a:t>
            </a:r>
          </a:p>
        </p:txBody>
      </p:sp>
      <p:sp>
        <p:nvSpPr>
          <p:cNvPr id="13" name="TextBox 12"/>
          <p:cNvSpPr txBox="1"/>
          <p:nvPr/>
        </p:nvSpPr>
        <p:spPr>
          <a:xfrm>
            <a:off x="576072" y="2414016"/>
            <a:ext cx="10972800" cy="521207"/>
          </a:xfrm>
          <a:prstGeom prst="rect">
            <a:avLst/>
          </a:prstGeom>
          <a:noFill/>
        </p:spPr>
        <p:txBody>
          <a:bodyPr wrap="square" lIns="18288" rIns="18288" tIns="18288" bIns="18288">
            <a:spAutoFit/>
          </a:bodyPr>
          <a:lstStyle/>
          <a:p>
            <a:pPr>
              <a:spcAft>
                <a:spcPts val="700"/>
              </a:spcAft>
              <a:defRPr sz="2400" b="1">
                <a:solidFill>
                  <a:srgbClr val="142B49"/>
                </a:solidFill>
                <a:latin typeface="DejaVu Sans"/>
              </a:defRPr>
            </a:pPr>
            <a:r>
              <a:t>Ví dụ PM-029: số tiền còn lại = ngân sách − giá máy</a:t>
            </a:r>
          </a:p>
        </p:txBody>
      </p:sp>
      <p:sp>
        <p:nvSpPr>
          <p:cNvPr id="14" name="Rectangle 13"/>
          <p:cNvSpPr/>
          <p:nvPr/>
        </p:nvSpPr>
        <p:spPr>
          <a:xfrm>
            <a:off x="548640" y="3127248"/>
            <a:ext cx="2011680" cy="530352"/>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58368" y="3236976"/>
            <a:ext cx="1810512" cy="393191"/>
          </a:xfrm>
          <a:prstGeom prst="rect">
            <a:avLst/>
          </a:prstGeom>
          <a:noFill/>
        </p:spPr>
        <p:txBody>
          <a:bodyPr wrap="square" lIns="18288" rIns="18288" tIns="18288" bIns="18288">
            <a:spAutoFit/>
          </a:bodyPr>
          <a:lstStyle/>
          <a:p>
            <a:pPr>
              <a:spcAft>
                <a:spcPts val="700"/>
              </a:spcAft>
              <a:defRPr sz="2000" b="1">
                <a:solidFill>
                  <a:srgbClr val="FFFFFF"/>
                </a:solidFill>
                <a:latin typeface="DejaVu Sans"/>
              </a:defRPr>
            </a:pPr>
            <a:r>
              <a:t>Máy tính</a:t>
            </a:r>
          </a:p>
        </p:txBody>
      </p:sp>
      <p:sp>
        <p:nvSpPr>
          <p:cNvPr id="16" name="Rectangle 15"/>
          <p:cNvSpPr/>
          <p:nvPr/>
        </p:nvSpPr>
        <p:spPr>
          <a:xfrm>
            <a:off x="2560320" y="3127248"/>
            <a:ext cx="3017520" cy="530352"/>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670048" y="3236976"/>
            <a:ext cx="2816351" cy="393191"/>
          </a:xfrm>
          <a:prstGeom prst="rect">
            <a:avLst/>
          </a:prstGeom>
          <a:noFill/>
        </p:spPr>
        <p:txBody>
          <a:bodyPr wrap="square" lIns="18288" rIns="18288" tIns="18288" bIns="18288">
            <a:spAutoFit/>
          </a:bodyPr>
          <a:lstStyle/>
          <a:p>
            <a:pPr>
              <a:spcAft>
                <a:spcPts val="700"/>
              </a:spcAft>
              <a:defRPr sz="2000" b="1">
                <a:solidFill>
                  <a:srgbClr val="FFFFFF"/>
                </a:solidFill>
                <a:latin typeface="DejaVu Sans"/>
              </a:defRPr>
            </a:pPr>
            <a:r>
              <a:t>Ngân sách (đ)</a:t>
            </a:r>
          </a:p>
        </p:txBody>
      </p:sp>
      <p:sp>
        <p:nvSpPr>
          <p:cNvPr id="18" name="Rectangle 17"/>
          <p:cNvSpPr/>
          <p:nvPr/>
        </p:nvSpPr>
        <p:spPr>
          <a:xfrm>
            <a:off x="5577840" y="3127248"/>
            <a:ext cx="3017520" cy="530352"/>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5687568" y="3236976"/>
            <a:ext cx="2816351" cy="393191"/>
          </a:xfrm>
          <a:prstGeom prst="rect">
            <a:avLst/>
          </a:prstGeom>
          <a:noFill/>
        </p:spPr>
        <p:txBody>
          <a:bodyPr wrap="square" lIns="18288" rIns="18288" tIns="18288" bIns="18288">
            <a:spAutoFit/>
          </a:bodyPr>
          <a:lstStyle/>
          <a:p>
            <a:pPr>
              <a:spcAft>
                <a:spcPts val="700"/>
              </a:spcAft>
              <a:defRPr sz="2000" b="1">
                <a:solidFill>
                  <a:srgbClr val="FFFFFF"/>
                </a:solidFill>
                <a:latin typeface="DejaVu Sans"/>
              </a:defRPr>
            </a:pPr>
            <a:r>
              <a:t>Giá máy (đ)</a:t>
            </a:r>
          </a:p>
        </p:txBody>
      </p:sp>
      <p:sp>
        <p:nvSpPr>
          <p:cNvPr id="20" name="Rectangle 19"/>
          <p:cNvSpPr/>
          <p:nvPr/>
        </p:nvSpPr>
        <p:spPr>
          <a:xfrm>
            <a:off x="8595360" y="3127248"/>
            <a:ext cx="3017520" cy="530352"/>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705088" y="3236976"/>
            <a:ext cx="2816351" cy="393191"/>
          </a:xfrm>
          <a:prstGeom prst="rect">
            <a:avLst/>
          </a:prstGeom>
          <a:noFill/>
        </p:spPr>
        <p:txBody>
          <a:bodyPr wrap="square" lIns="18288" rIns="18288" tIns="18288" bIns="18288">
            <a:spAutoFit/>
          </a:bodyPr>
          <a:lstStyle/>
          <a:p>
            <a:pPr>
              <a:spcAft>
                <a:spcPts val="700"/>
              </a:spcAft>
              <a:defRPr sz="2000" b="1">
                <a:solidFill>
                  <a:srgbClr val="FFFFFF"/>
                </a:solidFill>
                <a:latin typeface="DejaVu Sans"/>
              </a:defRPr>
            </a:pPr>
            <a:r>
              <a:t>Còn lại (đ)</a:t>
            </a:r>
          </a:p>
        </p:txBody>
      </p:sp>
      <p:sp>
        <p:nvSpPr>
          <p:cNvPr id="22" name="Rectangle 21"/>
          <p:cNvSpPr/>
          <p:nvPr/>
        </p:nvSpPr>
        <p:spPr>
          <a:xfrm>
            <a:off x="548640" y="3657600"/>
            <a:ext cx="201168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58368" y="3767328"/>
            <a:ext cx="1810512" cy="393191"/>
          </a:xfrm>
          <a:prstGeom prst="rect">
            <a:avLst/>
          </a:prstGeom>
          <a:noFill/>
        </p:spPr>
        <p:txBody>
          <a:bodyPr wrap="square" lIns="18288" rIns="18288" tIns="18288" bIns="18288">
            <a:spAutoFit/>
          </a:bodyPr>
          <a:lstStyle/>
          <a:p>
            <a:pPr>
              <a:spcAft>
                <a:spcPts val="700"/>
              </a:spcAft>
              <a:defRPr sz="2000" b="1">
                <a:solidFill>
                  <a:srgbClr val="23384F"/>
                </a:solidFill>
                <a:latin typeface="DejaVu Sans"/>
              </a:defRPr>
            </a:pPr>
            <a:r>
              <a:t>PC-042</a:t>
            </a:r>
          </a:p>
        </p:txBody>
      </p:sp>
      <p:sp>
        <p:nvSpPr>
          <p:cNvPr id="24" name="Rectangle 23"/>
          <p:cNvSpPr/>
          <p:nvPr/>
        </p:nvSpPr>
        <p:spPr>
          <a:xfrm>
            <a:off x="2560320" y="3657600"/>
            <a:ext cx="30175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2670048" y="3767328"/>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34.999.999</a:t>
            </a:r>
          </a:p>
        </p:txBody>
      </p:sp>
      <p:sp>
        <p:nvSpPr>
          <p:cNvPr id="26" name="Rectangle 25"/>
          <p:cNvSpPr/>
          <p:nvPr/>
        </p:nvSpPr>
        <p:spPr>
          <a:xfrm>
            <a:off x="5577840" y="3657600"/>
            <a:ext cx="30175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5687568" y="3767328"/>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31.980.000</a:t>
            </a:r>
          </a:p>
        </p:txBody>
      </p:sp>
      <p:sp>
        <p:nvSpPr>
          <p:cNvPr id="28" name="Rectangle 27"/>
          <p:cNvSpPr/>
          <p:nvPr/>
        </p:nvSpPr>
        <p:spPr>
          <a:xfrm>
            <a:off x="8595360" y="3657600"/>
            <a:ext cx="30175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705088" y="3767328"/>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3.019.999</a:t>
            </a:r>
          </a:p>
        </p:txBody>
      </p:sp>
      <p:sp>
        <p:nvSpPr>
          <p:cNvPr id="30" name="Rectangle 29"/>
          <p:cNvSpPr/>
          <p:nvPr/>
        </p:nvSpPr>
        <p:spPr>
          <a:xfrm>
            <a:off x="548640" y="4187952"/>
            <a:ext cx="2011680" cy="530352"/>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8368" y="4297680"/>
            <a:ext cx="1810512" cy="393191"/>
          </a:xfrm>
          <a:prstGeom prst="rect">
            <a:avLst/>
          </a:prstGeom>
          <a:noFill/>
        </p:spPr>
        <p:txBody>
          <a:bodyPr wrap="square" lIns="18288" rIns="18288" tIns="18288" bIns="18288">
            <a:spAutoFit/>
          </a:bodyPr>
          <a:lstStyle/>
          <a:p>
            <a:pPr>
              <a:spcAft>
                <a:spcPts val="700"/>
              </a:spcAft>
              <a:defRPr sz="2000" b="1">
                <a:solidFill>
                  <a:srgbClr val="23384F"/>
                </a:solidFill>
                <a:latin typeface="DejaVu Sans"/>
              </a:defRPr>
            </a:pPr>
            <a:r>
              <a:t>PC-045</a:t>
            </a:r>
          </a:p>
        </p:txBody>
      </p:sp>
      <p:sp>
        <p:nvSpPr>
          <p:cNvPr id="32" name="Rectangle 31"/>
          <p:cNvSpPr/>
          <p:nvPr/>
        </p:nvSpPr>
        <p:spPr>
          <a:xfrm>
            <a:off x="2560320" y="4187952"/>
            <a:ext cx="3017520" cy="530352"/>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2670048" y="4297680"/>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34.999.999</a:t>
            </a:r>
          </a:p>
        </p:txBody>
      </p:sp>
      <p:sp>
        <p:nvSpPr>
          <p:cNvPr id="34" name="Rectangle 33"/>
          <p:cNvSpPr/>
          <p:nvPr/>
        </p:nvSpPr>
        <p:spPr>
          <a:xfrm>
            <a:off x="5577840" y="4187952"/>
            <a:ext cx="3017520" cy="530352"/>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687568" y="4297680"/>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34.980.000</a:t>
            </a:r>
          </a:p>
        </p:txBody>
      </p:sp>
      <p:sp>
        <p:nvSpPr>
          <p:cNvPr id="36" name="Rectangle 35"/>
          <p:cNvSpPr/>
          <p:nvPr/>
        </p:nvSpPr>
        <p:spPr>
          <a:xfrm>
            <a:off x="8595360" y="4187952"/>
            <a:ext cx="3017520" cy="530352"/>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705088" y="4297680"/>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19.999</a:t>
            </a:r>
          </a:p>
        </p:txBody>
      </p:sp>
      <p:sp>
        <p:nvSpPr>
          <p:cNvPr id="38" name="Rectangle 37"/>
          <p:cNvSpPr/>
          <p:nvPr/>
        </p:nvSpPr>
        <p:spPr>
          <a:xfrm>
            <a:off x="548640" y="4718304"/>
            <a:ext cx="201168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58368" y="4828032"/>
            <a:ext cx="1810512" cy="393191"/>
          </a:xfrm>
          <a:prstGeom prst="rect">
            <a:avLst/>
          </a:prstGeom>
          <a:noFill/>
        </p:spPr>
        <p:txBody>
          <a:bodyPr wrap="square" lIns="18288" rIns="18288" tIns="18288" bIns="18288">
            <a:spAutoFit/>
          </a:bodyPr>
          <a:lstStyle/>
          <a:p>
            <a:pPr>
              <a:spcAft>
                <a:spcPts val="700"/>
              </a:spcAft>
              <a:defRPr sz="2000" b="1">
                <a:solidFill>
                  <a:srgbClr val="23384F"/>
                </a:solidFill>
                <a:latin typeface="DejaVu Sans"/>
              </a:defRPr>
            </a:pPr>
            <a:r>
              <a:t>PC-044</a:t>
            </a:r>
          </a:p>
        </p:txBody>
      </p:sp>
      <p:sp>
        <p:nvSpPr>
          <p:cNvPr id="40" name="Rectangle 39"/>
          <p:cNvSpPr/>
          <p:nvPr/>
        </p:nvSpPr>
        <p:spPr>
          <a:xfrm>
            <a:off x="2560320" y="4718304"/>
            <a:ext cx="30175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2670048" y="4828032"/>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34.999.999</a:t>
            </a:r>
          </a:p>
        </p:txBody>
      </p:sp>
      <p:sp>
        <p:nvSpPr>
          <p:cNvPr id="42" name="Rectangle 41"/>
          <p:cNvSpPr/>
          <p:nvPr/>
        </p:nvSpPr>
        <p:spPr>
          <a:xfrm>
            <a:off x="5577840" y="4718304"/>
            <a:ext cx="30175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5687568" y="4828032"/>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28.480.000</a:t>
            </a:r>
          </a:p>
        </p:txBody>
      </p:sp>
      <p:sp>
        <p:nvSpPr>
          <p:cNvPr id="44" name="Rectangle 43"/>
          <p:cNvSpPr/>
          <p:nvPr/>
        </p:nvSpPr>
        <p:spPr>
          <a:xfrm>
            <a:off x="8595360" y="4718304"/>
            <a:ext cx="30175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8705088" y="4828032"/>
            <a:ext cx="2816351" cy="393191"/>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6.519.999</a:t>
            </a:r>
          </a:p>
        </p:txBody>
      </p:sp>
      <p:sp>
        <p:nvSpPr>
          <p:cNvPr id="46" name="TextBox 45"/>
          <p:cNvSpPr txBox="1"/>
          <p:nvPr/>
        </p:nvSpPr>
        <p:spPr>
          <a:xfrm>
            <a:off x="594360" y="5468112"/>
            <a:ext cx="7132320" cy="338328"/>
          </a:xfrm>
          <a:prstGeom prst="rect">
            <a:avLst/>
          </a:prstGeom>
          <a:noFill/>
        </p:spPr>
        <p:txBody>
          <a:bodyPr wrap="square" lIns="18288" rIns="18288" tIns="18288" bIns="18288">
            <a:spAutoFit/>
          </a:bodyPr>
          <a:lstStyle/>
          <a:p>
            <a:pPr>
              <a:spcAft>
                <a:spcPts val="700"/>
              </a:spcAft>
              <a:defRPr sz="1600" b="0">
                <a:solidFill>
                  <a:srgbClr val="5A6B7E"/>
                </a:solidFill>
                <a:latin typeface="DejaVu Sans"/>
              </a:defRPr>
            </a:pPr>
            <a:r>
              <a:t>Ảnh phản hồi của PC-042</a:t>
            </a:r>
          </a:p>
        </p:txBody>
      </p:sp>
      <p:pic>
        <p:nvPicPr>
          <p:cNvPr id="47" name="Picture 46" descr="image13.png"/>
          <p:cNvPicPr>
            <a:picLocks noChangeAspect="1"/>
          </p:cNvPicPr>
          <p:nvPr/>
        </p:nvPicPr>
        <p:blipFill>
          <a:blip r:embed="rId2"/>
          <a:srcRect l="33403" t="91582" r="44328" b="5485"/>
          <a:stretch>
            <a:fillRect/>
          </a:stretch>
        </p:blipFill>
        <p:spPr>
          <a:xfrm>
            <a:off x="594360" y="5824728"/>
            <a:ext cx="6869926" cy="493776"/>
          </a:xfrm>
          <a:prstGeom prst="rect">
            <a:avLst/>
          </a:prstGeom>
        </p:spPr>
      </p:pic>
      <p:sp>
        <p:nvSpPr>
          <p:cNvPr id="48" name="TextBox 47"/>
          <p:cNvSpPr txBox="1"/>
          <p:nvPr/>
        </p:nvSpPr>
        <p:spPr>
          <a:xfrm>
            <a:off x="7973568" y="5596128"/>
            <a:ext cx="3657600" cy="457200"/>
          </a:xfrm>
          <a:prstGeom prst="rect">
            <a:avLst/>
          </a:prstGeom>
          <a:noFill/>
        </p:spPr>
        <p:txBody>
          <a:bodyPr wrap="square" lIns="18288" rIns="18288" tIns="18288" bIns="18288">
            <a:spAutoFit/>
          </a:bodyPr>
          <a:lstStyle/>
          <a:p>
            <a:pPr>
              <a:spcAft>
                <a:spcPts val="700"/>
              </a:spcAft>
              <a:defRPr sz="2200" b="1">
                <a:solidFill>
                  <a:srgbClr val="13765D"/>
                </a:solidFill>
                <a:latin typeface="DejaVu Sans"/>
              </a:defRPr>
            </a:pPr>
            <a:r>
              <a:t>3 kết quả khớp → Đạt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3. THỰC HIỆN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3.4. Tự động hóa kiểm thử API</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11</a:t>
            </a:r>
          </a:p>
        </p:txBody>
      </p:sp>
      <p:sp>
        <p:nvSpPr>
          <p:cNvPr id="12" name="Rounded Rectangle 11"/>
          <p:cNvSpPr/>
          <p:nvPr/>
        </p:nvSpPr>
        <p:spPr>
          <a:xfrm>
            <a:off x="548640" y="1801368"/>
            <a:ext cx="5431536" cy="2368296"/>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48640" y="1801368"/>
            <a:ext cx="59436" cy="236829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49808" y="1947672"/>
            <a:ext cx="5047488" cy="530352"/>
          </a:xfrm>
          <a:prstGeom prst="rect">
            <a:avLst/>
          </a:prstGeom>
          <a:noFill/>
        </p:spPr>
        <p:txBody>
          <a:bodyPr wrap="square" lIns="18288" rIns="18288" tIns="18288" bIns="18288">
            <a:spAutoFit/>
          </a:bodyPr>
          <a:lstStyle/>
          <a:p>
            <a:pPr>
              <a:spcAft>
                <a:spcPts val="700"/>
              </a:spcAft>
              <a:defRPr sz="2000" b="1">
                <a:solidFill>
                  <a:srgbClr val="245AD3"/>
                </a:solidFill>
                <a:latin typeface="DejaVu Sans"/>
              </a:defRPr>
            </a:pPr>
            <a:r>
              <a:t>Khi kiểm thử thủ công</a:t>
            </a:r>
          </a:p>
        </p:txBody>
      </p:sp>
      <p:sp>
        <p:nvSpPr>
          <p:cNvPr id="15" name="TextBox 14"/>
          <p:cNvSpPr txBox="1"/>
          <p:nvPr/>
        </p:nvSpPr>
        <p:spPr>
          <a:xfrm>
            <a:off x="749808" y="2587752"/>
            <a:ext cx="5047488" cy="1481328"/>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Người kiểm thử đọc phản hồi</a:t>
            </a:r>
          </a:p>
          <a:p>
            <a:pPr>
              <a:spcAft>
                <a:spcPts val="700"/>
              </a:spcAft>
              <a:defRPr sz="2000" b="0">
                <a:solidFill>
                  <a:srgbClr val="23384F"/>
                </a:solidFill>
                <a:latin typeface="DejaVu Sans"/>
              </a:defRPr>
            </a:pPr>
            <a:r>
              <a:t>và tự so sánh từng điều kiện.</a:t>
            </a:r>
          </a:p>
        </p:txBody>
      </p:sp>
      <p:sp>
        <p:nvSpPr>
          <p:cNvPr id="16" name="Rounded Rectangle 15"/>
          <p:cNvSpPr/>
          <p:nvPr/>
        </p:nvSpPr>
        <p:spPr>
          <a:xfrm>
            <a:off x="6217920" y="1801368"/>
            <a:ext cx="5431536" cy="2368296"/>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6217920" y="1801368"/>
            <a:ext cx="59436" cy="2368296"/>
          </a:xfrm>
          <a:prstGeom prst="rect">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419088" y="1947672"/>
            <a:ext cx="5047488" cy="530352"/>
          </a:xfrm>
          <a:prstGeom prst="rect">
            <a:avLst/>
          </a:prstGeom>
          <a:noFill/>
        </p:spPr>
        <p:txBody>
          <a:bodyPr wrap="square" lIns="18288" rIns="18288" tIns="18288" bIns="18288">
            <a:spAutoFit/>
          </a:bodyPr>
          <a:lstStyle/>
          <a:p>
            <a:pPr>
              <a:spcAft>
                <a:spcPts val="700"/>
              </a:spcAft>
              <a:defRPr sz="2000" b="1">
                <a:solidFill>
                  <a:srgbClr val="087F83"/>
                </a:solidFill>
                <a:latin typeface="DejaVu Sans"/>
              </a:defRPr>
            </a:pPr>
            <a:r>
              <a:t>Khi kiểm thử tự động</a:t>
            </a:r>
          </a:p>
        </p:txBody>
      </p:sp>
      <p:sp>
        <p:nvSpPr>
          <p:cNvPr id="19" name="TextBox 18"/>
          <p:cNvSpPr txBox="1"/>
          <p:nvPr/>
        </p:nvSpPr>
        <p:spPr>
          <a:xfrm>
            <a:off x="6419088" y="2587752"/>
            <a:ext cx="5047488" cy="1481328"/>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Đoạn mã kiểm tra điều kiện</a:t>
            </a:r>
          </a:p>
          <a:p>
            <a:pPr>
              <a:spcAft>
                <a:spcPts val="700"/>
              </a:spcAft>
              <a:defRPr sz="2000" b="0">
                <a:solidFill>
                  <a:srgbClr val="23384F"/>
                </a:solidFill>
                <a:latin typeface="DejaVu Sans"/>
              </a:defRPr>
            </a:pPr>
            <a:r>
              <a:t>và tự báo đạt hoặc không đạt.</a:t>
            </a:r>
          </a:p>
        </p:txBody>
      </p:sp>
      <p:sp>
        <p:nvSpPr>
          <p:cNvPr id="20" name="TextBox 19"/>
          <p:cNvSpPr txBox="1"/>
          <p:nvPr/>
        </p:nvSpPr>
        <p:spPr>
          <a:xfrm>
            <a:off x="576072" y="4489704"/>
            <a:ext cx="10972800" cy="457200"/>
          </a:xfrm>
          <a:prstGeom prst="rect">
            <a:avLst/>
          </a:prstGeom>
          <a:noFill/>
        </p:spPr>
        <p:txBody>
          <a:bodyPr wrap="square" lIns="18288" rIns="18288" tIns="18288" bIns="18288">
            <a:spAutoFit/>
          </a:bodyPr>
          <a:lstStyle/>
          <a:p>
            <a:pPr>
              <a:spcAft>
                <a:spcPts val="700"/>
              </a:spcAft>
              <a:defRPr sz="2300" b="1">
                <a:solidFill>
                  <a:srgbClr val="142B49"/>
                </a:solidFill>
                <a:latin typeface="DejaVu Sans"/>
              </a:defRPr>
            </a:pPr>
            <a:r>
              <a:t>Ví dụ điều kiện được viết trong mã kiểm tra:</a:t>
            </a:r>
          </a:p>
        </p:txBody>
      </p:sp>
      <p:sp>
        <p:nvSpPr>
          <p:cNvPr id="21" name="Rounded Rectangle 20"/>
          <p:cNvSpPr/>
          <p:nvPr/>
        </p:nvSpPr>
        <p:spPr>
          <a:xfrm>
            <a:off x="548640" y="5074920"/>
            <a:ext cx="11082528" cy="795528"/>
          </a:xfrm>
          <a:prstGeom prst="roundRect">
            <a:avLst>
              <a:gd name="adj" fmla="val 12000"/>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77240" y="5303520"/>
            <a:ext cx="10643616" cy="402336"/>
          </a:xfrm>
          <a:prstGeom prst="rect">
            <a:avLst/>
          </a:prstGeom>
          <a:noFill/>
        </p:spPr>
        <p:txBody>
          <a:bodyPr wrap="square" lIns="18288" rIns="18288" tIns="18288" bIns="18288">
            <a:spAutoFit/>
          </a:bodyPr>
          <a:lstStyle/>
          <a:p>
            <a:pPr>
              <a:spcAft>
                <a:spcPts val="700"/>
              </a:spcAft>
              <a:defRPr sz="2000" b="0">
                <a:solidFill>
                  <a:srgbClr val="FFFFFF"/>
                </a:solidFill>
                <a:latin typeface="DejaVu Sans Mono"/>
              </a:defRPr>
            </a:pPr>
            <a:r>
              <a:t>eq(x.budgetRemainingVnd, b.budget - x.pc.priceVnd);</a:t>
            </a:r>
          </a:p>
        </p:txBody>
      </p:sp>
      <p:sp>
        <p:nvSpPr>
          <p:cNvPr id="23" name="TextBox 22"/>
          <p:cNvSpPr txBox="1"/>
          <p:nvPr/>
        </p:nvSpPr>
        <p:spPr>
          <a:xfrm>
            <a:off x="566928" y="6117336"/>
            <a:ext cx="10972800" cy="246888"/>
          </a:xfrm>
          <a:prstGeom prst="rect">
            <a:avLst/>
          </a:prstGeom>
          <a:noFill/>
        </p:spPr>
        <p:txBody>
          <a:bodyPr wrap="square" lIns="18288" rIns="18288" tIns="18288" bIns="18288">
            <a:spAutoFit/>
          </a:bodyPr>
          <a:lstStyle/>
          <a:p>
            <a:pPr>
              <a:spcAft>
                <a:spcPts val="700"/>
              </a:spcAft>
              <a:defRPr sz="1100" b="0">
                <a:solidFill>
                  <a:srgbClr val="5A6B7E"/>
                </a:solidFill>
                <a:latin typeface="DejaVu Sans"/>
              </a:defRPr>
            </a:pPr>
            <a:r>
              <a:t>Trích assertions.js: kiểm tra số tiền còn lại bằng ngân sách trừ giá máy.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3. THỰC HIỆN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3.5. Kết quả chạy Postman Runner và Newman</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12</a:t>
            </a:r>
          </a:p>
        </p:txBody>
      </p:sp>
      <p:pic>
        <p:nvPicPr>
          <p:cNvPr id="12" name="Picture 11" descr="image15.png"/>
          <p:cNvPicPr>
            <a:picLocks noChangeAspect="1"/>
          </p:cNvPicPr>
          <p:nvPr/>
        </p:nvPicPr>
        <p:blipFill>
          <a:blip r:embed="rId2"/>
          <a:srcRect l="25035" t="7712" r="556" b="74679"/>
          <a:stretch>
            <a:fillRect/>
          </a:stretch>
        </p:blipFill>
        <p:spPr>
          <a:xfrm>
            <a:off x="566928" y="1810512"/>
            <a:ext cx="10998162" cy="1408176"/>
          </a:xfrm>
          <a:prstGeom prst="rect">
            <a:avLst/>
          </a:prstGeom>
        </p:spPr>
      </p:pic>
      <p:sp>
        <p:nvSpPr>
          <p:cNvPr id="13" name="Rectangle 12"/>
          <p:cNvSpPr/>
          <p:nvPr/>
        </p:nvSpPr>
        <p:spPr>
          <a:xfrm>
            <a:off x="548640" y="3547872"/>
            <a:ext cx="3931920" cy="658368"/>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58368" y="3657600"/>
            <a:ext cx="3730752" cy="521207"/>
          </a:xfrm>
          <a:prstGeom prst="rect">
            <a:avLst/>
          </a:prstGeom>
          <a:noFill/>
        </p:spPr>
        <p:txBody>
          <a:bodyPr wrap="square" lIns="18288" rIns="18288" tIns="18288" bIns="18288">
            <a:spAutoFit/>
          </a:bodyPr>
          <a:lstStyle/>
          <a:p>
            <a:pPr>
              <a:spcAft>
                <a:spcPts val="700"/>
              </a:spcAft>
              <a:defRPr sz="1900" b="1">
                <a:solidFill>
                  <a:srgbClr val="FFFFFF"/>
                </a:solidFill>
                <a:latin typeface="DejaVu Sans"/>
              </a:defRPr>
            </a:pPr>
            <a:r>
              <a:t>Cách chạy</a:t>
            </a:r>
          </a:p>
        </p:txBody>
      </p:sp>
      <p:sp>
        <p:nvSpPr>
          <p:cNvPr id="15" name="Rectangle 14"/>
          <p:cNvSpPr/>
          <p:nvPr/>
        </p:nvSpPr>
        <p:spPr>
          <a:xfrm>
            <a:off x="4480559" y="3547872"/>
            <a:ext cx="3108960" cy="658368"/>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590288" y="3657600"/>
            <a:ext cx="2907791" cy="521207"/>
          </a:xfrm>
          <a:prstGeom prst="rect">
            <a:avLst/>
          </a:prstGeom>
          <a:noFill/>
        </p:spPr>
        <p:txBody>
          <a:bodyPr wrap="square" lIns="18288" rIns="18288" tIns="18288" bIns="18288">
            <a:spAutoFit/>
          </a:bodyPr>
          <a:lstStyle/>
          <a:p>
            <a:pPr>
              <a:spcAft>
                <a:spcPts val="700"/>
              </a:spcAft>
              <a:defRPr sz="1900" b="1">
                <a:solidFill>
                  <a:srgbClr val="FFFFFF"/>
                </a:solidFill>
                <a:latin typeface="DejaVu Sans"/>
              </a:defRPr>
            </a:pPr>
            <a:r>
              <a:t>Phép kiểm tra đạt</a:t>
            </a:r>
          </a:p>
        </p:txBody>
      </p:sp>
      <p:sp>
        <p:nvSpPr>
          <p:cNvPr id="17" name="Rectangle 16"/>
          <p:cNvSpPr/>
          <p:nvPr/>
        </p:nvSpPr>
        <p:spPr>
          <a:xfrm>
            <a:off x="7589519" y="3547872"/>
            <a:ext cx="4023360" cy="658368"/>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699247" y="3657600"/>
            <a:ext cx="3822192" cy="521207"/>
          </a:xfrm>
          <a:prstGeom prst="rect">
            <a:avLst/>
          </a:prstGeom>
          <a:noFill/>
        </p:spPr>
        <p:txBody>
          <a:bodyPr wrap="square" lIns="18288" rIns="18288" tIns="18288" bIns="18288">
            <a:spAutoFit/>
          </a:bodyPr>
          <a:lstStyle/>
          <a:p>
            <a:pPr>
              <a:spcAft>
                <a:spcPts val="700"/>
              </a:spcAft>
              <a:defRPr sz="1900" b="1">
                <a:solidFill>
                  <a:srgbClr val="FFFFFF"/>
                </a:solidFill>
                <a:latin typeface="DejaVu Sans"/>
              </a:defRPr>
            </a:pPr>
            <a:r>
              <a:t>Không đạt / Bỏ qua / Lỗi</a:t>
            </a:r>
          </a:p>
        </p:txBody>
      </p:sp>
      <p:sp>
        <p:nvSpPr>
          <p:cNvPr id="19" name="Rectangle 18"/>
          <p:cNvSpPr/>
          <p:nvPr/>
        </p:nvSpPr>
        <p:spPr>
          <a:xfrm>
            <a:off x="548640" y="4206240"/>
            <a:ext cx="393192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58368" y="4315968"/>
            <a:ext cx="3730752" cy="521207"/>
          </a:xfrm>
          <a:prstGeom prst="rect">
            <a:avLst/>
          </a:prstGeom>
          <a:noFill/>
        </p:spPr>
        <p:txBody>
          <a:bodyPr wrap="square" lIns="18288" rIns="18288" tIns="18288" bIns="18288">
            <a:spAutoFit/>
          </a:bodyPr>
          <a:lstStyle/>
          <a:p>
            <a:pPr>
              <a:spcAft>
                <a:spcPts val="700"/>
              </a:spcAft>
              <a:defRPr sz="1900" b="1">
                <a:solidFill>
                  <a:srgbClr val="23384F"/>
                </a:solidFill>
                <a:latin typeface="DejaVu Sans"/>
              </a:defRPr>
            </a:pPr>
            <a:r>
              <a:t>Runner trong Postman</a:t>
            </a:r>
          </a:p>
        </p:txBody>
      </p:sp>
      <p:sp>
        <p:nvSpPr>
          <p:cNvPr id="21" name="Rectangle 20"/>
          <p:cNvSpPr/>
          <p:nvPr/>
        </p:nvSpPr>
        <p:spPr>
          <a:xfrm>
            <a:off x="4480559" y="4206240"/>
            <a:ext cx="310896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590288" y="4315968"/>
            <a:ext cx="2907791" cy="521207"/>
          </a:xfrm>
          <a:prstGeom prst="rect">
            <a:avLst/>
          </a:prstGeom>
          <a:noFill/>
        </p:spPr>
        <p:txBody>
          <a:bodyPr wrap="square" lIns="18288" rIns="18288" tIns="18288" bIns="18288">
            <a:spAutoFit/>
          </a:bodyPr>
          <a:lstStyle/>
          <a:p>
            <a:pPr>
              <a:spcAft>
                <a:spcPts val="700"/>
              </a:spcAft>
              <a:defRPr sz="1900" b="0">
                <a:solidFill>
                  <a:srgbClr val="23384F"/>
                </a:solidFill>
                <a:latin typeface="DejaVu Sans"/>
              </a:defRPr>
            </a:pPr>
            <a:r>
              <a:t>257 đạt</a:t>
            </a:r>
          </a:p>
        </p:txBody>
      </p:sp>
      <p:sp>
        <p:nvSpPr>
          <p:cNvPr id="23" name="Rectangle 22"/>
          <p:cNvSpPr/>
          <p:nvPr/>
        </p:nvSpPr>
        <p:spPr>
          <a:xfrm>
            <a:off x="7589519" y="4206240"/>
            <a:ext cx="402336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699247" y="4315968"/>
            <a:ext cx="3822192" cy="521207"/>
          </a:xfrm>
          <a:prstGeom prst="rect">
            <a:avLst/>
          </a:prstGeom>
          <a:noFill/>
        </p:spPr>
        <p:txBody>
          <a:bodyPr wrap="square" lIns="18288" rIns="18288" tIns="18288" bIns="18288">
            <a:spAutoFit/>
          </a:bodyPr>
          <a:lstStyle/>
          <a:p>
            <a:pPr>
              <a:spcAft>
                <a:spcPts val="700"/>
              </a:spcAft>
              <a:defRPr sz="1900" b="0">
                <a:solidFill>
                  <a:srgbClr val="23384F"/>
                </a:solidFill>
                <a:latin typeface="DejaVu Sans"/>
              </a:defRPr>
            </a:pPr>
            <a:r>
              <a:t>0 / 0 / 0</a:t>
            </a:r>
          </a:p>
        </p:txBody>
      </p:sp>
      <p:sp>
        <p:nvSpPr>
          <p:cNvPr id="25" name="Rectangle 24"/>
          <p:cNvSpPr/>
          <p:nvPr/>
        </p:nvSpPr>
        <p:spPr>
          <a:xfrm>
            <a:off x="548640" y="4864608"/>
            <a:ext cx="3931920" cy="658368"/>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658368" y="4974336"/>
            <a:ext cx="3730752" cy="521207"/>
          </a:xfrm>
          <a:prstGeom prst="rect">
            <a:avLst/>
          </a:prstGeom>
          <a:noFill/>
        </p:spPr>
        <p:txBody>
          <a:bodyPr wrap="square" lIns="18288" rIns="18288" tIns="18288" bIns="18288">
            <a:spAutoFit/>
          </a:bodyPr>
          <a:lstStyle/>
          <a:p>
            <a:pPr>
              <a:spcAft>
                <a:spcPts val="700"/>
              </a:spcAft>
              <a:defRPr sz="1900" b="1">
                <a:solidFill>
                  <a:srgbClr val="23384F"/>
                </a:solidFill>
                <a:latin typeface="DejaVu Sans"/>
              </a:defRPr>
            </a:pPr>
            <a:r>
              <a:t>Newman bằng dòng lệnh</a:t>
            </a:r>
          </a:p>
        </p:txBody>
      </p:sp>
      <p:sp>
        <p:nvSpPr>
          <p:cNvPr id="27" name="Rectangle 26"/>
          <p:cNvSpPr/>
          <p:nvPr/>
        </p:nvSpPr>
        <p:spPr>
          <a:xfrm>
            <a:off x="4480559" y="4864608"/>
            <a:ext cx="3108960" cy="658368"/>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590288" y="4974336"/>
            <a:ext cx="2907791" cy="521207"/>
          </a:xfrm>
          <a:prstGeom prst="rect">
            <a:avLst/>
          </a:prstGeom>
          <a:noFill/>
        </p:spPr>
        <p:txBody>
          <a:bodyPr wrap="square" lIns="18288" rIns="18288" tIns="18288" bIns="18288">
            <a:spAutoFit/>
          </a:bodyPr>
          <a:lstStyle/>
          <a:p>
            <a:pPr>
              <a:spcAft>
                <a:spcPts val="700"/>
              </a:spcAft>
              <a:defRPr sz="1900" b="0">
                <a:solidFill>
                  <a:srgbClr val="23384F"/>
                </a:solidFill>
                <a:latin typeface="DejaVu Sans"/>
              </a:defRPr>
            </a:pPr>
            <a:r>
              <a:t>257 đạt</a:t>
            </a:r>
          </a:p>
        </p:txBody>
      </p:sp>
      <p:sp>
        <p:nvSpPr>
          <p:cNvPr id="29" name="Rectangle 28"/>
          <p:cNvSpPr/>
          <p:nvPr/>
        </p:nvSpPr>
        <p:spPr>
          <a:xfrm>
            <a:off x="7589519" y="4864608"/>
            <a:ext cx="4023360" cy="658368"/>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99247" y="4974336"/>
            <a:ext cx="3822192" cy="521207"/>
          </a:xfrm>
          <a:prstGeom prst="rect">
            <a:avLst/>
          </a:prstGeom>
          <a:noFill/>
        </p:spPr>
        <p:txBody>
          <a:bodyPr wrap="square" lIns="18288" rIns="18288" tIns="18288" bIns="18288">
            <a:spAutoFit/>
          </a:bodyPr>
          <a:lstStyle/>
          <a:p>
            <a:pPr>
              <a:spcAft>
                <a:spcPts val="700"/>
              </a:spcAft>
              <a:defRPr sz="1900" b="0">
                <a:solidFill>
                  <a:srgbClr val="23384F"/>
                </a:solidFill>
                <a:latin typeface="DejaVu Sans"/>
              </a:defRPr>
            </a:pPr>
            <a:r>
              <a:t>0 / 0 / 0</a:t>
            </a:r>
          </a:p>
        </p:txBody>
      </p:sp>
      <p:sp>
        <p:nvSpPr>
          <p:cNvPr id="31" name="Rounded Rectangle 30"/>
          <p:cNvSpPr/>
          <p:nvPr/>
        </p:nvSpPr>
        <p:spPr>
          <a:xfrm>
            <a:off x="530352" y="5852160"/>
            <a:ext cx="11109960" cy="438912"/>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694944" y="5902452"/>
            <a:ext cx="10789920" cy="338328"/>
          </a:xfrm>
          <a:prstGeom prst="rect">
            <a:avLst/>
          </a:prstGeom>
          <a:noFill/>
        </p:spPr>
        <p:txBody>
          <a:bodyPr wrap="square" lIns="18288" rIns="18288" tIns="18288" bIns="18288">
            <a:spAutoFit/>
          </a:bodyPr>
          <a:lstStyle/>
          <a:p>
            <a:pPr>
              <a:spcAft>
                <a:spcPts val="700"/>
              </a:spcAft>
              <a:defRPr sz="1900" b="1">
                <a:solidFill>
                  <a:srgbClr val="087F83"/>
                </a:solidFill>
                <a:latin typeface="DejaVu Sans"/>
              </a:defRPr>
            </a:pPr>
            <a:r>
              <a:t>Hai lần chạy riêng của cùng bộ 50 ca; 257 là số phép kiểm tra.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3. THỰC HIỆN KIỂM THỬ</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3.6. Kiểm thử giao diện tự động bằng Playwright</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13</a:t>
            </a:r>
          </a:p>
        </p:txBody>
      </p:sp>
      <p:sp>
        <p:nvSpPr>
          <p:cNvPr id="12" name="Rounded Rectangle 11"/>
          <p:cNvSpPr/>
          <p:nvPr/>
        </p:nvSpPr>
        <p:spPr>
          <a:xfrm>
            <a:off x="548640" y="1819656"/>
            <a:ext cx="3657600" cy="2606040"/>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48640" y="1819656"/>
            <a:ext cx="59436" cy="2606040"/>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49808" y="1965960"/>
            <a:ext cx="3273552" cy="530352"/>
          </a:xfrm>
          <a:prstGeom prst="rect">
            <a:avLst/>
          </a:prstGeom>
          <a:noFill/>
        </p:spPr>
        <p:txBody>
          <a:bodyPr wrap="square" lIns="18288" rIns="18288" tIns="18288" bIns="18288">
            <a:spAutoFit/>
          </a:bodyPr>
          <a:lstStyle/>
          <a:p>
            <a:pPr>
              <a:spcAft>
                <a:spcPts val="700"/>
              </a:spcAft>
              <a:defRPr sz="2000" b="1">
                <a:solidFill>
                  <a:srgbClr val="245AD3"/>
                </a:solidFill>
                <a:latin typeface="DejaVu Sans"/>
              </a:defRPr>
            </a:pPr>
            <a:r>
              <a:t>8 ca cơ bản</a:t>
            </a:r>
          </a:p>
        </p:txBody>
      </p:sp>
      <p:sp>
        <p:nvSpPr>
          <p:cNvPr id="15" name="TextBox 14"/>
          <p:cNvSpPr txBox="1"/>
          <p:nvPr/>
        </p:nvSpPr>
        <p:spPr>
          <a:xfrm>
            <a:off x="749808" y="2606040"/>
            <a:ext cx="3273552" cy="1719072"/>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Trang chủ, điều hướng</a:t>
            </a:r>
          </a:p>
          <a:p>
            <a:pPr>
              <a:spcAft>
                <a:spcPts val="700"/>
              </a:spcAft>
              <a:defRPr sz="2000" b="0">
                <a:solidFill>
                  <a:srgbClr val="23384F"/>
                </a:solidFill>
                <a:latin typeface="DejaVu Sans"/>
              </a:defRPr>
            </a:pPr>
            <a:r>
              <a:t>Chọn nhu cầu</a:t>
            </a:r>
          </a:p>
          <a:p>
            <a:pPr>
              <a:spcAft>
                <a:spcPts val="700"/>
              </a:spcAft>
              <a:defRPr sz="2000" b="0">
                <a:solidFill>
                  <a:srgbClr val="23384F"/>
                </a:solidFill>
                <a:latin typeface="DejaVu Sans"/>
              </a:defRPr>
            </a:pPr>
            <a:r>
              <a:t>Dữ liệu nhập, trạng thái</a:t>
            </a:r>
          </a:p>
        </p:txBody>
      </p:sp>
      <p:sp>
        <p:nvSpPr>
          <p:cNvPr id="16" name="Rounded Rectangle 15"/>
          <p:cNvSpPr/>
          <p:nvPr/>
        </p:nvSpPr>
        <p:spPr>
          <a:xfrm>
            <a:off x="4462272" y="1819656"/>
            <a:ext cx="3950208" cy="2606040"/>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62272" y="1819656"/>
            <a:ext cx="59436" cy="2606040"/>
          </a:xfrm>
          <a:prstGeom prst="rect">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663440" y="1965960"/>
            <a:ext cx="3566160" cy="530352"/>
          </a:xfrm>
          <a:prstGeom prst="rect">
            <a:avLst/>
          </a:prstGeom>
          <a:noFill/>
        </p:spPr>
        <p:txBody>
          <a:bodyPr wrap="square" lIns="18288" rIns="18288" tIns="18288" bIns="18288">
            <a:spAutoFit/>
          </a:bodyPr>
          <a:lstStyle/>
          <a:p>
            <a:pPr>
              <a:spcAft>
                <a:spcPts val="700"/>
              </a:spcAft>
              <a:defRPr sz="2000" b="1">
                <a:solidFill>
                  <a:srgbClr val="087F83"/>
                </a:solidFill>
                <a:latin typeface="DejaVu Sans"/>
              </a:defRPr>
            </a:pPr>
            <a:r>
              <a:t>42 tổ hợp kiểm thử</a:t>
            </a:r>
          </a:p>
        </p:txBody>
      </p:sp>
      <p:sp>
        <p:nvSpPr>
          <p:cNvPr id="19" name="TextBox 18"/>
          <p:cNvSpPr txBox="1"/>
          <p:nvPr/>
        </p:nvSpPr>
        <p:spPr>
          <a:xfrm>
            <a:off x="4663440" y="2606040"/>
            <a:ext cx="3566160" cy="1719072"/>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2 nhu cầu × 7 khoảng giá</a:t>
            </a:r>
          </a:p>
          <a:p>
            <a:pPr>
              <a:spcAft>
                <a:spcPts val="700"/>
              </a:spcAft>
              <a:defRPr sz="2000" b="0">
                <a:solidFill>
                  <a:srgbClr val="23384F"/>
                </a:solidFill>
                <a:latin typeface="DejaVu Sans"/>
              </a:defRPr>
            </a:pPr>
            <a:r>
              <a:t>× 3 lựa chọn Top</a:t>
            </a:r>
          </a:p>
        </p:txBody>
      </p:sp>
      <p:sp>
        <p:nvSpPr>
          <p:cNvPr id="20" name="Rounded Rectangle 19"/>
          <p:cNvSpPr/>
          <p:nvPr/>
        </p:nvSpPr>
        <p:spPr>
          <a:xfrm>
            <a:off x="8677656" y="1819656"/>
            <a:ext cx="2935224" cy="2606040"/>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06256" y="2139696"/>
            <a:ext cx="2468880" cy="786384"/>
          </a:xfrm>
          <a:prstGeom prst="rect">
            <a:avLst/>
          </a:prstGeom>
          <a:noFill/>
        </p:spPr>
        <p:txBody>
          <a:bodyPr wrap="square" lIns="18288" rIns="18288" tIns="18288" bIns="18288">
            <a:spAutoFit/>
          </a:bodyPr>
          <a:lstStyle/>
          <a:p>
            <a:pPr>
              <a:spcAft>
                <a:spcPts val="700"/>
              </a:spcAft>
              <a:defRPr sz="4700" b="1">
                <a:solidFill>
                  <a:srgbClr val="13765D"/>
                </a:solidFill>
                <a:latin typeface="DejaVu Sans"/>
              </a:defRPr>
            </a:pPr>
            <a:r>
              <a:t>50</a:t>
            </a:r>
          </a:p>
        </p:txBody>
      </p:sp>
      <p:sp>
        <p:nvSpPr>
          <p:cNvPr id="22" name="TextBox 21"/>
          <p:cNvSpPr txBox="1"/>
          <p:nvPr/>
        </p:nvSpPr>
        <p:spPr>
          <a:xfrm>
            <a:off x="8906256" y="3118104"/>
            <a:ext cx="2468880" cy="585216"/>
          </a:xfrm>
          <a:prstGeom prst="rect">
            <a:avLst/>
          </a:prstGeom>
          <a:noFill/>
        </p:spPr>
        <p:txBody>
          <a:bodyPr wrap="square" lIns="18288" rIns="18288" tIns="18288" bIns="18288">
            <a:spAutoFit/>
          </a:bodyPr>
          <a:lstStyle/>
          <a:p>
            <a:pPr>
              <a:spcAft>
                <a:spcPts val="700"/>
              </a:spcAft>
              <a:defRPr sz="1900" b="1">
                <a:solidFill>
                  <a:srgbClr val="13765D"/>
                </a:solidFill>
                <a:latin typeface="DejaVu Sans"/>
              </a:defRPr>
            </a:pPr>
            <a:r>
              <a:t>ca đạt yêu cầu</a:t>
            </a:r>
          </a:p>
        </p:txBody>
      </p:sp>
      <p:sp>
        <p:nvSpPr>
          <p:cNvPr id="23" name="TextBox 22"/>
          <p:cNvSpPr txBox="1"/>
          <p:nvPr/>
        </p:nvSpPr>
        <p:spPr>
          <a:xfrm>
            <a:off x="585216" y="4553712"/>
            <a:ext cx="10972800" cy="621792"/>
          </a:xfrm>
          <a:prstGeom prst="rect">
            <a:avLst/>
          </a:prstGeom>
          <a:noFill/>
        </p:spPr>
        <p:txBody>
          <a:bodyPr wrap="square" lIns="18288" rIns="18288" tIns="18288" bIns="18288">
            <a:spAutoFit/>
          </a:bodyPr>
          <a:lstStyle/>
          <a:p>
            <a:pPr>
              <a:spcAft>
                <a:spcPts val="700"/>
              </a:spcAft>
              <a:defRPr sz="2200" b="1">
                <a:solidFill>
                  <a:srgbClr val="245AD3"/>
                </a:solidFill>
                <a:latin typeface="DejaVu Sans"/>
              </a:defRPr>
            </a:pPr>
            <a:r>
              <a:t>Tự chọn dữ liệu → Gửi yêu cầu → Kiểm tra kết quả trên giao diện</a:t>
            </a:r>
          </a:p>
        </p:txBody>
      </p:sp>
      <p:sp>
        <p:nvSpPr>
          <p:cNvPr id="24" name="TextBox 23"/>
          <p:cNvSpPr txBox="1"/>
          <p:nvPr/>
        </p:nvSpPr>
        <p:spPr>
          <a:xfrm>
            <a:off x="594360" y="5431536"/>
            <a:ext cx="10972800" cy="758952"/>
          </a:xfrm>
          <a:prstGeom prst="rect">
            <a:avLst/>
          </a:prstGeom>
          <a:noFill/>
        </p:spPr>
        <p:txBody>
          <a:bodyPr wrap="square" lIns="18288" rIns="18288" tIns="18288" bIns="18288">
            <a:spAutoFit/>
          </a:bodyPr>
          <a:lstStyle/>
          <a:p>
            <a:pPr>
              <a:spcAft>
                <a:spcPts val="700"/>
              </a:spcAft>
              <a:defRPr sz="1900" b="0">
                <a:solidFill>
                  <a:srgbClr val="23384F"/>
                </a:solidFill>
                <a:latin typeface="DejaVu Sans"/>
              </a:defRPr>
            </a:pPr>
            <a:r>
              <a:t>Tự động hóa một phần kiểm thử thủ công và mở rộng các tổ hợp.</a:t>
            </a:r>
          </a:p>
          <a:p>
            <a:pPr>
              <a:spcAft>
                <a:spcPts val="700"/>
              </a:spcAft>
              <a:defRPr sz="1900" b="0">
                <a:solidFill>
                  <a:srgbClr val="23384F"/>
                </a:solidFill>
                <a:latin typeface="DejaVu Sans"/>
              </a:defRPr>
            </a:pPr>
            <a:r>
              <a:t>Đối chiếu ca liên quan qua cột “Related Manual TC” trong Excel.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4. KẾT QUẢ VÀ KẾT LUẬN</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4.1. Tổng hợp kết quả kiểm thử</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14</a:t>
            </a:r>
          </a:p>
        </p:txBody>
      </p:sp>
      <p:sp>
        <p:nvSpPr>
          <p:cNvPr id="12" name="Rectangle 11"/>
          <p:cNvSpPr/>
          <p:nvPr/>
        </p:nvSpPr>
        <p:spPr>
          <a:xfrm>
            <a:off x="548640" y="1956816"/>
            <a:ext cx="4389120" cy="731520"/>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58368" y="2066544"/>
            <a:ext cx="4187952" cy="594360"/>
          </a:xfrm>
          <a:prstGeom prst="rect">
            <a:avLst/>
          </a:prstGeom>
          <a:noFill/>
        </p:spPr>
        <p:txBody>
          <a:bodyPr wrap="square" lIns="18288" rIns="18288" tIns="18288" bIns="18288">
            <a:spAutoFit/>
          </a:bodyPr>
          <a:lstStyle/>
          <a:p>
            <a:pPr>
              <a:spcAft>
                <a:spcPts val="700"/>
              </a:spcAft>
              <a:defRPr sz="2200" b="1">
                <a:solidFill>
                  <a:srgbClr val="FFFFFF"/>
                </a:solidFill>
                <a:latin typeface="DejaVu Sans"/>
              </a:defRPr>
            </a:pPr>
            <a:r>
              <a:t>Bộ kiểm thử</a:t>
            </a:r>
          </a:p>
        </p:txBody>
      </p:sp>
      <p:sp>
        <p:nvSpPr>
          <p:cNvPr id="14" name="Rectangle 13"/>
          <p:cNvSpPr/>
          <p:nvPr/>
        </p:nvSpPr>
        <p:spPr>
          <a:xfrm>
            <a:off x="4937759" y="1956816"/>
            <a:ext cx="2286000" cy="731520"/>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047488" y="2066544"/>
            <a:ext cx="2084831" cy="594360"/>
          </a:xfrm>
          <a:prstGeom prst="rect">
            <a:avLst/>
          </a:prstGeom>
          <a:noFill/>
        </p:spPr>
        <p:txBody>
          <a:bodyPr wrap="square" lIns="18288" rIns="18288" tIns="18288" bIns="18288">
            <a:spAutoFit/>
          </a:bodyPr>
          <a:lstStyle/>
          <a:p>
            <a:pPr>
              <a:spcAft>
                <a:spcPts val="700"/>
              </a:spcAft>
              <a:defRPr sz="2200" b="1">
                <a:solidFill>
                  <a:srgbClr val="FFFFFF"/>
                </a:solidFill>
                <a:latin typeface="DejaVu Sans"/>
              </a:defRPr>
            </a:pPr>
            <a:r>
              <a:t>Số ca</a:t>
            </a:r>
          </a:p>
        </p:txBody>
      </p:sp>
      <p:sp>
        <p:nvSpPr>
          <p:cNvPr id="16" name="Rectangle 15"/>
          <p:cNvSpPr/>
          <p:nvPr/>
        </p:nvSpPr>
        <p:spPr>
          <a:xfrm>
            <a:off x="7223759" y="1956816"/>
            <a:ext cx="4389120" cy="731520"/>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333488" y="2066544"/>
            <a:ext cx="4187952" cy="594360"/>
          </a:xfrm>
          <a:prstGeom prst="rect">
            <a:avLst/>
          </a:prstGeom>
          <a:noFill/>
        </p:spPr>
        <p:txBody>
          <a:bodyPr wrap="square" lIns="18288" rIns="18288" tIns="18288" bIns="18288">
            <a:spAutoFit/>
          </a:bodyPr>
          <a:lstStyle/>
          <a:p>
            <a:pPr>
              <a:spcAft>
                <a:spcPts val="700"/>
              </a:spcAft>
              <a:defRPr sz="2200" b="1">
                <a:solidFill>
                  <a:srgbClr val="FFFFFF"/>
                </a:solidFill>
                <a:latin typeface="DejaVu Sans"/>
              </a:defRPr>
            </a:pPr>
            <a:r>
              <a:t>Kết quả</a:t>
            </a:r>
          </a:p>
        </p:txBody>
      </p:sp>
      <p:sp>
        <p:nvSpPr>
          <p:cNvPr id="18" name="Rectangle 17"/>
          <p:cNvSpPr/>
          <p:nvPr/>
        </p:nvSpPr>
        <p:spPr>
          <a:xfrm>
            <a:off x="548640" y="2688336"/>
            <a:ext cx="4389120" cy="731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8368" y="2798064"/>
            <a:ext cx="4187952" cy="594360"/>
          </a:xfrm>
          <a:prstGeom prst="rect">
            <a:avLst/>
          </a:prstGeom>
          <a:noFill/>
        </p:spPr>
        <p:txBody>
          <a:bodyPr wrap="square" lIns="18288" rIns="18288" tIns="18288" bIns="18288">
            <a:spAutoFit/>
          </a:bodyPr>
          <a:lstStyle/>
          <a:p>
            <a:pPr>
              <a:spcAft>
                <a:spcPts val="700"/>
              </a:spcAft>
              <a:defRPr sz="2200" b="1">
                <a:solidFill>
                  <a:srgbClr val="23384F"/>
                </a:solidFill>
                <a:latin typeface="DejaVu Sans"/>
              </a:defRPr>
            </a:pPr>
            <a:r>
              <a:t>Giao diện thủ công</a:t>
            </a:r>
          </a:p>
        </p:txBody>
      </p:sp>
      <p:sp>
        <p:nvSpPr>
          <p:cNvPr id="20" name="Rectangle 19"/>
          <p:cNvSpPr/>
          <p:nvPr/>
        </p:nvSpPr>
        <p:spPr>
          <a:xfrm>
            <a:off x="4937759" y="2688336"/>
            <a:ext cx="2286000" cy="731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047488" y="2798064"/>
            <a:ext cx="2084831"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79</a:t>
            </a:r>
          </a:p>
        </p:txBody>
      </p:sp>
      <p:sp>
        <p:nvSpPr>
          <p:cNvPr id="22" name="Rectangle 21"/>
          <p:cNvSpPr/>
          <p:nvPr/>
        </p:nvSpPr>
        <p:spPr>
          <a:xfrm>
            <a:off x="7223759" y="2688336"/>
            <a:ext cx="4389120" cy="731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33488" y="2798064"/>
            <a:ext cx="4187952"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77 đạt · 2 không đạt</a:t>
            </a:r>
          </a:p>
        </p:txBody>
      </p:sp>
      <p:sp>
        <p:nvSpPr>
          <p:cNvPr id="24" name="Rectangle 23"/>
          <p:cNvSpPr/>
          <p:nvPr/>
        </p:nvSpPr>
        <p:spPr>
          <a:xfrm>
            <a:off x="548640" y="3419856"/>
            <a:ext cx="4389120" cy="73152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58368" y="3529584"/>
            <a:ext cx="4187952" cy="594360"/>
          </a:xfrm>
          <a:prstGeom prst="rect">
            <a:avLst/>
          </a:prstGeom>
          <a:noFill/>
        </p:spPr>
        <p:txBody>
          <a:bodyPr wrap="square" lIns="18288" rIns="18288" tIns="18288" bIns="18288">
            <a:spAutoFit/>
          </a:bodyPr>
          <a:lstStyle/>
          <a:p>
            <a:pPr>
              <a:spcAft>
                <a:spcPts val="700"/>
              </a:spcAft>
              <a:defRPr sz="2200" b="1">
                <a:solidFill>
                  <a:srgbClr val="23384F"/>
                </a:solidFill>
                <a:latin typeface="DejaVu Sans"/>
              </a:defRPr>
            </a:pPr>
            <a:r>
              <a:t>Postman thủ công</a:t>
            </a:r>
          </a:p>
        </p:txBody>
      </p:sp>
      <p:sp>
        <p:nvSpPr>
          <p:cNvPr id="26" name="Rectangle 25"/>
          <p:cNvSpPr/>
          <p:nvPr/>
        </p:nvSpPr>
        <p:spPr>
          <a:xfrm>
            <a:off x="4937759" y="3419856"/>
            <a:ext cx="2286000" cy="73152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5047488" y="3529584"/>
            <a:ext cx="2084831"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50</a:t>
            </a:r>
          </a:p>
        </p:txBody>
      </p:sp>
      <p:sp>
        <p:nvSpPr>
          <p:cNvPr id="28" name="Rectangle 27"/>
          <p:cNvSpPr/>
          <p:nvPr/>
        </p:nvSpPr>
        <p:spPr>
          <a:xfrm>
            <a:off x="7223759" y="3419856"/>
            <a:ext cx="4389120" cy="73152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333488" y="3529584"/>
            <a:ext cx="4187952"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50 đạt</a:t>
            </a:r>
          </a:p>
        </p:txBody>
      </p:sp>
      <p:sp>
        <p:nvSpPr>
          <p:cNvPr id="30" name="Rectangle 29"/>
          <p:cNvSpPr/>
          <p:nvPr/>
        </p:nvSpPr>
        <p:spPr>
          <a:xfrm>
            <a:off x="548640" y="4151376"/>
            <a:ext cx="4389120" cy="731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8368" y="4261104"/>
            <a:ext cx="4187952" cy="594360"/>
          </a:xfrm>
          <a:prstGeom prst="rect">
            <a:avLst/>
          </a:prstGeom>
          <a:noFill/>
        </p:spPr>
        <p:txBody>
          <a:bodyPr wrap="square" lIns="18288" rIns="18288" tIns="18288" bIns="18288">
            <a:spAutoFit/>
          </a:bodyPr>
          <a:lstStyle/>
          <a:p>
            <a:pPr>
              <a:spcAft>
                <a:spcPts val="700"/>
              </a:spcAft>
              <a:defRPr sz="2200" b="1">
                <a:solidFill>
                  <a:srgbClr val="23384F"/>
                </a:solidFill>
                <a:latin typeface="DejaVu Sans"/>
              </a:defRPr>
            </a:pPr>
            <a:r>
              <a:t>Postman tự động</a:t>
            </a:r>
          </a:p>
        </p:txBody>
      </p:sp>
      <p:sp>
        <p:nvSpPr>
          <p:cNvPr id="32" name="Rectangle 31"/>
          <p:cNvSpPr/>
          <p:nvPr/>
        </p:nvSpPr>
        <p:spPr>
          <a:xfrm>
            <a:off x="4937759" y="4151376"/>
            <a:ext cx="2286000" cy="731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5047488" y="4261104"/>
            <a:ext cx="2084831"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Cùng bộ 50</a:t>
            </a:r>
          </a:p>
        </p:txBody>
      </p:sp>
      <p:sp>
        <p:nvSpPr>
          <p:cNvPr id="34" name="Rectangle 33"/>
          <p:cNvSpPr/>
          <p:nvPr/>
        </p:nvSpPr>
        <p:spPr>
          <a:xfrm>
            <a:off x="7223759" y="4151376"/>
            <a:ext cx="4389120" cy="731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333488" y="4261104"/>
            <a:ext cx="4187952"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257 phép kiểm tra đạt</a:t>
            </a:r>
          </a:p>
        </p:txBody>
      </p:sp>
      <p:sp>
        <p:nvSpPr>
          <p:cNvPr id="36" name="Rectangle 35"/>
          <p:cNvSpPr/>
          <p:nvPr/>
        </p:nvSpPr>
        <p:spPr>
          <a:xfrm>
            <a:off x="548640" y="4882896"/>
            <a:ext cx="4389120" cy="73152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58368" y="4992624"/>
            <a:ext cx="4187952" cy="594360"/>
          </a:xfrm>
          <a:prstGeom prst="rect">
            <a:avLst/>
          </a:prstGeom>
          <a:noFill/>
        </p:spPr>
        <p:txBody>
          <a:bodyPr wrap="square" lIns="18288" rIns="18288" tIns="18288" bIns="18288">
            <a:spAutoFit/>
          </a:bodyPr>
          <a:lstStyle/>
          <a:p>
            <a:pPr>
              <a:spcAft>
                <a:spcPts val="700"/>
              </a:spcAft>
              <a:defRPr sz="2200" b="1">
                <a:solidFill>
                  <a:srgbClr val="23384F"/>
                </a:solidFill>
                <a:latin typeface="DejaVu Sans"/>
              </a:defRPr>
            </a:pPr>
            <a:r>
              <a:t>Playwright</a:t>
            </a:r>
          </a:p>
        </p:txBody>
      </p:sp>
      <p:sp>
        <p:nvSpPr>
          <p:cNvPr id="38" name="Rectangle 37"/>
          <p:cNvSpPr/>
          <p:nvPr/>
        </p:nvSpPr>
        <p:spPr>
          <a:xfrm>
            <a:off x="4937759" y="4882896"/>
            <a:ext cx="2286000" cy="73152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5047488" y="4992624"/>
            <a:ext cx="2084831"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50</a:t>
            </a:r>
          </a:p>
        </p:txBody>
      </p:sp>
      <p:sp>
        <p:nvSpPr>
          <p:cNvPr id="40" name="Rectangle 39"/>
          <p:cNvSpPr/>
          <p:nvPr/>
        </p:nvSpPr>
        <p:spPr>
          <a:xfrm>
            <a:off x="7223759" y="4882896"/>
            <a:ext cx="4389120" cy="73152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333488" y="4992624"/>
            <a:ext cx="4187952" cy="594360"/>
          </a:xfrm>
          <a:prstGeom prst="rect">
            <a:avLst/>
          </a:prstGeom>
          <a:noFill/>
        </p:spPr>
        <p:txBody>
          <a:bodyPr wrap="square" lIns="18288" rIns="18288" tIns="18288" bIns="18288">
            <a:spAutoFit/>
          </a:bodyPr>
          <a:lstStyle/>
          <a:p>
            <a:pPr>
              <a:spcAft>
                <a:spcPts val="700"/>
              </a:spcAft>
              <a:defRPr sz="2200" b="0">
                <a:solidFill>
                  <a:srgbClr val="23384F"/>
                </a:solidFill>
                <a:latin typeface="DejaVu Sans"/>
              </a:defRPr>
            </a:pPr>
            <a:r>
              <a:t>50 đạt</a:t>
            </a:r>
          </a:p>
        </p:txBody>
      </p:sp>
      <p:sp>
        <p:nvSpPr>
          <p:cNvPr id="42" name="Rounded Rectangle 41"/>
          <p:cNvSpPr/>
          <p:nvPr/>
        </p:nvSpPr>
        <p:spPr>
          <a:xfrm>
            <a:off x="530352" y="5907024"/>
            <a:ext cx="11109960" cy="438912"/>
          </a:xfrm>
          <a:prstGeom prst="roundRect">
            <a:avLst>
              <a:gd name="adj" fmla="val 12000"/>
            </a:avLst>
          </a:prstGeom>
          <a:solidFill>
            <a:srgbClr val="FBEC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694944" y="5957316"/>
            <a:ext cx="10789920" cy="338328"/>
          </a:xfrm>
          <a:prstGeom prst="rect">
            <a:avLst/>
          </a:prstGeom>
          <a:noFill/>
        </p:spPr>
        <p:txBody>
          <a:bodyPr wrap="square" lIns="18288" rIns="18288" tIns="18288" bIns="18288">
            <a:spAutoFit/>
          </a:bodyPr>
          <a:lstStyle/>
          <a:p>
            <a:pPr>
              <a:spcAft>
                <a:spcPts val="700"/>
              </a:spcAft>
              <a:defRPr sz="2000" b="1">
                <a:solidFill>
                  <a:srgbClr val="B33D49"/>
                </a:solidFill>
                <a:latin typeface="DejaVu Sans"/>
              </a:defRPr>
            </a:pPr>
            <a:r>
              <a:t>Hai ca giao diện không đạt vẫn cần được xử lý và kiểm thử lại.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4. KẾT QUẢ VÀ KẾT LUẬN</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4.2. Lỗi ghi nhận và tình trạng kiểm thử lại</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15</a:t>
            </a:r>
          </a:p>
        </p:txBody>
      </p:sp>
      <p:sp>
        <p:nvSpPr>
          <p:cNvPr id="12" name="Rectangle 11"/>
          <p:cNvSpPr/>
          <p:nvPr/>
        </p:nvSpPr>
        <p:spPr>
          <a:xfrm>
            <a:off x="548640" y="1911095"/>
            <a:ext cx="3520440" cy="822960"/>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58368" y="2020824"/>
            <a:ext cx="3319272" cy="685800"/>
          </a:xfrm>
          <a:prstGeom prst="rect">
            <a:avLst/>
          </a:prstGeom>
          <a:noFill/>
        </p:spPr>
        <p:txBody>
          <a:bodyPr wrap="square" lIns="18288" rIns="18288" tIns="18288" bIns="18288">
            <a:spAutoFit/>
          </a:bodyPr>
          <a:lstStyle/>
          <a:p>
            <a:pPr>
              <a:spcAft>
                <a:spcPts val="700"/>
              </a:spcAft>
              <a:defRPr sz="2100" b="1">
                <a:solidFill>
                  <a:srgbClr val="FFFFFF"/>
                </a:solidFill>
                <a:latin typeface="DejaVu Sans"/>
              </a:defRPr>
            </a:pPr>
            <a:r>
              <a:t>Mã ca kiểm thử</a:t>
            </a:r>
          </a:p>
        </p:txBody>
      </p:sp>
      <p:sp>
        <p:nvSpPr>
          <p:cNvPr id="14" name="Rectangle 13"/>
          <p:cNvSpPr/>
          <p:nvPr/>
        </p:nvSpPr>
        <p:spPr>
          <a:xfrm>
            <a:off x="4069080" y="1911095"/>
            <a:ext cx="2441448" cy="822960"/>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178808" y="2020824"/>
            <a:ext cx="2240279" cy="685800"/>
          </a:xfrm>
          <a:prstGeom prst="rect">
            <a:avLst/>
          </a:prstGeom>
          <a:noFill/>
        </p:spPr>
        <p:txBody>
          <a:bodyPr wrap="square" lIns="18288" rIns="18288" tIns="18288" bIns="18288">
            <a:spAutoFit/>
          </a:bodyPr>
          <a:lstStyle/>
          <a:p>
            <a:pPr>
              <a:spcAft>
                <a:spcPts val="700"/>
              </a:spcAft>
              <a:defRPr sz="2100" b="1">
                <a:solidFill>
                  <a:srgbClr val="FFFFFF"/>
                </a:solidFill>
                <a:latin typeface="DejaVu Sans"/>
              </a:defRPr>
            </a:pPr>
            <a:r>
              <a:t>Kết quả</a:t>
            </a:r>
          </a:p>
        </p:txBody>
      </p:sp>
      <p:sp>
        <p:nvSpPr>
          <p:cNvPr id="16" name="Rectangle 15"/>
          <p:cNvSpPr/>
          <p:nvPr/>
        </p:nvSpPr>
        <p:spPr>
          <a:xfrm>
            <a:off x="6510527" y="1911095"/>
            <a:ext cx="5102352" cy="822960"/>
          </a:xfrm>
          <a:prstGeom prst="rect">
            <a:avLst/>
          </a:prstGeom>
          <a:solidFill>
            <a:srgbClr val="142B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620255" y="2020824"/>
            <a:ext cx="4901184" cy="685800"/>
          </a:xfrm>
          <a:prstGeom prst="rect">
            <a:avLst/>
          </a:prstGeom>
          <a:noFill/>
        </p:spPr>
        <p:txBody>
          <a:bodyPr wrap="square" lIns="18288" rIns="18288" tIns="18288" bIns="18288">
            <a:spAutoFit/>
          </a:bodyPr>
          <a:lstStyle/>
          <a:p>
            <a:pPr>
              <a:spcAft>
                <a:spcPts val="700"/>
              </a:spcAft>
              <a:defRPr sz="2100" b="1">
                <a:solidFill>
                  <a:srgbClr val="FFFFFF"/>
                </a:solidFill>
                <a:latin typeface="DejaVu Sans"/>
              </a:defRPr>
            </a:pPr>
            <a:r>
              <a:t>Tình trạng hiện tại</a:t>
            </a:r>
          </a:p>
        </p:txBody>
      </p:sp>
      <p:sp>
        <p:nvSpPr>
          <p:cNvPr id="18" name="Rectangle 17"/>
          <p:cNvSpPr/>
          <p:nvPr/>
        </p:nvSpPr>
        <p:spPr>
          <a:xfrm>
            <a:off x="548640" y="2734056"/>
            <a:ext cx="3520440" cy="8229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8368" y="2843784"/>
            <a:ext cx="3319272" cy="685800"/>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TC-STATE-001</a:t>
            </a:r>
          </a:p>
        </p:txBody>
      </p:sp>
      <p:sp>
        <p:nvSpPr>
          <p:cNvPr id="20" name="Rectangle 19"/>
          <p:cNvSpPr/>
          <p:nvPr/>
        </p:nvSpPr>
        <p:spPr>
          <a:xfrm>
            <a:off x="4069080" y="2734056"/>
            <a:ext cx="2441448" cy="8229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178808" y="2843784"/>
            <a:ext cx="2240279" cy="685800"/>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Không đạt</a:t>
            </a:r>
          </a:p>
        </p:txBody>
      </p:sp>
      <p:sp>
        <p:nvSpPr>
          <p:cNvPr id="22" name="Rectangle 21"/>
          <p:cNvSpPr/>
          <p:nvPr/>
        </p:nvSpPr>
        <p:spPr>
          <a:xfrm>
            <a:off x="6510527" y="2734056"/>
            <a:ext cx="5102352" cy="8229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620255" y="2843784"/>
            <a:ext cx="4901184" cy="685800"/>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Còn mở · chưa kiểm thử lại</a:t>
            </a:r>
          </a:p>
        </p:txBody>
      </p:sp>
      <p:sp>
        <p:nvSpPr>
          <p:cNvPr id="24" name="Rectangle 23"/>
          <p:cNvSpPr/>
          <p:nvPr/>
        </p:nvSpPr>
        <p:spPr>
          <a:xfrm>
            <a:off x="548640" y="3557015"/>
            <a:ext cx="3520440" cy="82296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58368" y="3666744"/>
            <a:ext cx="3319272" cy="685800"/>
          </a:xfrm>
          <a:prstGeom prst="rect">
            <a:avLst/>
          </a:prstGeom>
          <a:noFill/>
        </p:spPr>
        <p:txBody>
          <a:bodyPr wrap="square" lIns="18288" rIns="18288" tIns="18288" bIns="18288">
            <a:spAutoFit/>
          </a:bodyPr>
          <a:lstStyle/>
          <a:p>
            <a:pPr>
              <a:spcAft>
                <a:spcPts val="700"/>
              </a:spcAft>
              <a:defRPr sz="2100" b="1">
                <a:solidFill>
                  <a:srgbClr val="23384F"/>
                </a:solidFill>
                <a:latin typeface="DejaVu Sans"/>
              </a:defRPr>
            </a:pPr>
            <a:r>
              <a:t>TC-UI-006</a:t>
            </a:r>
          </a:p>
        </p:txBody>
      </p:sp>
      <p:sp>
        <p:nvSpPr>
          <p:cNvPr id="26" name="Rectangle 25"/>
          <p:cNvSpPr/>
          <p:nvPr/>
        </p:nvSpPr>
        <p:spPr>
          <a:xfrm>
            <a:off x="4069080" y="3557015"/>
            <a:ext cx="2441448" cy="82296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178808" y="3666744"/>
            <a:ext cx="2240279" cy="685800"/>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Không đạt</a:t>
            </a:r>
          </a:p>
        </p:txBody>
      </p:sp>
      <p:sp>
        <p:nvSpPr>
          <p:cNvPr id="28" name="Rectangle 27"/>
          <p:cNvSpPr/>
          <p:nvPr/>
        </p:nvSpPr>
        <p:spPr>
          <a:xfrm>
            <a:off x="6510527" y="3557015"/>
            <a:ext cx="5102352" cy="822960"/>
          </a:xfrm>
          <a:prstGeom prst="rect">
            <a:avLst/>
          </a:prstGeom>
          <a:solidFill>
            <a:srgbClr val="EAF0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620255" y="3666744"/>
            <a:ext cx="4901184" cy="685800"/>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Còn mở · chưa kiểm thử lại</a:t>
            </a:r>
          </a:p>
        </p:txBody>
      </p:sp>
      <p:sp>
        <p:nvSpPr>
          <p:cNvPr id="30" name="Rounded Rectangle 29"/>
          <p:cNvSpPr/>
          <p:nvPr/>
        </p:nvSpPr>
        <p:spPr>
          <a:xfrm>
            <a:off x="548640" y="475488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67512" y="491032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Lưu thông tin lỗi</a:t>
            </a:r>
          </a:p>
        </p:txBody>
      </p:sp>
      <p:sp>
        <p:nvSpPr>
          <p:cNvPr id="32" name="TextBox 31"/>
          <p:cNvSpPr txBox="1"/>
          <p:nvPr/>
        </p:nvSpPr>
        <p:spPr>
          <a:xfrm>
            <a:off x="3106674" y="4983480"/>
            <a:ext cx="274320" cy="365760"/>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a:t>
            </a:r>
          </a:p>
        </p:txBody>
      </p:sp>
      <p:sp>
        <p:nvSpPr>
          <p:cNvPr id="33" name="Rounded Rectangle 32"/>
          <p:cNvSpPr/>
          <p:nvPr/>
        </p:nvSpPr>
        <p:spPr>
          <a:xfrm>
            <a:off x="3394710" y="475488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3513582" y="491032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Sửa lỗi</a:t>
            </a:r>
          </a:p>
        </p:txBody>
      </p:sp>
      <p:sp>
        <p:nvSpPr>
          <p:cNvPr id="35" name="TextBox 34"/>
          <p:cNvSpPr txBox="1"/>
          <p:nvPr/>
        </p:nvSpPr>
        <p:spPr>
          <a:xfrm>
            <a:off x="5952744" y="4983480"/>
            <a:ext cx="274320" cy="365760"/>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a:t>
            </a:r>
          </a:p>
        </p:txBody>
      </p:sp>
      <p:sp>
        <p:nvSpPr>
          <p:cNvPr id="36" name="Rounded Rectangle 35"/>
          <p:cNvSpPr/>
          <p:nvPr/>
        </p:nvSpPr>
        <p:spPr>
          <a:xfrm>
            <a:off x="6240780" y="475488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359652" y="491032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Chạy lại ca lỗi</a:t>
            </a:r>
          </a:p>
        </p:txBody>
      </p:sp>
      <p:sp>
        <p:nvSpPr>
          <p:cNvPr id="38" name="TextBox 37"/>
          <p:cNvSpPr txBox="1"/>
          <p:nvPr/>
        </p:nvSpPr>
        <p:spPr>
          <a:xfrm>
            <a:off x="8798814" y="4983480"/>
            <a:ext cx="274320" cy="365760"/>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a:t>
            </a:r>
          </a:p>
        </p:txBody>
      </p:sp>
      <p:sp>
        <p:nvSpPr>
          <p:cNvPr id="39" name="Rounded Rectangle 38"/>
          <p:cNvSpPr/>
          <p:nvPr/>
        </p:nvSpPr>
        <p:spPr>
          <a:xfrm>
            <a:off x="9086850" y="475488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9205722" y="491032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Cập nhật kết quả</a:t>
            </a:r>
          </a:p>
        </p:txBody>
      </p:sp>
      <p:sp>
        <p:nvSpPr>
          <p:cNvPr id="41" name="TextBox 40"/>
          <p:cNvSpPr txBox="1"/>
          <p:nvPr/>
        </p:nvSpPr>
        <p:spPr>
          <a:xfrm>
            <a:off x="566928" y="6117336"/>
            <a:ext cx="10972800" cy="246888"/>
          </a:xfrm>
          <a:prstGeom prst="rect">
            <a:avLst/>
          </a:prstGeom>
          <a:noFill/>
        </p:spPr>
        <p:txBody>
          <a:bodyPr wrap="square" lIns="18288" rIns="18288" tIns="18288" bIns="18288">
            <a:spAutoFit/>
          </a:bodyPr>
          <a:lstStyle/>
          <a:p>
            <a:pPr>
              <a:spcAft>
                <a:spcPts val="700"/>
              </a:spcAft>
              <a:defRPr sz="1100" b="0">
                <a:solidFill>
                  <a:srgbClr val="5A6B7E"/>
                </a:solidFill>
                <a:latin typeface="DejaVu Sans"/>
              </a:defRPr>
            </a:pPr>
            <a:r>
              <a:t>Kết quả Playwright đạt không thay thế việc chạy lại đúng ca thủ công bị lỗi.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4. KẾT QUẢ VÀ KẾT LUẬN</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4.3. Hạn chế và hướng phát triển</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16</a:t>
            </a:r>
          </a:p>
        </p:txBody>
      </p:sp>
      <p:sp>
        <p:nvSpPr>
          <p:cNvPr id="12" name="Rounded Rectangle 11"/>
          <p:cNvSpPr/>
          <p:nvPr/>
        </p:nvSpPr>
        <p:spPr>
          <a:xfrm>
            <a:off x="548640" y="1856231"/>
            <a:ext cx="5422392" cy="3557016"/>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48640" y="1856231"/>
            <a:ext cx="59436" cy="3557016"/>
          </a:xfrm>
          <a:prstGeom prst="rect">
            <a:avLst/>
          </a:prstGeom>
          <a:solidFill>
            <a:srgbClr val="9B63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49808" y="2002536"/>
            <a:ext cx="5038344" cy="530352"/>
          </a:xfrm>
          <a:prstGeom prst="rect">
            <a:avLst/>
          </a:prstGeom>
          <a:noFill/>
        </p:spPr>
        <p:txBody>
          <a:bodyPr wrap="square" lIns="18288" rIns="18288" tIns="18288" bIns="18288">
            <a:spAutoFit/>
          </a:bodyPr>
          <a:lstStyle/>
          <a:p>
            <a:pPr>
              <a:spcAft>
                <a:spcPts val="700"/>
              </a:spcAft>
              <a:defRPr sz="2000" b="1">
                <a:solidFill>
                  <a:srgbClr val="9B6300"/>
                </a:solidFill>
                <a:latin typeface="DejaVu Sans"/>
              </a:defRPr>
            </a:pPr>
            <a:r>
              <a:t>Hạn chế</a:t>
            </a:r>
          </a:p>
        </p:txBody>
      </p:sp>
      <p:sp>
        <p:nvSpPr>
          <p:cNvPr id="15" name="TextBox 14"/>
          <p:cNvSpPr txBox="1"/>
          <p:nvPr/>
        </p:nvSpPr>
        <p:spPr>
          <a:xfrm>
            <a:off x="749808" y="2642615"/>
            <a:ext cx="5038344" cy="2670048"/>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Kết quả phụ thuộc dữ liệu đang dùng</a:t>
            </a:r>
          </a:p>
          <a:p>
            <a:pPr>
              <a:spcAft>
                <a:spcPts val="700"/>
              </a:spcAft>
              <a:defRPr sz="2000" b="0">
                <a:solidFill>
                  <a:srgbClr val="23384F"/>
                </a:solidFill>
                <a:latin typeface="DejaVu Sans"/>
              </a:defRPr>
            </a:pPr>
            <a:r>
              <a:t>Phạm vi chủ yếu là chức năng</a:t>
            </a:r>
          </a:p>
          <a:p>
            <a:pPr>
              <a:spcAft>
                <a:spcPts val="700"/>
              </a:spcAft>
              <a:defRPr sz="2000" b="0">
                <a:solidFill>
                  <a:srgbClr val="23384F"/>
                </a:solidFill>
                <a:latin typeface="DejaVu Sans"/>
              </a:defRPr>
            </a:pPr>
            <a:r>
              <a:t>Chưa có kiểm thử tải và bảo mật sâu</a:t>
            </a:r>
          </a:p>
          <a:p>
            <a:pPr>
              <a:spcAft>
                <a:spcPts val="700"/>
              </a:spcAft>
              <a:defRPr sz="2000" b="0">
                <a:solidFill>
                  <a:srgbClr val="23384F"/>
                </a:solidFill>
                <a:latin typeface="DejaVu Sans"/>
              </a:defRPr>
            </a:pPr>
            <a:r>
              <a:t>Hai ca lỗi chưa được kiểm thử lại</a:t>
            </a:r>
          </a:p>
        </p:txBody>
      </p:sp>
      <p:sp>
        <p:nvSpPr>
          <p:cNvPr id="16" name="Rounded Rectangle 15"/>
          <p:cNvSpPr/>
          <p:nvPr/>
        </p:nvSpPr>
        <p:spPr>
          <a:xfrm>
            <a:off x="6217920" y="1856231"/>
            <a:ext cx="5422392" cy="3557016"/>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6217920" y="1856231"/>
            <a:ext cx="59436" cy="3557016"/>
          </a:xfrm>
          <a:prstGeom prst="rect">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419088" y="2002536"/>
            <a:ext cx="5038344" cy="530352"/>
          </a:xfrm>
          <a:prstGeom prst="rect">
            <a:avLst/>
          </a:prstGeom>
          <a:noFill/>
        </p:spPr>
        <p:txBody>
          <a:bodyPr wrap="square" lIns="18288" rIns="18288" tIns="18288" bIns="18288">
            <a:spAutoFit/>
          </a:bodyPr>
          <a:lstStyle/>
          <a:p>
            <a:pPr>
              <a:spcAft>
                <a:spcPts val="700"/>
              </a:spcAft>
              <a:defRPr sz="2000" b="1">
                <a:solidFill>
                  <a:srgbClr val="087F83"/>
                </a:solidFill>
                <a:latin typeface="DejaVu Sans"/>
              </a:defRPr>
            </a:pPr>
            <a:r>
              <a:t>Hướng phát triển</a:t>
            </a:r>
          </a:p>
        </p:txBody>
      </p:sp>
      <p:sp>
        <p:nvSpPr>
          <p:cNvPr id="19" name="TextBox 18"/>
          <p:cNvSpPr txBox="1"/>
          <p:nvPr/>
        </p:nvSpPr>
        <p:spPr>
          <a:xfrm>
            <a:off x="6419088" y="2642615"/>
            <a:ext cx="5038344" cy="2670048"/>
          </a:xfrm>
          <a:prstGeom prst="rect">
            <a:avLst/>
          </a:prstGeom>
          <a:noFill/>
        </p:spPr>
        <p:txBody>
          <a:bodyPr wrap="square" lIns="18288" rIns="18288" tIns="18288" bIns="18288">
            <a:spAutoFit/>
          </a:bodyPr>
          <a:lstStyle/>
          <a:p>
            <a:pPr>
              <a:spcAft>
                <a:spcPts val="700"/>
              </a:spcAft>
              <a:defRPr sz="2000" b="0">
                <a:solidFill>
                  <a:srgbClr val="23384F"/>
                </a:solidFill>
                <a:latin typeface="DejaVu Sans"/>
              </a:defRPr>
            </a:pPr>
            <a:r>
              <a:t>Xử lý và kiểm thử lại hai ca lỗi</a:t>
            </a:r>
          </a:p>
          <a:p>
            <a:pPr>
              <a:spcAft>
                <a:spcPts val="700"/>
              </a:spcAft>
              <a:defRPr sz="2000" b="0">
                <a:solidFill>
                  <a:srgbClr val="23384F"/>
                </a:solidFill>
                <a:latin typeface="DejaVu Sans"/>
              </a:defRPr>
            </a:pPr>
            <a:r>
              <a:t>Bổ sung tình huống đặc biệt</a:t>
            </a:r>
          </a:p>
          <a:p>
            <a:pPr>
              <a:spcAft>
                <a:spcPts val="700"/>
              </a:spcAft>
              <a:defRPr sz="2000" b="0">
                <a:solidFill>
                  <a:srgbClr val="23384F"/>
                </a:solidFill>
                <a:latin typeface="DejaVu Sans"/>
              </a:defRPr>
            </a:pPr>
            <a:r>
              <a:t>Mở rộng trình duyệt, kích thước màn hình</a:t>
            </a:r>
          </a:p>
          <a:p>
            <a:pPr>
              <a:spcAft>
                <a:spcPts val="700"/>
              </a:spcAft>
              <a:defRPr sz="2000" b="0">
                <a:solidFill>
                  <a:srgbClr val="23384F"/>
                </a:solidFill>
                <a:latin typeface="DejaVu Sans"/>
              </a:defRPr>
            </a:pPr>
            <a:r>
              <a:t>Chạy lại bộ test khi hệ thống thay đổi</a:t>
            </a:r>
          </a:p>
        </p:txBody>
      </p:sp>
      <p:sp>
        <p:nvSpPr>
          <p:cNvPr id="20" name="TextBox 19"/>
          <p:cNvSpPr txBox="1"/>
          <p:nvPr/>
        </p:nvSpPr>
        <p:spPr>
          <a:xfrm>
            <a:off x="566928" y="6117336"/>
            <a:ext cx="10972800" cy="246888"/>
          </a:xfrm>
          <a:prstGeom prst="rect">
            <a:avLst/>
          </a:prstGeom>
          <a:noFill/>
        </p:spPr>
        <p:txBody>
          <a:bodyPr wrap="square" lIns="18288" rIns="18288" tIns="18288" bIns="18288">
            <a:spAutoFit/>
          </a:bodyPr>
          <a:lstStyle/>
          <a:p>
            <a:pPr>
              <a:spcAft>
                <a:spcPts val="700"/>
              </a:spcAft>
              <a:defRPr sz="1100" b="0">
                <a:solidFill>
                  <a:srgbClr val="5A6B7E"/>
                </a:solidFill>
                <a:latin typeface="DejaVu Sans"/>
              </a:defRPr>
            </a:pPr>
            <a:r>
              <a:t>Kết quả API và giao diện không chứng minh độ chính xác dự đoán hiệu năng của mô hình.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585216"/>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02920" y="146304"/>
            <a:ext cx="11155680" cy="301752"/>
          </a:xfrm>
          <a:prstGeom prst="rect">
            <a:avLst/>
          </a:prstGeom>
          <a:noFill/>
        </p:spPr>
        <p:txBody>
          <a:bodyPr wrap="square" lIns="18288" rIns="18288" tIns="18288" bIns="18288">
            <a:spAutoFit/>
          </a:bodyPr>
          <a:lstStyle/>
          <a:p>
            <a:pPr>
              <a:spcAft>
                <a:spcPts val="700"/>
              </a:spcAft>
              <a:defRPr sz="1600" b="1">
                <a:solidFill>
                  <a:srgbClr val="FFFFFF"/>
                </a:solidFill>
                <a:latin typeface="DejaVu Sans"/>
              </a:defRPr>
            </a:pPr>
            <a:r>
              <a:t>CHƯƠNG 4. KẾT QUẢ VÀ KẾT LUẬN</a:t>
            </a:r>
          </a:p>
        </p:txBody>
      </p:sp>
      <p:sp>
        <p:nvSpPr>
          <p:cNvPr id="4" name="TextBox 3"/>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4.4. Kết luận</a:t>
            </a:r>
          </a:p>
        </p:txBody>
      </p:sp>
      <p:sp>
        <p:nvSpPr>
          <p:cNvPr id="5" name="Rectangle 4"/>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7" name="Rectangle 6"/>
          <p:cNvSpPr/>
          <p:nvPr/>
        </p:nvSpPr>
        <p:spPr>
          <a:xfrm>
            <a:off x="8001000"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650224"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9299448" y="6537960"/>
            <a:ext cx="466344" cy="64008"/>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948672" y="6537960"/>
            <a:ext cx="466344" cy="64008"/>
          </a:xfrm>
          <a:prstGeom prst="rect">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17</a:t>
            </a:r>
          </a:p>
        </p:txBody>
      </p:sp>
      <p:sp>
        <p:nvSpPr>
          <p:cNvPr id="12" name="Rounded Rectangle 11"/>
          <p:cNvSpPr/>
          <p:nvPr/>
        </p:nvSpPr>
        <p:spPr>
          <a:xfrm>
            <a:off x="557784" y="1837943"/>
            <a:ext cx="621792" cy="630936"/>
          </a:xfrm>
          <a:prstGeom prst="roundRect">
            <a:avLst>
              <a:gd name="adj" fmla="val 12000"/>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94944" y="1956815"/>
            <a:ext cx="356616" cy="365760"/>
          </a:xfrm>
          <a:prstGeom prst="rect">
            <a:avLst/>
          </a:prstGeom>
          <a:noFill/>
        </p:spPr>
        <p:txBody>
          <a:bodyPr wrap="square" lIns="18288" rIns="18288" tIns="18288" bIns="18288">
            <a:spAutoFit/>
          </a:bodyPr>
          <a:lstStyle/>
          <a:p>
            <a:pPr algn="ctr">
              <a:spcAft>
                <a:spcPts val="700"/>
              </a:spcAft>
              <a:defRPr sz="2300" b="1">
                <a:solidFill>
                  <a:srgbClr val="FFFFFF"/>
                </a:solidFill>
                <a:latin typeface="DejaVu Sans"/>
              </a:defRPr>
            </a:pPr>
            <a:r>
              <a:t>1</a:t>
            </a:r>
          </a:p>
        </p:txBody>
      </p:sp>
      <p:sp>
        <p:nvSpPr>
          <p:cNvPr id="14" name="TextBox 13"/>
          <p:cNvSpPr txBox="1"/>
          <p:nvPr/>
        </p:nvSpPr>
        <p:spPr>
          <a:xfrm>
            <a:off x="1481328" y="1837943"/>
            <a:ext cx="10058400" cy="466344"/>
          </a:xfrm>
          <a:prstGeom prst="rect">
            <a:avLst/>
          </a:prstGeom>
          <a:noFill/>
        </p:spPr>
        <p:txBody>
          <a:bodyPr wrap="square" lIns="18288" rIns="18288" tIns="18288" bIns="18288">
            <a:spAutoFit/>
          </a:bodyPr>
          <a:lstStyle/>
          <a:p>
            <a:pPr>
              <a:spcAft>
                <a:spcPts val="700"/>
              </a:spcAft>
              <a:defRPr sz="2500" b="1">
                <a:solidFill>
                  <a:srgbClr val="142B49"/>
                </a:solidFill>
                <a:latin typeface="DejaVu Sans"/>
              </a:defRPr>
            </a:pPr>
            <a:r>
              <a:t>Vận dụng kiến thức kiểm thử</a:t>
            </a:r>
          </a:p>
        </p:txBody>
      </p:sp>
      <p:sp>
        <p:nvSpPr>
          <p:cNvPr id="15" name="TextBox 14"/>
          <p:cNvSpPr txBox="1"/>
          <p:nvPr/>
        </p:nvSpPr>
        <p:spPr>
          <a:xfrm>
            <a:off x="1481328" y="2395727"/>
            <a:ext cx="10058400" cy="49377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Thiết kế ca từ yêu cầu, chọn dữ liệu và đối chiếu kết quả.</a:t>
            </a:r>
          </a:p>
        </p:txBody>
      </p:sp>
      <p:sp>
        <p:nvSpPr>
          <p:cNvPr id="16" name="Rounded Rectangle 15"/>
          <p:cNvSpPr/>
          <p:nvPr/>
        </p:nvSpPr>
        <p:spPr>
          <a:xfrm>
            <a:off x="557784" y="2926079"/>
            <a:ext cx="621792" cy="630936"/>
          </a:xfrm>
          <a:prstGeom prst="roundRect">
            <a:avLst>
              <a:gd name="adj" fmla="val 12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94944" y="3044951"/>
            <a:ext cx="356616" cy="365760"/>
          </a:xfrm>
          <a:prstGeom prst="rect">
            <a:avLst/>
          </a:prstGeom>
          <a:noFill/>
        </p:spPr>
        <p:txBody>
          <a:bodyPr wrap="square" lIns="18288" rIns="18288" tIns="18288" bIns="18288">
            <a:spAutoFit/>
          </a:bodyPr>
          <a:lstStyle/>
          <a:p>
            <a:pPr algn="ctr">
              <a:spcAft>
                <a:spcPts val="700"/>
              </a:spcAft>
              <a:defRPr sz="2300" b="1">
                <a:solidFill>
                  <a:srgbClr val="FFFFFF"/>
                </a:solidFill>
                <a:latin typeface="DejaVu Sans"/>
              </a:defRPr>
            </a:pPr>
            <a:r>
              <a:t>2</a:t>
            </a:r>
          </a:p>
        </p:txBody>
      </p:sp>
      <p:sp>
        <p:nvSpPr>
          <p:cNvPr id="18" name="TextBox 17"/>
          <p:cNvSpPr txBox="1"/>
          <p:nvPr/>
        </p:nvSpPr>
        <p:spPr>
          <a:xfrm>
            <a:off x="1481328" y="2926079"/>
            <a:ext cx="10058400" cy="466344"/>
          </a:xfrm>
          <a:prstGeom prst="rect">
            <a:avLst/>
          </a:prstGeom>
          <a:noFill/>
        </p:spPr>
        <p:txBody>
          <a:bodyPr wrap="square" lIns="18288" rIns="18288" tIns="18288" bIns="18288">
            <a:spAutoFit/>
          </a:bodyPr>
          <a:lstStyle/>
          <a:p>
            <a:pPr>
              <a:spcAft>
                <a:spcPts val="700"/>
              </a:spcAft>
              <a:defRPr sz="2500" b="1">
                <a:solidFill>
                  <a:srgbClr val="142B49"/>
                </a:solidFill>
                <a:latin typeface="DejaVu Sans"/>
              </a:defRPr>
            </a:pPr>
            <a:r>
              <a:t>Kết hợp thủ công và tự động</a:t>
            </a:r>
          </a:p>
        </p:txBody>
      </p:sp>
      <p:sp>
        <p:nvSpPr>
          <p:cNvPr id="19" name="TextBox 18"/>
          <p:cNvSpPr txBox="1"/>
          <p:nvPr/>
        </p:nvSpPr>
        <p:spPr>
          <a:xfrm>
            <a:off x="1481328" y="3483863"/>
            <a:ext cx="10058400" cy="49377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Quan sát trực tiếp kết hợp kiểm tra lặp lại bằng công cụ.</a:t>
            </a:r>
          </a:p>
        </p:txBody>
      </p:sp>
      <p:sp>
        <p:nvSpPr>
          <p:cNvPr id="20" name="Rounded Rectangle 19"/>
          <p:cNvSpPr/>
          <p:nvPr/>
        </p:nvSpPr>
        <p:spPr>
          <a:xfrm>
            <a:off x="557784" y="4014215"/>
            <a:ext cx="621792" cy="630936"/>
          </a:xfrm>
          <a:prstGeom prst="roundRect">
            <a:avLst>
              <a:gd name="adj" fmla="val 12000"/>
            </a:avLst>
          </a:prstGeom>
          <a:solidFill>
            <a:srgbClr val="245AD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94944" y="4133087"/>
            <a:ext cx="356616" cy="365760"/>
          </a:xfrm>
          <a:prstGeom prst="rect">
            <a:avLst/>
          </a:prstGeom>
          <a:noFill/>
        </p:spPr>
        <p:txBody>
          <a:bodyPr wrap="square" lIns="18288" rIns="18288" tIns="18288" bIns="18288">
            <a:spAutoFit/>
          </a:bodyPr>
          <a:lstStyle/>
          <a:p>
            <a:pPr algn="ctr">
              <a:spcAft>
                <a:spcPts val="700"/>
              </a:spcAft>
              <a:defRPr sz="2300" b="1">
                <a:solidFill>
                  <a:srgbClr val="FFFFFF"/>
                </a:solidFill>
                <a:latin typeface="DejaVu Sans"/>
              </a:defRPr>
            </a:pPr>
            <a:r>
              <a:t>3</a:t>
            </a:r>
          </a:p>
        </p:txBody>
      </p:sp>
      <p:sp>
        <p:nvSpPr>
          <p:cNvPr id="22" name="TextBox 21"/>
          <p:cNvSpPr txBox="1"/>
          <p:nvPr/>
        </p:nvSpPr>
        <p:spPr>
          <a:xfrm>
            <a:off x="1481328" y="4014215"/>
            <a:ext cx="10058400" cy="466344"/>
          </a:xfrm>
          <a:prstGeom prst="rect">
            <a:avLst/>
          </a:prstGeom>
          <a:noFill/>
        </p:spPr>
        <p:txBody>
          <a:bodyPr wrap="square" lIns="18288" rIns="18288" tIns="18288" bIns="18288">
            <a:spAutoFit/>
          </a:bodyPr>
          <a:lstStyle/>
          <a:p>
            <a:pPr>
              <a:spcAft>
                <a:spcPts val="700"/>
              </a:spcAft>
              <a:defRPr sz="2500" b="1">
                <a:solidFill>
                  <a:srgbClr val="142B49"/>
                </a:solidFill>
                <a:latin typeface="DejaVu Sans"/>
              </a:defRPr>
            </a:pPr>
            <a:r>
              <a:t>Đánh giá theo bằng chứng</a:t>
            </a:r>
          </a:p>
        </p:txBody>
      </p:sp>
      <p:sp>
        <p:nvSpPr>
          <p:cNvPr id="23" name="TextBox 22"/>
          <p:cNvSpPr txBox="1"/>
          <p:nvPr/>
        </p:nvSpPr>
        <p:spPr>
          <a:xfrm>
            <a:off x="1481328" y="4572000"/>
            <a:ext cx="10058400" cy="493776"/>
          </a:xfrm>
          <a:prstGeom prst="rect">
            <a:avLst/>
          </a:prstGeom>
          <a:noFill/>
        </p:spPr>
        <p:txBody>
          <a:bodyPr wrap="square" lIns="18288" rIns="18288" tIns="18288" bIns="18288">
            <a:spAutoFit/>
          </a:bodyPr>
          <a:lstStyle/>
          <a:p>
            <a:pPr>
              <a:spcAft>
                <a:spcPts val="700"/>
              </a:spcAft>
              <a:defRPr sz="2100" b="0">
                <a:solidFill>
                  <a:srgbClr val="23384F"/>
                </a:solidFill>
                <a:latin typeface="DejaVu Sans"/>
              </a:defRPr>
            </a:pPr>
            <a:r>
              <a:t>Ghi nhận rõ phần đạt, phần lỗi và việc còn phải làm.</a:t>
            </a:r>
          </a:p>
        </p:txBody>
      </p:sp>
      <p:sp>
        <p:nvSpPr>
          <p:cNvPr id="24" name="Rounded Rectangle 23"/>
          <p:cNvSpPr/>
          <p:nvPr/>
        </p:nvSpPr>
        <p:spPr>
          <a:xfrm>
            <a:off x="530352" y="5742432"/>
            <a:ext cx="11109960" cy="438912"/>
          </a:xfrm>
          <a:prstGeom prst="roundRect">
            <a:avLst>
              <a:gd name="adj" fmla="val 12000"/>
            </a:avLst>
          </a:prstGeom>
          <a:solidFill>
            <a:srgbClr val="E3F3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94944" y="5792724"/>
            <a:ext cx="10789920" cy="338328"/>
          </a:xfrm>
          <a:prstGeom prst="rect">
            <a:avLst/>
          </a:prstGeom>
          <a:noFill/>
        </p:spPr>
        <p:txBody>
          <a:bodyPr wrap="square" lIns="18288" rIns="18288" tIns="18288" bIns="18288">
            <a:spAutoFit/>
          </a:bodyPr>
          <a:lstStyle/>
          <a:p>
            <a:pPr>
              <a:spcAft>
                <a:spcPts val="700"/>
              </a:spcAft>
              <a:defRPr sz="1900" b="1">
                <a:solidFill>
                  <a:srgbClr val="087F83"/>
                </a:solidFill>
                <a:latin typeface="DejaVu Sans"/>
              </a:defRPr>
            </a:pPr>
            <a:r>
              <a:t>Kiểm thử giúp phát hiện lỗi; kết quả đạt không bảo đảm hệ thống hết lỗi.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21207" y="246888"/>
            <a:ext cx="10972800" cy="283464"/>
          </a:xfrm>
          <a:prstGeom prst="rect">
            <a:avLst/>
          </a:prstGeom>
          <a:noFill/>
        </p:spPr>
        <p:txBody>
          <a:bodyPr wrap="square" lIns="18288" rIns="18288" tIns="18288" bIns="18288">
            <a:spAutoFit/>
          </a:bodyPr>
          <a:lstStyle/>
          <a:p>
            <a:pPr>
              <a:spcAft>
                <a:spcPts val="700"/>
              </a:spcAft>
              <a:defRPr sz="1200" b="1">
                <a:solidFill>
                  <a:srgbClr val="087F83"/>
                </a:solidFill>
                <a:latin typeface="DejaVu Sans"/>
              </a:defRPr>
            </a:pPr>
            <a:r>
              <a:t>KIỂM THỬ VÀ ĐẢM BẢO CHẤT LƯỢNG PHẦN MỀM</a:t>
            </a:r>
          </a:p>
        </p:txBody>
      </p:sp>
      <p:sp>
        <p:nvSpPr>
          <p:cNvPr id="3" name="TextBox 2"/>
          <p:cNvSpPr txBox="1"/>
          <p:nvPr/>
        </p:nvSpPr>
        <p:spPr>
          <a:xfrm>
            <a:off x="521207" y="859536"/>
            <a:ext cx="11109960" cy="722376"/>
          </a:xfrm>
          <a:prstGeom prst="rect">
            <a:avLst/>
          </a:prstGeom>
          <a:noFill/>
        </p:spPr>
        <p:txBody>
          <a:bodyPr wrap="square" lIns="18288" rIns="18288" tIns="18288" bIns="18288">
            <a:spAutoFit/>
          </a:bodyPr>
          <a:lstStyle/>
          <a:p>
            <a:pPr>
              <a:spcAft>
                <a:spcPts val="700"/>
              </a:spcAft>
              <a:defRPr sz="3000" b="1">
                <a:solidFill>
                  <a:srgbClr val="142B49"/>
                </a:solidFill>
                <a:latin typeface="DejaVu Sans"/>
              </a:defRPr>
            </a:pPr>
            <a:r>
              <a:t>DEMO VÀ HỎI ĐÁP</a:t>
            </a:r>
          </a:p>
        </p:txBody>
      </p:sp>
      <p:sp>
        <p:nvSpPr>
          <p:cNvPr id="4" name="Rectangle 3"/>
          <p:cNvSpPr/>
          <p:nvPr/>
        </p:nvSpPr>
        <p:spPr>
          <a:xfrm>
            <a:off x="530352" y="6419088"/>
            <a:ext cx="11064240" cy="7315"/>
          </a:xfrm>
          <a:prstGeom prst="rect">
            <a:avLst/>
          </a:prstGeom>
          <a:solidFill>
            <a:srgbClr val="DBE3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30352" y="6510528"/>
            <a:ext cx="4572000" cy="192024"/>
          </a:xfrm>
          <a:prstGeom prst="rect">
            <a:avLst/>
          </a:prstGeom>
          <a:noFill/>
        </p:spPr>
        <p:txBody>
          <a:bodyPr wrap="square" lIns="18288" rIns="18288" tIns="18288" bIns="18288">
            <a:spAutoFit/>
          </a:bodyPr>
          <a:lstStyle/>
          <a:p>
            <a:pPr>
              <a:spcAft>
                <a:spcPts val="700"/>
              </a:spcAft>
              <a:defRPr sz="1000" b="0">
                <a:solidFill>
                  <a:srgbClr val="5A6B7E"/>
                </a:solidFill>
                <a:latin typeface="DejaVu Sans"/>
              </a:defRPr>
            </a:pPr>
            <a:r>
              <a:t>NHÓM 11 · LỚP 23CN2</a:t>
            </a:r>
          </a:p>
        </p:txBody>
      </p:sp>
      <p:sp>
        <p:nvSpPr>
          <p:cNvPr id="6" name="TextBox 5"/>
          <p:cNvSpPr txBox="1"/>
          <p:nvPr/>
        </p:nvSpPr>
        <p:spPr>
          <a:xfrm>
            <a:off x="11064240" y="6473952"/>
            <a:ext cx="530352" cy="256032"/>
          </a:xfrm>
          <a:prstGeom prst="rect">
            <a:avLst/>
          </a:prstGeom>
          <a:noFill/>
        </p:spPr>
        <p:txBody>
          <a:bodyPr wrap="square" lIns="18288" rIns="18288" tIns="18288" bIns="18288">
            <a:spAutoFit/>
          </a:bodyPr>
          <a:lstStyle/>
          <a:p>
            <a:pPr algn="r">
              <a:spcAft>
                <a:spcPts val="700"/>
              </a:spcAft>
              <a:defRPr sz="1200" b="1">
                <a:solidFill>
                  <a:srgbClr val="245AD3"/>
                </a:solidFill>
                <a:latin typeface="DejaVu Sans"/>
              </a:defRPr>
            </a:pPr>
            <a:r>
              <a:t>18</a:t>
            </a:r>
          </a:p>
        </p:txBody>
      </p:sp>
      <p:sp>
        <p:nvSpPr>
          <p:cNvPr id="7" name="TextBox 6"/>
          <p:cNvSpPr txBox="1"/>
          <p:nvPr/>
        </p:nvSpPr>
        <p:spPr>
          <a:xfrm>
            <a:off x="585216" y="1892807"/>
            <a:ext cx="10972800" cy="640080"/>
          </a:xfrm>
          <a:prstGeom prst="rect">
            <a:avLst/>
          </a:prstGeom>
          <a:noFill/>
        </p:spPr>
        <p:txBody>
          <a:bodyPr wrap="square" lIns="18288" rIns="18288" tIns="18288" bIns="18288">
            <a:spAutoFit/>
          </a:bodyPr>
          <a:lstStyle/>
          <a:p>
            <a:pPr>
              <a:spcAft>
                <a:spcPts val="700"/>
              </a:spcAft>
              <a:defRPr sz="3000" b="1">
                <a:solidFill>
                  <a:srgbClr val="245AD3"/>
                </a:solidFill>
                <a:latin typeface="DejaVu Sans"/>
              </a:defRPr>
            </a:pPr>
            <a:r>
              <a:t>Minh họa PM-029 trên Postman</a:t>
            </a:r>
          </a:p>
        </p:txBody>
      </p:sp>
      <p:sp>
        <p:nvSpPr>
          <p:cNvPr id="8" name="Rounded Rectangle 7"/>
          <p:cNvSpPr/>
          <p:nvPr/>
        </p:nvSpPr>
        <p:spPr>
          <a:xfrm>
            <a:off x="548640" y="306324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67512" y="321868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Gửi yêu cầu</a:t>
            </a:r>
          </a:p>
        </p:txBody>
      </p:sp>
      <p:sp>
        <p:nvSpPr>
          <p:cNvPr id="10" name="TextBox 9"/>
          <p:cNvSpPr txBox="1"/>
          <p:nvPr/>
        </p:nvSpPr>
        <p:spPr>
          <a:xfrm>
            <a:off x="3106674" y="3291840"/>
            <a:ext cx="274320" cy="365760"/>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a:t>
            </a:r>
          </a:p>
        </p:txBody>
      </p:sp>
      <p:sp>
        <p:nvSpPr>
          <p:cNvPr id="11" name="Rounded Rectangle 10"/>
          <p:cNvSpPr/>
          <p:nvPr/>
        </p:nvSpPr>
        <p:spPr>
          <a:xfrm>
            <a:off x="3394710" y="306324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513582" y="321868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Xem giá máy</a:t>
            </a:r>
          </a:p>
        </p:txBody>
      </p:sp>
      <p:sp>
        <p:nvSpPr>
          <p:cNvPr id="13" name="TextBox 12"/>
          <p:cNvSpPr txBox="1"/>
          <p:nvPr/>
        </p:nvSpPr>
        <p:spPr>
          <a:xfrm>
            <a:off x="5952744" y="3291840"/>
            <a:ext cx="274320" cy="365760"/>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a:t>
            </a:r>
          </a:p>
        </p:txBody>
      </p:sp>
      <p:sp>
        <p:nvSpPr>
          <p:cNvPr id="14" name="Rounded Rectangle 13"/>
          <p:cNvSpPr/>
          <p:nvPr/>
        </p:nvSpPr>
        <p:spPr>
          <a:xfrm>
            <a:off x="6240780" y="306324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359652" y="321868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Tính tiền còn lại</a:t>
            </a:r>
          </a:p>
        </p:txBody>
      </p:sp>
      <p:sp>
        <p:nvSpPr>
          <p:cNvPr id="16" name="TextBox 15"/>
          <p:cNvSpPr txBox="1"/>
          <p:nvPr/>
        </p:nvSpPr>
        <p:spPr>
          <a:xfrm>
            <a:off x="8798814" y="3291840"/>
            <a:ext cx="274320" cy="365760"/>
          </a:xfrm>
          <a:prstGeom prst="rect">
            <a:avLst/>
          </a:prstGeom>
          <a:noFill/>
        </p:spPr>
        <p:txBody>
          <a:bodyPr wrap="square" lIns="18288" rIns="18288" tIns="18288" bIns="18288">
            <a:spAutoFit/>
          </a:bodyPr>
          <a:lstStyle/>
          <a:p>
            <a:pPr>
              <a:spcAft>
                <a:spcPts val="700"/>
              </a:spcAft>
              <a:defRPr sz="2200" b="1">
                <a:solidFill>
                  <a:srgbClr val="087F83"/>
                </a:solidFill>
                <a:latin typeface="DejaVu Sans"/>
              </a:defRPr>
            </a:pPr>
            <a:r>
              <a:t>→</a:t>
            </a:r>
          </a:p>
        </p:txBody>
      </p:sp>
      <p:sp>
        <p:nvSpPr>
          <p:cNvPr id="17" name="Rounded Rectangle 16"/>
          <p:cNvSpPr/>
          <p:nvPr/>
        </p:nvSpPr>
        <p:spPr>
          <a:xfrm>
            <a:off x="9086850" y="3063240"/>
            <a:ext cx="2526030" cy="804672"/>
          </a:xfrm>
          <a:prstGeom prst="roundRect">
            <a:avLst>
              <a:gd name="adj" fmla="val 12000"/>
            </a:avLst>
          </a:prstGeom>
          <a:solidFill>
            <a:srgbClr val="FFFFFF"/>
          </a:solidFill>
          <a:ln>
            <a:solidFill>
              <a:srgbClr val="DBE3E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205722" y="3218688"/>
            <a:ext cx="2288286" cy="521207"/>
          </a:xfrm>
          <a:prstGeom prst="rect">
            <a:avLst/>
          </a:prstGeom>
          <a:noFill/>
        </p:spPr>
        <p:txBody>
          <a:bodyPr wrap="square" lIns="18288" rIns="18288" tIns="18288" bIns="18288">
            <a:spAutoFit/>
          </a:bodyPr>
          <a:lstStyle/>
          <a:p>
            <a:pPr algn="ctr">
              <a:spcAft>
                <a:spcPts val="700"/>
              </a:spcAft>
              <a:defRPr sz="1900" b="1">
                <a:solidFill>
                  <a:srgbClr val="245AD3"/>
                </a:solidFill>
                <a:latin typeface="DejaVu Sans"/>
              </a:defRPr>
            </a:pPr>
            <a:r>
              <a:t>Đối chiếu phản hồi</a:t>
            </a:r>
          </a:p>
        </p:txBody>
      </p:sp>
      <p:sp>
        <p:nvSpPr>
          <p:cNvPr id="19" name="TextBox 18"/>
          <p:cNvSpPr txBox="1"/>
          <p:nvPr/>
        </p:nvSpPr>
        <p:spPr>
          <a:xfrm>
            <a:off x="594360" y="4764024"/>
            <a:ext cx="10972800" cy="758952"/>
          </a:xfrm>
          <a:prstGeom prst="rect">
            <a:avLst/>
          </a:prstGeom>
          <a:noFill/>
        </p:spPr>
        <p:txBody>
          <a:bodyPr wrap="square" lIns="18288" rIns="18288" tIns="18288" bIns="18288">
            <a:spAutoFit/>
          </a:bodyPr>
          <a:lstStyle/>
          <a:p>
            <a:pPr>
              <a:spcAft>
                <a:spcPts val="700"/>
              </a:spcAft>
              <a:defRPr sz="2900" b="1">
                <a:solidFill>
                  <a:srgbClr val="142B49"/>
                </a:solidFill>
                <a:latin typeface="DejaVu Sans"/>
              </a:defRPr>
            </a:pPr>
            <a:r>
              <a:t>Cảm ơn cô và các bạn đã lắng nghe!</a:t>
            </a:r>
          </a:p>
        </p:txBody>
      </p:sp>
      <p:sp>
        <p:nvSpPr>
          <p:cNvPr id="20" name="TextBox 19"/>
          <p:cNvSpPr txBox="1"/>
          <p:nvPr/>
        </p:nvSpPr>
        <p:spPr>
          <a:xfrm>
            <a:off x="603504" y="5641848"/>
            <a:ext cx="10972800" cy="475488"/>
          </a:xfrm>
          <a:prstGeom prst="rect">
            <a:avLst/>
          </a:prstGeom>
          <a:noFill/>
        </p:spPr>
        <p:txBody>
          <a:bodyPr wrap="square" lIns="18288" rIns="18288" tIns="18288" bIns="18288">
            <a:spAutoFit/>
          </a:bodyPr>
          <a:lstStyle/>
          <a:p>
            <a:pPr>
              <a:spcAft>
                <a:spcPts val="700"/>
              </a:spcAft>
              <a:defRPr sz="2300" b="0">
                <a:solidFill>
                  <a:srgbClr val="087F83"/>
                </a:solidFill>
                <a:latin typeface="DejaVu Sans"/>
              </a:defRPr>
            </a:pPr>
            <a:r>
              <a:t>Nhóm xin nhận câu hỏi và góp 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Nhóm 11 – Kiểm thử PC-DSS – Bản thuyết trình theo 4 chương</dc:title>
  <dc:subject>Kiểm thử và Đảm bảo chất lượng phần mềm · 23CN2</dc:subject>
  <dc:creator>Nhóm 11 – 23CN2</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