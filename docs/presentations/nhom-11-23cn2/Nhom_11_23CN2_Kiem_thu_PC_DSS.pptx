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GỢI Ý: 30 giây.</a:t>
            </a:r>
          </a:p>
          <a:p/>
          <a:p>
            <a:r>
              <a:t>LỜI THUYẾT TRÌNH:</a:t>
            </a:r>
          </a:p>
          <a:p>
            <a:r>
              <a:t>Nhóm 11 trình bày việc áp dụng kiểm thử thủ công và tự động trên PC-DSS. Mục tiêu của bài là cách nhóm thiết kế testcase, đối chiếu kết quả và quản lý lỗi; không phải giới thiệu hay quảng bá dự án.</a:t>
            </a:r>
          </a:p>
          <a:p/>
          <a:p>
            <a:r>
              <a:t>NGUỒN:</a:t>
            </a:r>
          </a:p>
          <a:p>
            <a:r>
              <a:t>Trang bìa và bảng phân công trong báo cáo Word. Lớp 23CN2 và nhóm 11 theo yêu cầu của nhóm.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GỢI Ý: 35 giây.</a:t>
            </a:r>
          </a:p>
          <a:p/>
          <a:p>
            <a:r>
              <a:t>LỜI THUYẾT TRÌNH:</a:t>
            </a:r>
          </a:p>
          <a:p>
            <a:r>
              <a:t>PC-DSS nhận nhu cầu và ngân sách để gợi ý các bộ PC có sẵn. Nhóm dùng hệ thống này để kiểm tra dữ liệu đầu vào, quy tắc nghiệp vụ và giao diện. Mỗi kết luận cần nối được từ yêu cầu đến testcase và bằng chứng.</a:t>
            </a:r>
          </a:p>
          <a:p/>
          <a:p>
            <a:r>
              <a:t>NGUỒN:</a:t>
            </a:r>
          </a:p>
          <a:p>
            <a:r>
              <a:t>Word §4.1–4.4 và các cột Expected, Actual, Status trong Excel Postman.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GỢI Ý: 40 giây.</a:t>
            </a:r>
          </a:p>
          <a:p/>
          <a:p>
            <a:r>
              <a:t>LỜI THUYẾT TRÌNH:</a:t>
            </a:r>
          </a:p>
          <a:p>
            <a:r>
              <a:t>Manual UI và Playwright tác động qua trình duyệt. Postman gọi API trực tiếp nên có thể tách lỗi backend khỏi lỗi hiển thị. Phiên bản được kiểm thử sử dụng CSV và tệp mô hình. Các nội dung CRUD và cơ sở dữ liệu ở chương kế hoạch cũ không đại diện cho bộ API đang tổng hợp.</a:t>
            </a:r>
          </a:p>
          <a:p/>
          <a:p>
            <a:r>
              <a:t>NGUỒN:</a:t>
            </a:r>
          </a:p>
          <a:p>
            <a:r>
              <a:t>Word Hình 3.1.1 và §4.1; Excel PM-001 xác nhận storage=csv. Không dùng trạng thái checkout cloud ở phiên làm slide làm minh chứng cho phiên kiểm thử của nhóm.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GỢI Ý: 45 giây.</a:t>
            </a:r>
          </a:p>
          <a:p/>
          <a:p>
            <a:r>
              <a:t>LỜI THUYẾT TRÌNH:</a:t>
            </a:r>
          </a:p>
          <a:p>
            <a:r>
              <a:t>Đây là test oracle, tức căn cứ để xác định đúng sai. Cận trên trên giao diện là dưới 15 triệu nhưng API nhận số nguyên đồng 14.999.999. Top 3 không có nghĩa luôn phải có ba PC nếu dữ liệu không đủ. Quy tắc PcId được đặc tả nhưng bộ API hiện tại chưa có fixture riêng cho trường hợp cùng điểm và cùng giá.</a:t>
            </a:r>
          </a:p>
          <a:p/>
          <a:p>
            <a:r>
              <a:t>NGUỒN:</a:t>
            </a:r>
          </a:p>
          <a:p>
            <a:r>
              <a:t>Word bảng 4.1, §4.4.7; Excel PM-011, PM-021–029; assertions.js hàm compare và kiểm tra items. Không suy ra độ chính xác benchmark từ việc đúng các quy tắc này.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GỢI Ý: 45 giây.</a:t>
            </a:r>
          </a:p>
          <a:p/>
          <a:p>
            <a:r>
              <a:t>LỜI THUYẾT TRÌNH:</a:t>
            </a:r>
          </a:p>
          <a:p>
            <a:r>
              <a:t>Nhóm thiết kế ca từ yêu cầu rồi chọn kỹ thuật phù hợp. Ví dụ giá trị biên kiểm tra đúng cận giá, còn phân vùng tương đương bao gồm đầu vào thiếu hoặc không hợp lệ. Trước khi chạy cần kiểm tra dịch vụ và snapshot. Nếu điều kiện trước không còn đúng thì ghi Blocked, không vội quy thành lỗi phần mềm.</a:t>
            </a:r>
          </a:p>
          <a:p/>
          <a:p>
            <a:r>
              <a:t>NGUỒN:</a:t>
            </a:r>
          </a:p>
          <a:p>
            <a:r>
              <a:t>Excel Test_cases: 26 ca phân vùng tương đương, 15 ca giá trị biên, 4 ca quy tắc nghiệp vụ, 2 ca nhất quán, mỗi loại cơ bản/bảng quyết định/đoán lỗi có 1 ca. Không tuyên bố đo bao phủ mã nguồn. Newman package.json ghi 6.2.1; không có căn cứ chốt phiên bản trình duyệt Playwright.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GỢI Ý: 40 giây.</a:t>
            </a:r>
          </a:p>
          <a:p/>
          <a:p>
            <a:r>
              <a:t>LỜI THUYẾT TRÌNH:</a:t>
            </a:r>
          </a:p>
          <a:p>
            <a:r>
              <a:t>Theo xác nhận mới nhất của nhóm, Manual UI có 79 ca: 77 Pass và 2 Fail, chưa có retest. Đây là kết quả của bộ thủ công, được báo riêng với tự động. Phạm vi gồm điều hướng, chọn dữ liệu, kết quả, trạng thái lỗi và responsive.</a:t>
            </a:r>
          </a:p>
          <a:p/>
          <a:p>
            <a:r>
              <a:t>NGUỒN:</a:t>
            </a:r>
          </a:p>
          <a:p>
            <a:r>
              <a:t>Xác nhận trực tiếp của nhóm trong cuộc trao đổi: “79 ca UI: 77 Pass, 2 Fail; Playwright 50 Pass; chưa có retest”. Word bảng 4.2/4.7 ghi 80/80 nên không dùng số đó.</a:t>
            </a:r>
          </a:p>
          <a:p/>
          <a:p>
            <a:r>
              <a:t>NHÓM CẦN KIỂM TRA / BỔ SUNG:</a:t>
            </a:r>
          </a:p>
          <a:p>
            <a:r>
              <a:t>Gửi workbook Manual UI mới nhất; đối chiếu 79 ID duy nhất, cột Actual Result/Status và minh chứng của hai ca Fail.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GỢI Ý: 45 giây.</a:t>
            </a:r>
          </a:p>
          <a:p/>
          <a:p>
            <a:r>
              <a:t>LỜI THUYẾT TRÌNH:</a:t>
            </a:r>
          </a:p>
          <a:p>
            <a:r>
              <a:t>Đây là ảnh thật trong báo cáo. Với Gaming, khoảng 10 đến dưới 15 triệu và Top 3, giao diện báo bốn PC đủ điều kiện và hiển thị ba card. Giá lần lượt là 14.790.000, 14.680.000 và 14.680.000 đồng. Điểm hiển thị giảm dần. Kết luận chỉ áp dụng các điều kiện quan sát của ca này, không mặc định những ca khác cũng Pass.</a:t>
            </a:r>
          </a:p>
          <a:p/>
          <a:p>
            <a:r>
              <a:t>NGUỒN:</a:t>
            </a:r>
          </a:p>
          <a:p>
            <a:r>
              <a:t>Word §4.3, Hình 4.1, Bảng 4.3; ảnh word/media/image11.png. Báo cáo §4.6 liên hệ ca này với PM-011.</a:t>
            </a:r>
          </a:p>
          <a:p/>
          <a:p>
            <a:r>
              <a:t>NHÓM CẦN KIỂM TRA / BỔ SUNG:</a:t>
            </a:r>
          </a:p>
          <a:p>
            <a:r>
              <a:t>Ảnh gốc cắt sát card thứ ba. Nếu muốn trình bày trọn card, chụp lại đủ ba card và giữ rõ input/4 trên 36; không sửa số liệu ảnh.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GỢI Ý: 40 giây.</a:t>
            </a:r>
          </a:p>
          <a:p/>
          <a:p>
            <a:r>
              <a:t>LỜI THUYẾT TRÌNH:</a:t>
            </a:r>
          </a:p>
          <a:p>
            <a:r>
              <a:t>Người kiểm thử gửi request, tự đọc response và đối chiếu với Expected Result, rồi ghi Excel. Tôi đếm trực tiếp 50 dòng PM-001 đến PM-050 trong cột trạng thái thủ công, đều Pass. Ca âm tính có HTTP 400, 404 hoặc 415 vẫn Pass khi đó là kết quả mong đợi.</a:t>
            </a:r>
          </a:p>
          <a:p/>
          <a:p>
            <a:r>
              <a:t>NGUỒN:</a:t>
            </a:r>
          </a:p>
          <a:p>
            <a:r>
              <a:t>PC-DSS_Postman_50_Test_Cases.xlsx, sheet Test_cases, hàng 5–54, cột N. Cột O là trạng thái tự động riêng. Sheet Bug_log không có bản ghi lỗi API. Dòng mô tả đầu sheet còn “chưa có kết quả” là nhãn cũ, cần sửa đồng bộ.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GỢI Ý: 55 giây.</a:t>
            </a:r>
          </a:p>
          <a:p/>
          <a:p>
            <a:r>
              <a:t>LỜI THUYẾT TRÌNH:</a:t>
            </a:r>
          </a:p>
          <a:p>
            <a:r>
              <a:t>PM-029 gửi Gaming, minBudget 25.000.000, budget 34.999.999 và Top 3. Với PC-042, lấy 34.999.999 trừ 31.980.000 được 3.019.999, khớp response. Hai PC còn lại cũng khớp và không âm. Nhóm dùng số nguyên đồng, không lấy ngân sách đã làm tròn thành 35 triệu. Ảnh có HTTP 200 và trường budgetRemainingVnd; bảng được chép từ JSON thật, không phải ảnh dựng.</a:t>
            </a:r>
          </a:p>
          <a:p/>
          <a:p>
            <a:r>
              <a:t>NGUỒN:</a:t>
            </a:r>
          </a:p>
          <a:p>
            <a:r>
              <a:t>Excel Test_cases hàng PM-029, body/expected/actual; Minh chứng/Thủ công/PM-029/PM-029-response.json. Ảnh Word image13.png có response; image12.png chưa có response nên không dùng để minh họa kết quả.</a:t>
            </a:r>
          </a:p>
          <a:p/>
          <a:p>
            <a:r>
              <a:t>NHÓM CẦN KIỂM TRA / BỔ SUNG:</a:t>
            </a:r>
          </a:p>
          <a:p>
            <a:r>
              <a:t>Ảnh response hiện rõ PC-042 và tiền còn lại. Nếu muốn thấy đồng thời priceVnd, chụp thêm response cùng PC và giữ ID để truy vết.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GỢI Ý: 45 giây.</a:t>
            </a:r>
          </a:p>
          <a:p/>
          <a:p>
            <a:r>
              <a:t>LỜI THUYẾT TRÌNH:</a:t>
            </a:r>
          </a:p>
          <a:p>
            <a:r>
              <a:t>Tự động hóa thay phần đối chiếu lặp lại bằng assertion. Đoạn trích này lấy từ script thật và chỉ tách dòng để dễ đọc; x là từng item, b là request body. Helper eq và ok dùng pm.expect; check tạo pm.test. Một ca kiểm tra nhiều điều kiện nên 50 testcase tạo ra 257 phép kiểm tra.</a:t>
            </a:r>
          </a:p>
          <a:p/>
          <a:p>
            <a:r>
              <a:t>NGUỒN:</a:t>
            </a:r>
          </a:p>
          <a:p>
            <a:r>
              <a:t>assertions.js dòng khai báo check, eq, ok và khối “Mọi giá trong khoảng; tiền còn lại và dự đoán hợp lệ”, dòng 85–89. Cùng bộ 50 ca dùng cho cả thủ công và tự động, không cộng thành 100.</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GỢI Ý: 45 giây.</a:t>
            </a:r>
          </a:p>
          <a:p/>
          <a:p>
            <a:r>
              <a:t>LỜI THUYẾT TRÌNH:</a:t>
            </a:r>
          </a:p>
          <a:p>
            <a:r>
              <a:t>Ảnh Runner ghi All 257, Passed 257 và ba chỉ số còn lại bằng không. Báo cáo Newman là một lần chạy khác: 50 item, 257 assertions, không có thất bại, skipped hay errors. File newman-full còn ghi 86 request vì script có request hỗ trợ đối chiếu; đó không phải 86 testcase. Không cộng kết quả hai lần thành 100 testcase.</a:t>
            </a:r>
          </a:p>
          <a:p/>
          <a:p>
            <a:r>
              <a:t>NGUỒN:</a:t>
            </a:r>
          </a:p>
          <a:p>
            <a:r>
              <a:t>Runner: Word image15.png và ảnh Postman-50TC-Tong-quan.png trong ZIP. Newman: results.json total=50, passed=50; đếm 257 assertions, skipped=0, errors=0; newman-full.json run.failures=[] và stats. Không so sánh tốc độ giữa hai lần chạy vì không cùng điều kiện.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GỢI Ý: 45 giây.</a:t>
            </a:r>
          </a:p>
          <a:p/>
          <a:p>
            <a:r>
              <a:t>LỜI THUYẾT TRÌNH:</a:t>
            </a:r>
          </a:p>
          <a:p>
            <a:r>
              <a:t>Bộ Playwright có tám ca nền tảng và 42 tổ hợp Recommendation. Theo báo cáo thiết kế, ca E2E kiểm tra cả request body, HTTP 200 rồi đối chiếu các card. Nhóm đã xác nhận 50 Pass. Do ZIP vượt giới hạn tải, số liệu này chưa được đối chiếu trực tiếp với report gốc trong quá trình làm slide.</a:t>
            </a:r>
          </a:p>
          <a:p/>
          <a:p>
            <a:r>
              <a:t>NGUỒN:</a:t>
            </a:r>
          </a:p>
          <a:p>
            <a:r>
              <a:t>Word §4.5, bảng 4.5; xác nhận trực tiếp của nhóm. Không sử dụng Hình 2.4.2.2 làm minh chứng 50 ca: ảnh đó là example.spec.js với 6 bài mẫu.</a:t>
            </a:r>
          </a:p>
          <a:p/>
          <a:p>
            <a:r>
              <a:t>NHÓM CẦN KIỂM TRA / BỔ SUNG:</a:t>
            </a:r>
          </a:p>
          <a:p>
            <a:r>
              <a:t>Chèn ảnh HTML report Playwright của PC-DSS: thấy tên suite, tổng 50, passed/failed/skipped và thông tin lần chạy. Gửi riêng report/Excel/ảnh hoặc ZIP bỏ video. Không cần đọc hay đưa video vào slide.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GỢI Ý: 40 giây.</a:t>
            </a:r>
          </a:p>
          <a:p/>
          <a:p>
            <a:r>
              <a:t>LỜI THUYẾT TRÌNH:</a:t>
            </a:r>
          </a:p>
          <a:p>
            <a:r>
              <a:t>Một ca tự động có thể liên quan nhiều ca thủ công và ma trận tự động có thể mở rộng thêm tổ hợp. Vì vậy không cộng số ca của các bộ thành số tình huống nghiệp vụ độc lập. Liên kết cụ thể phải lấy từ cột Related Manual TC trong workbook. Chúng tôi chưa nhận được workbook đọc được nên chỉ trình bày cấu trúc truy vết, chưa điền mã ví dụ.</a:t>
            </a:r>
          </a:p>
          <a:p/>
          <a:p>
            <a:r>
              <a:t>NGUỒN:</a:t>
            </a:r>
          </a:p>
          <a:p>
            <a:r>
              <a:t>Cấu trúc bộ Playwright trong Word §4.5; yêu cầu của nhóm về Related Manual TC. Sơ đồ chỉ là cấu trúc trường, không phải dữ liệu liên kết đã được xác minh.</a:t>
            </a:r>
          </a:p>
          <a:p/>
          <a:p>
            <a:r>
              <a:t>NHÓM CẦN KIỂM TRA / BỔ SUNG:</a:t>
            </a:r>
          </a:p>
          <a:p>
            <a:r>
              <a:t>Chụp hoặc gửi 2–3 dòng thật gồm Playwright TC ID, Related Manual TC, tên ca. Thay dòng hướng dẫn bằng bảng trích nguyên mã; không tự ghép TC-STATE-001 hay TC-UI-006 với một ca Playwright.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GỢI Ý: 45 giây.</a:t>
            </a:r>
          </a:p>
          <a:p/>
          <a:p>
            <a:r>
              <a:t>LỜI THUYẾT TRÌNH:</a:t>
            </a:r>
          </a:p>
          <a:p>
            <a:r>
              <a:t>Bảng giữ số lượng riêng từng bộ. Postman thủ công và tự động là cùng 50 ca, còn 257 là phép kiểm tra. Manual UI 77 Pass và hai Fail vẫn tồn tại dù Playwright 50 Pass. Không gọi tổng 79 cộng 50 cộng 50 là 179 tình huống hoàn toàn khác nhau. Các chỉ số từ môi trường cloud chuẩn bị trước đây không được đưa vào đây.</a:t>
            </a:r>
          </a:p>
          <a:p/>
          <a:p>
            <a:r>
              <a:t>NGUỒN:</a:t>
            </a:r>
          </a:p>
          <a:p>
            <a:r>
              <a:t>API: đếm trực tiếp 50 dòng Excel và đọc JSON/ảnh Runner. UI/Playwright: nhóm xác nhận trực tiếp 79/77/2 và 50 Pass; chưa đọc ZIP Playwright vì giới hạn 32 MiB. Không gộp các lần chạy và không coi UI số liệu được xác nhận bằng workbook khi chưa đọc workbook.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GỢI Ý: 45 giây.</a:t>
            </a:r>
          </a:p>
          <a:p/>
          <a:p>
            <a:r>
              <a:t>LỜI THUYẾT TRÌNH:</a:t>
            </a:r>
          </a:p>
          <a:p>
            <a:r>
              <a:t>Nhóm xác nhận chưa có retest cho hai ca này, vì vậy trình bày còn mở. Chúng tôi không gán Bug ID, mức độ hay mô tả lỗi khi chưa có bản ghi. Sau sửa cần chạy lại đúng bước, đúng dữ liệu và cập nhật bằng chứng trước khi đóng. Bug_log API trống chỉ là trạng thái của API, không xóa đi hai lỗi UI.</a:t>
            </a:r>
          </a:p>
          <a:p/>
          <a:p>
            <a:r>
              <a:t>NGUỒN:</a:t>
            </a:r>
          </a:p>
          <a:p>
            <a:r>
              <a:t>Yêu cầu ban đầu của nhóm nêu TC-STATE-001 và TC-UI-006; xác nhận tiếp theo nêu chưa retest. Word bảng 4.7 “không còn lỗi mở” bị phủ định bởi xác nhận mới nhất. Excel Postman Bug_log trống.</a:t>
            </a:r>
          </a:p>
          <a:p/>
          <a:p>
            <a:r>
              <a:t>NHÓM CẦN KIỂM TRA / BỔ SUNG:</a:t>
            </a:r>
          </a:p>
          <a:p>
            <a:r>
              <a:t>Cần ảnh Actual so với Expected, bước tái hiện, môi trường và phiên bản cho từng ca. Chỉ bổ sung Bug ID nếu nhóm thực sự đã tạo; sau sửa thêm thời điểm và kết quả retest thật.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GỢI Ý: 35 giây.</a:t>
            </a:r>
          </a:p>
          <a:p/>
          <a:p>
            <a:r>
              <a:t>LỜI THUYẾT TRÌNH:</a:t>
            </a:r>
          </a:p>
          <a:p>
            <a:r>
              <a:t>Nhóm đã giải quyết mâu thuẫn số liệu bằng xác nhận mới nhất. Những phần còn thiếu là tài liệu trực tiếp để kiểm chứng và minh họa: workbook UI, report Playwright, cột Related Manual TC và ảnh lỗi. Trước bảo vệ nên đồng bộ Word để tránh cùng một báo cáo có hai kết quả trái ngược.</a:t>
            </a:r>
          </a:p>
          <a:p/>
          <a:p>
            <a:r>
              <a:t>NGUỒN:</a:t>
            </a:r>
          </a:p>
          <a:p>
            <a:r>
              <a:t>Word bảng 4.2, 4.7, đoạn tổng 180 và phần kết luận ghi 80 ca; §4.5/4.9/kết luận còn nói Playwright chưa chạy. Excel API hàng 2 còn nhãn “chưa có kết quả” dù 50 dòng đã có trạng thái. Hình 4.4.4.3 được chú thích PM-005 nhưng ảnh nhúng image14.png là bảng Excel PM-026–029, nên không dùng ảnh đó cho PM-005.</a:t>
            </a:r>
          </a:p>
          <a:p/>
          <a:p>
            <a:r>
              <a:t>NHÓM CẦN KIỂM TRA / BỔ SUNG:</a:t>
            </a:r>
          </a:p>
          <a:p>
            <a:r>
              <a:t>Danh sách chi tiết đi kèm trong file Doi_chieu_va_anh_can_bo_sung.docx. Slide này có thể trình bày ngắn 30–35 giây, không biến thành phần giới thiệu sản phẩm.</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GỢI Ý: 40 giây.</a:t>
            </a:r>
          </a:p>
          <a:p/>
          <a:p>
            <a:r>
              <a:t>LỜI THUYẾT TRÌNH:</a:t>
            </a:r>
          </a:p>
          <a:p>
            <a:r>
              <a:t>Bộ test cho thấy các điều kiện được kiểm tra đã đạt trên phiên bản và dữ liệu đang xét. Không suy ra độ chính xác dự đoán benchmark, cũng không tuyên bố đã kiểm thử tải, bảo mật chuyên sâu hoặc bao phủ mã nguồn. Ưu tiên tiếp theo là retest lỗi còn mở, bổ sung minh chứng và sau đó mở rộng phạm vi.</a:t>
            </a:r>
          </a:p>
          <a:p/>
          <a:p>
            <a:r>
              <a:t>NGUỒN:</a:t>
            </a:r>
          </a:p>
          <a:p>
            <a:r>
              <a:t>Word §4.4.7 chưa bao phủ thiếu reference 422, lỗi khởi động CSV/model, tie-break PcId khi cùng điểm/cùng giá; §4.9 và kết luận giới hạn tải/bảo mật/môi trường. Đây là hướng phát triển, không phải ca đã được thực hiện.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GỢI Ý: 30 giây.</a:t>
            </a:r>
          </a:p>
          <a:p/>
          <a:p>
            <a:r>
              <a:t>LỜI THUYẾT TRÌNH:</a:t>
            </a:r>
          </a:p>
          <a:p>
            <a:r>
              <a:t>Kết luận của nhóm là kiểm thử có hệ thống giúp phát hiện sai lệch và xác nhận các điều kiện đã kiểm tra. Thủ công và tự động bổ sung cho nhau. Sau đây nhóm chuyển sang demo PM-029 hoặc trả lời câu hỏi; nếu mở Playwright thì phải là report của bộ PC-DSS đã xác nhận.</a:t>
            </a:r>
          </a:p>
          <a:p/>
          <a:p>
            <a:r>
              <a:t>NGUỒN:</a:t>
            </a:r>
          </a:p>
          <a:p>
            <a:r>
              <a:t>Tổng hợp nguồn của các slide trước. Không dùng video ZIP. Không thực hiện một lần chạy mới rồi thay thế dữ liệu kiểm thử gốc.</a:t>
            </a:r>
          </a:p>
          <a:p/>
          <a:p>
            <a:r>
              <a:t>NHÓM CẦN KIỂM TRA / BỔ SUNG:</a:t>
            </a:r>
          </a:p>
          <a:p>
            <a:r>
              <a:t>Chuẩn bị sẵn backend và request PM-029; nếu demo lỗi kết nối thì nói rõ điều kiện môi trường. Dành khoảng 1–2 phút demo nếu tổng thời gian cho phép.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245A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75488" y="265176"/>
            <a:ext cx="10972800" cy="274320"/>
          </a:xfrm>
          <a:prstGeom prst="rect">
            <a:avLst/>
          </a:prstGeom>
          <a:noFill/>
        </p:spPr>
        <p:txBody>
          <a:bodyPr wrap="square" lIns="18288" rIns="18288" tIns="18288" bIns="18288">
            <a:spAutoFit/>
          </a:bodyPr>
          <a:lstStyle/>
          <a:p>
            <a:pPr>
              <a:spcAft>
                <a:spcPts val="700"/>
              </a:spcAft>
              <a:defRPr sz="1100" b="1">
                <a:solidFill>
                  <a:srgbClr val="087F83"/>
                </a:solidFill>
                <a:latin typeface="DejaVu Sans"/>
              </a:defRPr>
            </a:pPr>
            <a:r>
              <a:t>BÁO CÁO MÔN HỌC · NHÓM 11 · LỚP 23CN2</a:t>
            </a:r>
          </a:p>
        </p:txBody>
      </p:sp>
      <p:sp>
        <p:nvSpPr>
          <p:cNvPr id="4" name="TextBox 3"/>
          <p:cNvSpPr txBox="1"/>
          <p:nvPr/>
        </p:nvSpPr>
        <p:spPr>
          <a:xfrm>
            <a:off x="475488" y="740664"/>
            <a:ext cx="11201400" cy="640080"/>
          </a:xfrm>
          <a:prstGeom prst="rect">
            <a:avLst/>
          </a:prstGeom>
          <a:noFill/>
        </p:spPr>
        <p:txBody>
          <a:bodyPr wrap="square" lIns="18288" rIns="18288" tIns="18288" bIns="18288">
            <a:spAutoFit/>
          </a:bodyPr>
          <a:lstStyle/>
          <a:p>
            <a:pPr>
              <a:spcAft>
                <a:spcPts val="700"/>
              </a:spcAft>
              <a:defRPr sz="3000" b="1">
                <a:solidFill>
                  <a:srgbClr val="142B49"/>
                </a:solidFill>
                <a:latin typeface="DejaVu Sans"/>
              </a:defRPr>
            </a:pPr>
            <a:r>
              <a:t>Kiểm thử thủ công và tự động</a:t>
            </a:r>
          </a:p>
        </p:txBody>
      </p:sp>
      <p:sp>
        <p:nvSpPr>
          <p:cNvPr id="5" name="Rectangle 4"/>
          <p:cNvSpPr/>
          <p:nvPr/>
        </p:nvSpPr>
        <p:spPr>
          <a:xfrm>
            <a:off x="502920" y="6419088"/>
            <a:ext cx="11155680" cy="10972"/>
          </a:xfrm>
          <a:prstGeom prst="rect">
            <a:avLst/>
          </a:prstGeom>
          <a:solidFill>
            <a:srgbClr val="DB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8229600" cy="182880"/>
          </a:xfrm>
          <a:prstGeom prst="rect">
            <a:avLst/>
          </a:prstGeom>
          <a:noFill/>
        </p:spPr>
        <p:txBody>
          <a:bodyPr wrap="square" lIns="18288" rIns="18288" tIns="18288" bIns="18288">
            <a:spAutoFit/>
          </a:bodyPr>
          <a:lstStyle/>
          <a:p>
            <a:pPr>
              <a:spcAft>
                <a:spcPts val="700"/>
              </a:spcAft>
              <a:defRPr sz="900" b="0">
                <a:solidFill>
                  <a:srgbClr val="5A6B7E"/>
                </a:solidFill>
                <a:latin typeface="DejaVu Sans"/>
              </a:defRPr>
            </a:pPr>
            <a:r>
              <a:t>NHÓM 11 · 23CN2  |  KIỂM THỬ &amp; ĐẢM BẢO CHẤT LƯỢNG PHẦN MỀM</a:t>
            </a:r>
          </a:p>
        </p:txBody>
      </p:sp>
      <p:sp>
        <p:nvSpPr>
          <p:cNvPr id="7" name="TextBox 6"/>
          <p:cNvSpPr txBox="1"/>
          <p:nvPr/>
        </p:nvSpPr>
        <p:spPr>
          <a:xfrm>
            <a:off x="11064240" y="6473952"/>
            <a:ext cx="548640" cy="228600"/>
          </a:xfrm>
          <a:prstGeom prst="rect">
            <a:avLst/>
          </a:prstGeom>
          <a:noFill/>
        </p:spPr>
        <p:txBody>
          <a:bodyPr wrap="square" lIns="18288" rIns="18288" tIns="18288" bIns="18288">
            <a:spAutoFit/>
          </a:bodyPr>
          <a:lstStyle/>
          <a:p>
            <a:pPr algn="r">
              <a:spcAft>
                <a:spcPts val="700"/>
              </a:spcAft>
              <a:defRPr sz="1200" b="1">
                <a:solidFill>
                  <a:srgbClr val="245AD3"/>
                </a:solidFill>
                <a:latin typeface="DejaVu Sans"/>
              </a:defRPr>
            </a:pPr>
            <a:r>
              <a:t>01</a:t>
            </a:r>
          </a:p>
        </p:txBody>
      </p:sp>
      <p:sp>
        <p:nvSpPr>
          <p:cNvPr id="8" name="TextBox 7"/>
          <p:cNvSpPr txBox="1"/>
          <p:nvPr/>
        </p:nvSpPr>
        <p:spPr>
          <a:xfrm>
            <a:off x="530352" y="1554480"/>
            <a:ext cx="10881360" cy="1097280"/>
          </a:xfrm>
          <a:prstGeom prst="rect">
            <a:avLst/>
          </a:prstGeom>
          <a:noFill/>
        </p:spPr>
        <p:txBody>
          <a:bodyPr wrap="square" lIns="18288" rIns="18288" tIns="18288" bIns="18288">
            <a:spAutoFit/>
          </a:bodyPr>
          <a:lstStyle/>
          <a:p>
            <a:pPr>
              <a:spcAft>
                <a:spcPts val="700"/>
              </a:spcAft>
              <a:defRPr sz="2900" b="1">
                <a:solidFill>
                  <a:srgbClr val="142B49"/>
                </a:solidFill>
                <a:latin typeface="DejaVu Sans"/>
              </a:defRPr>
            </a:pPr>
            <a:r>
              <a:t>Hệ thống hỗ trợ lựa chọn cấu hình máy tính</a:t>
            </a:r>
          </a:p>
          <a:p>
            <a:pPr>
              <a:spcAft>
                <a:spcPts val="700"/>
              </a:spcAft>
              <a:defRPr sz="2900" b="1">
                <a:solidFill>
                  <a:srgbClr val="142B49"/>
                </a:solidFill>
                <a:latin typeface="DejaVu Sans"/>
              </a:defRPr>
            </a:pPr>
            <a:r>
              <a:t>PC-DSS với Postman và Playwright</a:t>
            </a:r>
          </a:p>
        </p:txBody>
      </p:sp>
      <p:sp>
        <p:nvSpPr>
          <p:cNvPr id="9" name="Rounded Rectangle 8"/>
          <p:cNvSpPr/>
          <p:nvPr/>
        </p:nvSpPr>
        <p:spPr>
          <a:xfrm>
            <a:off x="530352" y="2889504"/>
            <a:ext cx="11064240" cy="521207"/>
          </a:xfrm>
          <a:prstGeom prst="roundRect">
            <a:avLst>
              <a:gd name="adj" fmla="val 12000"/>
            </a:avLst>
          </a:prstGeom>
          <a:solidFill>
            <a:srgbClr val="245A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3008376"/>
            <a:ext cx="10698480" cy="274320"/>
          </a:xfrm>
          <a:prstGeom prst="rect">
            <a:avLst/>
          </a:prstGeom>
          <a:noFill/>
        </p:spPr>
        <p:txBody>
          <a:bodyPr wrap="square" lIns="18288" rIns="18288" tIns="18288" bIns="18288">
            <a:spAutoFit/>
          </a:bodyPr>
          <a:lstStyle/>
          <a:p>
            <a:pPr>
              <a:spcAft>
                <a:spcPts val="700"/>
              </a:spcAft>
              <a:defRPr sz="1800" b="1">
                <a:solidFill>
                  <a:srgbClr val="FFFFFF"/>
                </a:solidFill>
                <a:latin typeface="DejaVu Sans"/>
              </a:defRPr>
            </a:pPr>
            <a:r>
              <a:t>PC-DSS là đối tượng kiểm thử · Trọng tâm: thiết kế ca, thực thi, đánh giá</a:t>
            </a:r>
          </a:p>
        </p:txBody>
      </p:sp>
      <p:sp>
        <p:nvSpPr>
          <p:cNvPr id="11" name="TextBox 10"/>
          <p:cNvSpPr txBox="1"/>
          <p:nvPr/>
        </p:nvSpPr>
        <p:spPr>
          <a:xfrm>
            <a:off x="548640" y="3712463"/>
            <a:ext cx="10789920" cy="457200"/>
          </a:xfrm>
          <a:prstGeom prst="rect">
            <a:avLst/>
          </a:prstGeom>
          <a:noFill/>
        </p:spPr>
        <p:txBody>
          <a:bodyPr wrap="square" lIns="18288" rIns="18288" tIns="18288" bIns="18288">
            <a:spAutoFit/>
          </a:bodyPr>
          <a:lstStyle/>
          <a:p>
            <a:pPr>
              <a:spcAft>
                <a:spcPts val="700"/>
              </a:spcAft>
              <a:defRPr sz="2300" b="1">
                <a:solidFill>
                  <a:srgbClr val="087F83"/>
                </a:solidFill>
                <a:latin typeface="DejaVu Sans"/>
              </a:defRPr>
            </a:pPr>
            <a:r>
              <a:t>Giảng viên: ThS. Nguyễn Thị Hạnh</a:t>
            </a:r>
          </a:p>
        </p:txBody>
      </p:sp>
      <p:sp>
        <p:nvSpPr>
          <p:cNvPr id="12" name="TextBox 11"/>
          <p:cNvSpPr txBox="1"/>
          <p:nvPr/>
        </p:nvSpPr>
        <p:spPr>
          <a:xfrm>
            <a:off x="548640" y="4453128"/>
            <a:ext cx="5577840" cy="960120"/>
          </a:xfrm>
          <a:prstGeom prst="rect">
            <a:avLst/>
          </a:prstGeom>
          <a:noFill/>
        </p:spPr>
        <p:txBody>
          <a:bodyPr wrap="square" lIns="18288" rIns="18288" tIns="18288" bIns="18288">
            <a:spAutoFit/>
          </a:bodyPr>
          <a:lstStyle/>
          <a:p>
            <a:pPr>
              <a:spcAft>
                <a:spcPts val="700"/>
              </a:spcAft>
              <a:defRPr sz="1900" b="0">
                <a:solidFill>
                  <a:srgbClr val="23384F"/>
                </a:solidFill>
                <a:latin typeface="DejaVu Sans"/>
              </a:defRPr>
            </a:pPr>
            <a:r>
              <a:t>Nguyễn Văn Quang Khải — 2355010114</a:t>
            </a:r>
          </a:p>
          <a:p>
            <a:pPr>
              <a:spcAft>
                <a:spcPts val="700"/>
              </a:spcAft>
              <a:defRPr sz="1900" b="0">
                <a:solidFill>
                  <a:srgbClr val="23384F"/>
                </a:solidFill>
                <a:latin typeface="DejaVu Sans"/>
              </a:defRPr>
            </a:pPr>
            <a:r>
              <a:t>Đinh Văn Chí — 2355010034</a:t>
            </a:r>
          </a:p>
        </p:txBody>
      </p:sp>
      <p:sp>
        <p:nvSpPr>
          <p:cNvPr id="13" name="TextBox 12"/>
          <p:cNvSpPr txBox="1"/>
          <p:nvPr/>
        </p:nvSpPr>
        <p:spPr>
          <a:xfrm>
            <a:off x="6355080" y="4453128"/>
            <a:ext cx="5303520" cy="960120"/>
          </a:xfrm>
          <a:prstGeom prst="rect">
            <a:avLst/>
          </a:prstGeom>
          <a:noFill/>
        </p:spPr>
        <p:txBody>
          <a:bodyPr wrap="square" lIns="18288" rIns="18288" tIns="18288" bIns="18288">
            <a:spAutoFit/>
          </a:bodyPr>
          <a:lstStyle/>
          <a:p>
            <a:pPr>
              <a:spcAft>
                <a:spcPts val="700"/>
              </a:spcAft>
              <a:defRPr sz="1900" b="0">
                <a:solidFill>
                  <a:srgbClr val="23384F"/>
                </a:solidFill>
                <a:latin typeface="DejaVu Sans"/>
              </a:defRPr>
            </a:pPr>
            <a:r>
              <a:t>Cù Huy Dũng — 2355010038</a:t>
            </a:r>
          </a:p>
          <a:p>
            <a:pPr>
              <a:spcAft>
                <a:spcPts val="700"/>
              </a:spcAft>
              <a:defRPr sz="1900" b="0">
                <a:solidFill>
                  <a:srgbClr val="23384F"/>
                </a:solidFill>
                <a:latin typeface="DejaVu Sans"/>
              </a:defRPr>
            </a:pPr>
            <a:r>
              <a:t>Đỗ Thị Quỳnh Hương — 2355020043</a:t>
            </a:r>
          </a:p>
        </p:txBody>
      </p:sp>
      <p:sp>
        <p:nvSpPr>
          <p:cNvPr id="14" name="TextBox 13"/>
          <p:cNvSpPr txBox="1"/>
          <p:nvPr/>
        </p:nvSpPr>
        <p:spPr>
          <a:xfrm>
            <a:off x="548640" y="5687568"/>
            <a:ext cx="10972800" cy="301752"/>
          </a:xfrm>
          <a:prstGeom prst="rect">
            <a:avLst/>
          </a:prstGeom>
          <a:noFill/>
        </p:spPr>
        <p:txBody>
          <a:bodyPr wrap="square" lIns="18288" rIns="18288" tIns="18288" bIns="18288">
            <a:spAutoFit/>
          </a:bodyPr>
          <a:lstStyle/>
          <a:p>
            <a:pPr>
              <a:spcAft>
                <a:spcPts val="700"/>
              </a:spcAft>
              <a:defRPr sz="1600" b="0">
                <a:solidFill>
                  <a:srgbClr val="5A6B7E"/>
                </a:solidFill>
                <a:latin typeface="DejaVu Sans"/>
              </a:defRPr>
            </a:pPr>
            <a:r>
              <a:t>Trường Đại học Kiến trúc Hà Nội · Khoa Công nghệ thông tin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245A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75488" y="265176"/>
            <a:ext cx="10972800" cy="274320"/>
          </a:xfrm>
          <a:prstGeom prst="rect">
            <a:avLst/>
          </a:prstGeom>
          <a:noFill/>
        </p:spPr>
        <p:txBody>
          <a:bodyPr wrap="square" lIns="18288" rIns="18288" tIns="18288" bIns="18288">
            <a:spAutoFit/>
          </a:bodyPr>
          <a:lstStyle/>
          <a:p>
            <a:pPr>
              <a:spcAft>
                <a:spcPts val="700"/>
              </a:spcAft>
              <a:defRPr sz="1100" b="1">
                <a:solidFill>
                  <a:srgbClr val="087F83"/>
                </a:solidFill>
                <a:latin typeface="DejaVu Sans"/>
              </a:defRPr>
            </a:pPr>
            <a:r>
              <a:t>MỤC TIÊU KIỂM THỬ</a:t>
            </a:r>
          </a:p>
        </p:txBody>
      </p:sp>
      <p:sp>
        <p:nvSpPr>
          <p:cNvPr id="4" name="TextBox 3"/>
          <p:cNvSpPr txBox="1"/>
          <p:nvPr/>
        </p:nvSpPr>
        <p:spPr>
          <a:xfrm>
            <a:off x="475488" y="740664"/>
            <a:ext cx="11201400" cy="640080"/>
          </a:xfrm>
          <a:prstGeom prst="rect">
            <a:avLst/>
          </a:prstGeom>
          <a:noFill/>
        </p:spPr>
        <p:txBody>
          <a:bodyPr wrap="square" lIns="18288" rIns="18288" tIns="18288" bIns="18288">
            <a:spAutoFit/>
          </a:bodyPr>
          <a:lstStyle/>
          <a:p>
            <a:pPr>
              <a:spcAft>
                <a:spcPts val="700"/>
              </a:spcAft>
              <a:defRPr sz="3000" b="1">
                <a:solidFill>
                  <a:srgbClr val="142B49"/>
                </a:solidFill>
                <a:latin typeface="DejaVu Sans"/>
              </a:defRPr>
            </a:pPr>
            <a:r>
              <a:t>Kiểm tra hành vi theo yêu cầu</a:t>
            </a:r>
          </a:p>
        </p:txBody>
      </p:sp>
      <p:sp>
        <p:nvSpPr>
          <p:cNvPr id="5" name="Rectangle 4"/>
          <p:cNvSpPr/>
          <p:nvPr/>
        </p:nvSpPr>
        <p:spPr>
          <a:xfrm>
            <a:off x="502920" y="6419088"/>
            <a:ext cx="11155680" cy="10972"/>
          </a:xfrm>
          <a:prstGeom prst="rect">
            <a:avLst/>
          </a:prstGeom>
          <a:solidFill>
            <a:srgbClr val="DB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8229600" cy="182880"/>
          </a:xfrm>
          <a:prstGeom prst="rect">
            <a:avLst/>
          </a:prstGeom>
          <a:noFill/>
        </p:spPr>
        <p:txBody>
          <a:bodyPr wrap="square" lIns="18288" rIns="18288" tIns="18288" bIns="18288">
            <a:spAutoFit/>
          </a:bodyPr>
          <a:lstStyle/>
          <a:p>
            <a:pPr>
              <a:spcAft>
                <a:spcPts val="700"/>
              </a:spcAft>
              <a:defRPr sz="900" b="0">
                <a:solidFill>
                  <a:srgbClr val="5A6B7E"/>
                </a:solidFill>
                <a:latin typeface="DejaVu Sans"/>
              </a:defRPr>
            </a:pPr>
            <a:r>
              <a:t>NHÓM 11 · 23CN2  |  KIỂM THỬ &amp; ĐẢM BẢO CHẤT LƯỢNG PHẦN MỀM</a:t>
            </a:r>
          </a:p>
        </p:txBody>
      </p:sp>
      <p:sp>
        <p:nvSpPr>
          <p:cNvPr id="7" name="TextBox 6"/>
          <p:cNvSpPr txBox="1"/>
          <p:nvPr/>
        </p:nvSpPr>
        <p:spPr>
          <a:xfrm>
            <a:off x="11064240" y="6473952"/>
            <a:ext cx="548640" cy="228600"/>
          </a:xfrm>
          <a:prstGeom prst="rect">
            <a:avLst/>
          </a:prstGeom>
          <a:noFill/>
        </p:spPr>
        <p:txBody>
          <a:bodyPr wrap="square" lIns="18288" rIns="18288" tIns="18288" bIns="18288">
            <a:spAutoFit/>
          </a:bodyPr>
          <a:lstStyle/>
          <a:p>
            <a:pPr algn="r">
              <a:spcAft>
                <a:spcPts val="700"/>
              </a:spcAft>
              <a:defRPr sz="1200" b="1">
                <a:solidFill>
                  <a:srgbClr val="245AD3"/>
                </a:solidFill>
                <a:latin typeface="DejaVu Sans"/>
              </a:defRPr>
            </a:pPr>
            <a:r>
              <a:t>02</a:t>
            </a:r>
          </a:p>
        </p:txBody>
      </p:sp>
      <p:sp>
        <p:nvSpPr>
          <p:cNvPr id="8" name="TextBox 7"/>
          <p:cNvSpPr txBox="1"/>
          <p:nvPr/>
        </p:nvSpPr>
        <p:spPr>
          <a:xfrm>
            <a:off x="530352" y="6126480"/>
            <a:ext cx="10972800" cy="210312"/>
          </a:xfrm>
          <a:prstGeom prst="rect">
            <a:avLst/>
          </a:prstGeom>
          <a:noFill/>
        </p:spPr>
        <p:txBody>
          <a:bodyPr wrap="square" lIns="18288" rIns="18288" tIns="18288" bIns="18288">
            <a:spAutoFit/>
          </a:bodyPr>
          <a:lstStyle/>
          <a:p>
            <a:pPr>
              <a:spcAft>
                <a:spcPts val="700"/>
              </a:spcAft>
              <a:defRPr sz="900" b="0">
                <a:solidFill>
                  <a:srgbClr val="5A6B7E"/>
                </a:solidFill>
                <a:latin typeface="DejaVu Sans"/>
              </a:defRPr>
            </a:pPr>
            <a:r>
              <a:t>Nguồn: Word §3.1, §4.1–4.4; Excel Postman / Test_cases</a:t>
            </a:r>
          </a:p>
        </p:txBody>
      </p:sp>
      <p:sp>
        <p:nvSpPr>
          <p:cNvPr id="9" name="Rounded Rectangle 8"/>
          <p:cNvSpPr/>
          <p:nvPr/>
        </p:nvSpPr>
        <p:spPr>
          <a:xfrm>
            <a:off x="530352" y="1691640"/>
            <a:ext cx="3529584" cy="3200400"/>
          </a:xfrm>
          <a:prstGeom prst="roundRect">
            <a:avLst>
              <a:gd name="adj" fmla="val 12000"/>
            </a:avLst>
          </a:prstGeom>
          <a:solidFill>
            <a:srgbClr val="FFFFFF"/>
          </a:solidFill>
          <a:ln>
            <a:solidFill>
              <a:srgbClr val="DB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30352" y="1691640"/>
            <a:ext cx="59436" cy="3200400"/>
          </a:xfrm>
          <a:prstGeom prst="rect">
            <a:avLst/>
          </a:prstGeom>
          <a:solidFill>
            <a:srgbClr val="245A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19" y="1837944"/>
            <a:ext cx="3145536" cy="530352"/>
          </a:xfrm>
          <a:prstGeom prst="rect">
            <a:avLst/>
          </a:prstGeom>
          <a:noFill/>
        </p:spPr>
        <p:txBody>
          <a:bodyPr wrap="square" lIns="18288" rIns="18288" tIns="18288" bIns="18288">
            <a:spAutoFit/>
          </a:bodyPr>
          <a:lstStyle/>
          <a:p>
            <a:pPr>
              <a:spcAft>
                <a:spcPts val="700"/>
              </a:spcAft>
              <a:defRPr sz="2000" b="1">
                <a:solidFill>
                  <a:srgbClr val="245AD3"/>
                </a:solidFill>
                <a:latin typeface="DejaVu Sans"/>
              </a:defRPr>
            </a:pPr>
            <a:r>
              <a:t>Đầu vào</a:t>
            </a:r>
          </a:p>
        </p:txBody>
      </p:sp>
      <p:sp>
        <p:nvSpPr>
          <p:cNvPr id="12" name="TextBox 11"/>
          <p:cNvSpPr txBox="1"/>
          <p:nvPr/>
        </p:nvSpPr>
        <p:spPr>
          <a:xfrm>
            <a:off x="731519" y="2478024"/>
            <a:ext cx="3145536" cy="2313432"/>
          </a:xfrm>
          <a:prstGeom prst="rect">
            <a:avLst/>
          </a:prstGeom>
          <a:noFill/>
        </p:spPr>
        <p:txBody>
          <a:bodyPr wrap="square" lIns="18288" rIns="18288" tIns="18288" bIns="18288">
            <a:spAutoFit/>
          </a:bodyPr>
          <a:lstStyle/>
          <a:p>
            <a:pPr>
              <a:spcAft>
                <a:spcPts val="700"/>
              </a:spcAft>
              <a:defRPr sz="2000" b="0">
                <a:solidFill>
                  <a:srgbClr val="23384F"/>
                </a:solidFill>
                <a:latin typeface="DejaVu Sans"/>
              </a:defRPr>
            </a:pPr>
            <a:r>
              <a:t>Gaming / Rendering</a:t>
            </a:r>
          </a:p>
          <a:p>
            <a:pPr>
              <a:spcAft>
                <a:spcPts val="700"/>
              </a:spcAft>
              <a:defRPr sz="2000" b="0">
                <a:solidFill>
                  <a:srgbClr val="23384F"/>
                </a:solidFill>
                <a:latin typeface="DejaVu Sans"/>
              </a:defRPr>
            </a:pPr>
            <a:r>
              <a:t>Khoảng ngân sách</a:t>
            </a:r>
          </a:p>
          <a:p>
            <a:pPr>
              <a:spcAft>
                <a:spcPts val="700"/>
              </a:spcAft>
              <a:defRPr sz="2000" b="0">
                <a:solidFill>
                  <a:srgbClr val="23384F"/>
                </a:solidFill>
                <a:latin typeface="DejaVu Sans"/>
              </a:defRPr>
            </a:pPr>
            <a:r>
              <a:t>Top 1–3</a:t>
            </a:r>
          </a:p>
        </p:txBody>
      </p:sp>
      <p:sp>
        <p:nvSpPr>
          <p:cNvPr id="13" name="Rounded Rectangle 12"/>
          <p:cNvSpPr/>
          <p:nvPr/>
        </p:nvSpPr>
        <p:spPr>
          <a:xfrm>
            <a:off x="4325112" y="1691640"/>
            <a:ext cx="3529584" cy="3200400"/>
          </a:xfrm>
          <a:prstGeom prst="roundRect">
            <a:avLst>
              <a:gd name="adj" fmla="val 12000"/>
            </a:avLst>
          </a:prstGeom>
          <a:solidFill>
            <a:srgbClr val="FFFFFF"/>
          </a:solidFill>
          <a:ln>
            <a:solidFill>
              <a:srgbClr val="DB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25112" y="1691640"/>
            <a:ext cx="59436" cy="32004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6280" y="1837944"/>
            <a:ext cx="3145536" cy="530352"/>
          </a:xfrm>
          <a:prstGeom prst="rect">
            <a:avLst/>
          </a:prstGeom>
          <a:noFill/>
        </p:spPr>
        <p:txBody>
          <a:bodyPr wrap="square" lIns="18288" rIns="18288" tIns="18288" bIns="18288">
            <a:spAutoFit/>
          </a:bodyPr>
          <a:lstStyle/>
          <a:p>
            <a:pPr>
              <a:spcAft>
                <a:spcPts val="700"/>
              </a:spcAft>
              <a:defRPr sz="2000" b="1">
                <a:solidFill>
                  <a:srgbClr val="087F83"/>
                </a:solidFill>
                <a:latin typeface="DejaVu Sans"/>
              </a:defRPr>
            </a:pPr>
            <a:r>
              <a:t>Hành vi cần kiểm tra</a:t>
            </a:r>
          </a:p>
        </p:txBody>
      </p:sp>
      <p:sp>
        <p:nvSpPr>
          <p:cNvPr id="16" name="TextBox 15"/>
          <p:cNvSpPr txBox="1"/>
          <p:nvPr/>
        </p:nvSpPr>
        <p:spPr>
          <a:xfrm>
            <a:off x="4526280" y="2478024"/>
            <a:ext cx="3145536" cy="2313432"/>
          </a:xfrm>
          <a:prstGeom prst="rect">
            <a:avLst/>
          </a:prstGeom>
          <a:noFill/>
        </p:spPr>
        <p:txBody>
          <a:bodyPr wrap="square" lIns="18288" rIns="18288" tIns="18288" bIns="18288">
            <a:spAutoFit/>
          </a:bodyPr>
          <a:lstStyle/>
          <a:p>
            <a:pPr>
              <a:spcAft>
                <a:spcPts val="700"/>
              </a:spcAft>
              <a:defRPr sz="2000" b="0">
                <a:solidFill>
                  <a:srgbClr val="23384F"/>
                </a:solidFill>
                <a:latin typeface="DejaVu Sans"/>
              </a:defRPr>
            </a:pPr>
            <a:r>
              <a:t>Lọc và xếp hạng đúng</a:t>
            </a:r>
          </a:p>
          <a:p>
            <a:pPr>
              <a:spcAft>
                <a:spcPts val="700"/>
              </a:spcAft>
              <a:defRPr sz="2000" b="0">
                <a:solidFill>
                  <a:srgbClr val="23384F"/>
                </a:solidFill>
                <a:latin typeface="DejaVu Sans"/>
              </a:defRPr>
            </a:pPr>
            <a:r>
              <a:t>Phản hồi lỗi đúng</a:t>
            </a:r>
          </a:p>
          <a:p>
            <a:pPr>
              <a:spcAft>
                <a:spcPts val="700"/>
              </a:spcAft>
              <a:defRPr sz="2000" b="0">
                <a:solidFill>
                  <a:srgbClr val="23384F"/>
                </a:solidFill>
                <a:latin typeface="DejaVu Sans"/>
              </a:defRPr>
            </a:pPr>
            <a:r>
              <a:t>Hiển thị nhất quán</a:t>
            </a:r>
          </a:p>
        </p:txBody>
      </p:sp>
      <p:sp>
        <p:nvSpPr>
          <p:cNvPr id="17" name="Rounded Rectangle 16"/>
          <p:cNvSpPr/>
          <p:nvPr/>
        </p:nvSpPr>
        <p:spPr>
          <a:xfrm>
            <a:off x="8119872" y="1691640"/>
            <a:ext cx="3529584" cy="3200400"/>
          </a:xfrm>
          <a:prstGeom prst="roundRect">
            <a:avLst>
              <a:gd name="adj" fmla="val 12000"/>
            </a:avLst>
          </a:prstGeom>
          <a:solidFill>
            <a:srgbClr val="FFFFFF"/>
          </a:solidFill>
          <a:ln>
            <a:solidFill>
              <a:srgbClr val="DB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19872" y="1691640"/>
            <a:ext cx="59436" cy="3200400"/>
          </a:xfrm>
          <a:prstGeom prst="rect">
            <a:avLst/>
          </a:prstGeom>
          <a:solidFill>
            <a:srgbClr val="245A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21040" y="1837944"/>
            <a:ext cx="3145536" cy="530352"/>
          </a:xfrm>
          <a:prstGeom prst="rect">
            <a:avLst/>
          </a:prstGeom>
          <a:noFill/>
        </p:spPr>
        <p:txBody>
          <a:bodyPr wrap="square" lIns="18288" rIns="18288" tIns="18288" bIns="18288">
            <a:spAutoFit/>
          </a:bodyPr>
          <a:lstStyle/>
          <a:p>
            <a:pPr>
              <a:spcAft>
                <a:spcPts val="700"/>
              </a:spcAft>
              <a:defRPr sz="2000" b="1">
                <a:solidFill>
                  <a:srgbClr val="245AD3"/>
                </a:solidFill>
                <a:latin typeface="DejaVu Sans"/>
              </a:defRPr>
            </a:pPr>
            <a:r>
              <a:t>Bằng chứng</a:t>
            </a:r>
          </a:p>
        </p:txBody>
      </p:sp>
      <p:sp>
        <p:nvSpPr>
          <p:cNvPr id="20" name="TextBox 19"/>
          <p:cNvSpPr txBox="1"/>
          <p:nvPr/>
        </p:nvSpPr>
        <p:spPr>
          <a:xfrm>
            <a:off x="8321040" y="2478024"/>
            <a:ext cx="3145536" cy="2313432"/>
          </a:xfrm>
          <a:prstGeom prst="rect">
            <a:avLst/>
          </a:prstGeom>
          <a:noFill/>
        </p:spPr>
        <p:txBody>
          <a:bodyPr wrap="square" lIns="18288" rIns="18288" tIns="18288" bIns="18288">
            <a:spAutoFit/>
          </a:bodyPr>
          <a:lstStyle/>
          <a:p>
            <a:pPr>
              <a:spcAft>
                <a:spcPts val="700"/>
              </a:spcAft>
              <a:defRPr sz="2000" b="0">
                <a:solidFill>
                  <a:srgbClr val="23384F"/>
                </a:solidFill>
                <a:latin typeface="DejaVu Sans"/>
              </a:defRPr>
            </a:pPr>
            <a:r>
              <a:t>Expected ↔ Actual</a:t>
            </a:r>
          </a:p>
          <a:p>
            <a:pPr>
              <a:spcAft>
                <a:spcPts val="700"/>
              </a:spcAft>
              <a:defRPr sz="2000" b="0">
                <a:solidFill>
                  <a:srgbClr val="23384F"/>
                </a:solidFill>
                <a:latin typeface="DejaVu Sans"/>
              </a:defRPr>
            </a:pPr>
            <a:r>
              <a:t>Pass / Fail / Blocked</a:t>
            </a:r>
          </a:p>
          <a:p>
            <a:pPr>
              <a:spcAft>
                <a:spcPts val="700"/>
              </a:spcAft>
              <a:defRPr sz="2000" b="0">
                <a:solidFill>
                  <a:srgbClr val="23384F"/>
                </a:solidFill>
                <a:latin typeface="DejaVu Sans"/>
              </a:defRPr>
            </a:pPr>
            <a:r>
              <a:t>Ảnh, JSON, báo cáo chạy</a:t>
            </a:r>
          </a:p>
        </p:txBody>
      </p:sp>
      <p:sp>
        <p:nvSpPr>
          <p:cNvPr id="21" name="Rounded Rectangle 20"/>
          <p:cNvSpPr/>
          <p:nvPr/>
        </p:nvSpPr>
        <p:spPr>
          <a:xfrm>
            <a:off x="530352" y="5532120"/>
            <a:ext cx="11109960" cy="438912"/>
          </a:xfrm>
          <a:prstGeom prst="roundRect">
            <a:avLst>
              <a:gd name="adj" fmla="val 12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4944" y="5582412"/>
            <a:ext cx="10789920" cy="338328"/>
          </a:xfrm>
          <a:prstGeom prst="rect">
            <a:avLst/>
          </a:prstGeom>
          <a:noFill/>
        </p:spPr>
        <p:txBody>
          <a:bodyPr wrap="square" lIns="18288" rIns="18288" tIns="18288" bIns="18288">
            <a:spAutoFit/>
          </a:bodyPr>
          <a:lstStyle/>
          <a:p>
            <a:pPr>
              <a:spcAft>
                <a:spcPts val="700"/>
              </a:spcAft>
              <a:defRPr sz="2000" b="1">
                <a:solidFill>
                  <a:srgbClr val="087F83"/>
                </a:solidFill>
                <a:latin typeface="DejaVu Sans"/>
              </a:defRPr>
            </a:pPr>
            <a:r>
              <a:t>Yêu cầu → Testcase → Thực thi → Đối chiếu → Ghi nhận lỗi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245A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75488" y="265176"/>
            <a:ext cx="10972800" cy="274320"/>
          </a:xfrm>
          <a:prstGeom prst="rect">
            <a:avLst/>
          </a:prstGeom>
          <a:noFill/>
        </p:spPr>
        <p:txBody>
          <a:bodyPr wrap="square" lIns="18288" rIns="18288" tIns="18288" bIns="18288">
            <a:spAutoFit/>
          </a:bodyPr>
          <a:lstStyle/>
          <a:p>
            <a:pPr>
              <a:spcAft>
                <a:spcPts val="700"/>
              </a:spcAft>
              <a:defRPr sz="1100" b="1">
                <a:solidFill>
                  <a:srgbClr val="087F83"/>
                </a:solidFill>
                <a:latin typeface="DejaVu Sans"/>
              </a:defRPr>
            </a:pPr>
            <a:r>
              <a:t>KIẾN TRÚC &amp; PHẠM VI</a:t>
            </a:r>
          </a:p>
        </p:txBody>
      </p:sp>
      <p:sp>
        <p:nvSpPr>
          <p:cNvPr id="4" name="TextBox 3"/>
          <p:cNvSpPr txBox="1"/>
          <p:nvPr/>
        </p:nvSpPr>
        <p:spPr>
          <a:xfrm>
            <a:off x="475488" y="740664"/>
            <a:ext cx="11201400" cy="640080"/>
          </a:xfrm>
          <a:prstGeom prst="rect">
            <a:avLst/>
          </a:prstGeom>
          <a:noFill/>
        </p:spPr>
        <p:txBody>
          <a:bodyPr wrap="square" lIns="18288" rIns="18288" tIns="18288" bIns="18288">
            <a:spAutoFit/>
          </a:bodyPr>
          <a:lstStyle/>
          <a:p>
            <a:pPr>
              <a:spcAft>
                <a:spcPts val="700"/>
              </a:spcAft>
              <a:defRPr sz="3000" b="1">
                <a:solidFill>
                  <a:srgbClr val="142B49"/>
                </a:solidFill>
                <a:latin typeface="DejaVu Sans"/>
              </a:defRPr>
            </a:pPr>
            <a:r>
              <a:t>Hai lớp kiểm thử, cùng một luồng dữ liệu</a:t>
            </a:r>
          </a:p>
        </p:txBody>
      </p:sp>
      <p:sp>
        <p:nvSpPr>
          <p:cNvPr id="5" name="Rectangle 4"/>
          <p:cNvSpPr/>
          <p:nvPr/>
        </p:nvSpPr>
        <p:spPr>
          <a:xfrm>
            <a:off x="502920" y="6419088"/>
            <a:ext cx="11155680" cy="10972"/>
          </a:xfrm>
          <a:prstGeom prst="rect">
            <a:avLst/>
          </a:prstGeom>
          <a:solidFill>
            <a:srgbClr val="DB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8229600" cy="182880"/>
          </a:xfrm>
          <a:prstGeom prst="rect">
            <a:avLst/>
          </a:prstGeom>
          <a:noFill/>
        </p:spPr>
        <p:txBody>
          <a:bodyPr wrap="square" lIns="18288" rIns="18288" tIns="18288" bIns="18288">
            <a:spAutoFit/>
          </a:bodyPr>
          <a:lstStyle/>
          <a:p>
            <a:pPr>
              <a:spcAft>
                <a:spcPts val="700"/>
              </a:spcAft>
              <a:defRPr sz="900" b="0">
                <a:solidFill>
                  <a:srgbClr val="5A6B7E"/>
                </a:solidFill>
                <a:latin typeface="DejaVu Sans"/>
              </a:defRPr>
            </a:pPr>
            <a:r>
              <a:t>NHÓM 11 · 23CN2  |  KIỂM THỬ &amp; ĐẢM BẢO CHẤT LƯỢNG PHẦN MỀM</a:t>
            </a:r>
          </a:p>
        </p:txBody>
      </p:sp>
      <p:sp>
        <p:nvSpPr>
          <p:cNvPr id="7" name="TextBox 6"/>
          <p:cNvSpPr txBox="1"/>
          <p:nvPr/>
        </p:nvSpPr>
        <p:spPr>
          <a:xfrm>
            <a:off x="11064240" y="6473952"/>
            <a:ext cx="548640" cy="228600"/>
          </a:xfrm>
          <a:prstGeom prst="rect">
            <a:avLst/>
          </a:prstGeom>
          <a:noFill/>
        </p:spPr>
        <p:txBody>
          <a:bodyPr wrap="square" lIns="18288" rIns="18288" tIns="18288" bIns="18288">
            <a:spAutoFit/>
          </a:bodyPr>
          <a:lstStyle/>
          <a:p>
            <a:pPr algn="r">
              <a:spcAft>
                <a:spcPts val="700"/>
              </a:spcAft>
              <a:defRPr sz="1200" b="1">
                <a:solidFill>
                  <a:srgbClr val="245AD3"/>
                </a:solidFill>
                <a:latin typeface="DejaVu Sans"/>
              </a:defRPr>
            </a:pPr>
            <a:r>
              <a:t>03</a:t>
            </a:r>
          </a:p>
        </p:txBody>
      </p:sp>
      <p:sp>
        <p:nvSpPr>
          <p:cNvPr id="8" name="TextBox 7"/>
          <p:cNvSpPr txBox="1"/>
          <p:nvPr/>
        </p:nvSpPr>
        <p:spPr>
          <a:xfrm>
            <a:off x="530352" y="6126480"/>
            <a:ext cx="10972800" cy="210312"/>
          </a:xfrm>
          <a:prstGeom prst="rect">
            <a:avLst/>
          </a:prstGeom>
          <a:noFill/>
        </p:spPr>
        <p:txBody>
          <a:bodyPr wrap="square" lIns="18288" rIns="18288" tIns="18288" bIns="18288">
            <a:spAutoFit/>
          </a:bodyPr>
          <a:lstStyle/>
          <a:p>
            <a:pPr>
              <a:spcAft>
                <a:spcPts val="700"/>
              </a:spcAft>
              <a:defRPr sz="900" b="0">
                <a:solidFill>
                  <a:srgbClr val="5A6B7E"/>
                </a:solidFill>
                <a:latin typeface="DejaVu Sans"/>
              </a:defRPr>
            </a:pPr>
            <a:r>
              <a:t>Nguồn: Word Hình 3.1.1; §4.1; PM-001</a:t>
            </a:r>
          </a:p>
        </p:txBody>
      </p:sp>
      <p:sp>
        <p:nvSpPr>
          <p:cNvPr id="9" name="Rounded Rectangle 8"/>
          <p:cNvSpPr/>
          <p:nvPr/>
        </p:nvSpPr>
        <p:spPr>
          <a:xfrm>
            <a:off x="914400" y="2377440"/>
            <a:ext cx="3063240" cy="1508760"/>
          </a:xfrm>
          <a:prstGeom prst="roundRect">
            <a:avLst>
              <a:gd name="adj" fmla="val 12000"/>
            </a:avLst>
          </a:prstGeom>
          <a:solidFill>
            <a:srgbClr val="FFFFFF"/>
          </a:solidFill>
          <a:ln>
            <a:solidFill>
              <a:srgbClr val="DB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2532888"/>
            <a:ext cx="2788920" cy="777240"/>
          </a:xfrm>
          <a:prstGeom prst="rect">
            <a:avLst/>
          </a:prstGeom>
          <a:noFill/>
        </p:spPr>
        <p:txBody>
          <a:bodyPr wrap="square" lIns="18288" rIns="18288" tIns="18288" bIns="18288">
            <a:spAutoFit/>
          </a:bodyPr>
          <a:lstStyle/>
          <a:p>
            <a:pPr algn="ctr">
              <a:spcAft>
                <a:spcPts val="700"/>
              </a:spcAft>
              <a:defRPr sz="2000" b="1">
                <a:solidFill>
                  <a:srgbClr val="245AD3"/>
                </a:solidFill>
                <a:latin typeface="DejaVu Sans"/>
              </a:defRPr>
            </a:pPr>
            <a:r>
              <a:t>React</a:t>
            </a:r>
          </a:p>
        </p:txBody>
      </p:sp>
      <p:sp>
        <p:nvSpPr>
          <p:cNvPr id="11" name="TextBox 10"/>
          <p:cNvSpPr txBox="1"/>
          <p:nvPr/>
        </p:nvSpPr>
        <p:spPr>
          <a:xfrm>
            <a:off x="1051560" y="3337560"/>
            <a:ext cx="2788920" cy="521207"/>
          </a:xfrm>
          <a:prstGeom prst="rect">
            <a:avLst/>
          </a:prstGeom>
          <a:noFill/>
        </p:spPr>
        <p:txBody>
          <a:bodyPr wrap="square" lIns="18288" rIns="18288" tIns="18288" bIns="18288">
            <a:spAutoFit/>
          </a:bodyPr>
          <a:lstStyle/>
          <a:p>
            <a:pPr algn="ctr">
              <a:spcAft>
                <a:spcPts val="700"/>
              </a:spcAft>
              <a:defRPr sz="1500" b="0">
                <a:solidFill>
                  <a:srgbClr val="23384F"/>
                </a:solidFill>
                <a:latin typeface="DejaVu Sans"/>
              </a:defRPr>
            </a:pPr>
            <a:r>
              <a:t>Form và kết quả UI</a:t>
            </a:r>
          </a:p>
        </p:txBody>
      </p:sp>
      <p:sp>
        <p:nvSpPr>
          <p:cNvPr id="12" name="Rounded Rectangle 11"/>
          <p:cNvSpPr/>
          <p:nvPr/>
        </p:nvSpPr>
        <p:spPr>
          <a:xfrm>
            <a:off x="4572000" y="2377440"/>
            <a:ext cx="3063240" cy="1508760"/>
          </a:xfrm>
          <a:prstGeom prst="roundRect">
            <a:avLst>
              <a:gd name="adj" fmla="val 12000"/>
            </a:avLst>
          </a:prstGeom>
          <a:solidFill>
            <a:srgbClr val="FFFFFF"/>
          </a:solidFill>
          <a:ln>
            <a:solidFill>
              <a:srgbClr val="DB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09160" y="2532888"/>
            <a:ext cx="2788920" cy="777240"/>
          </a:xfrm>
          <a:prstGeom prst="rect">
            <a:avLst/>
          </a:prstGeom>
          <a:noFill/>
        </p:spPr>
        <p:txBody>
          <a:bodyPr wrap="square" lIns="18288" rIns="18288" tIns="18288" bIns="18288">
            <a:spAutoFit/>
          </a:bodyPr>
          <a:lstStyle/>
          <a:p>
            <a:pPr algn="ctr">
              <a:spcAft>
                <a:spcPts val="700"/>
              </a:spcAft>
              <a:defRPr sz="2000" b="1">
                <a:solidFill>
                  <a:srgbClr val="245AD3"/>
                </a:solidFill>
                <a:latin typeface="DejaVu Sans"/>
              </a:defRPr>
            </a:pPr>
            <a:r>
              <a:t>ASP.NET Core API</a:t>
            </a:r>
          </a:p>
        </p:txBody>
      </p:sp>
      <p:sp>
        <p:nvSpPr>
          <p:cNvPr id="14" name="TextBox 13"/>
          <p:cNvSpPr txBox="1"/>
          <p:nvPr/>
        </p:nvSpPr>
        <p:spPr>
          <a:xfrm>
            <a:off x="4709160" y="3337560"/>
            <a:ext cx="2788920" cy="521207"/>
          </a:xfrm>
          <a:prstGeom prst="rect">
            <a:avLst/>
          </a:prstGeom>
          <a:noFill/>
        </p:spPr>
        <p:txBody>
          <a:bodyPr wrap="square" lIns="18288" rIns="18288" tIns="18288" bIns="18288">
            <a:spAutoFit/>
          </a:bodyPr>
          <a:lstStyle/>
          <a:p>
            <a:pPr algn="ctr">
              <a:spcAft>
                <a:spcPts val="700"/>
              </a:spcAft>
              <a:defRPr sz="1500" b="0">
                <a:solidFill>
                  <a:srgbClr val="23384F"/>
                </a:solidFill>
                <a:latin typeface="DejaVu Sans"/>
              </a:defRPr>
            </a:pPr>
            <a:r>
              <a:t>Validation · nghiệp vụ</a:t>
            </a:r>
          </a:p>
        </p:txBody>
      </p:sp>
      <p:sp>
        <p:nvSpPr>
          <p:cNvPr id="15" name="Rounded Rectangle 14"/>
          <p:cNvSpPr/>
          <p:nvPr/>
        </p:nvSpPr>
        <p:spPr>
          <a:xfrm>
            <a:off x="8229600" y="2377440"/>
            <a:ext cx="3063240" cy="1508760"/>
          </a:xfrm>
          <a:prstGeom prst="roundRect">
            <a:avLst>
              <a:gd name="adj" fmla="val 12000"/>
            </a:avLst>
          </a:prstGeom>
          <a:solidFill>
            <a:srgbClr val="FFFFFF"/>
          </a:solidFill>
          <a:ln>
            <a:solidFill>
              <a:srgbClr val="DB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66760" y="2532888"/>
            <a:ext cx="2788920" cy="777240"/>
          </a:xfrm>
          <a:prstGeom prst="rect">
            <a:avLst/>
          </a:prstGeom>
          <a:noFill/>
        </p:spPr>
        <p:txBody>
          <a:bodyPr wrap="square" lIns="18288" rIns="18288" tIns="18288" bIns="18288">
            <a:spAutoFit/>
          </a:bodyPr>
          <a:lstStyle/>
          <a:p>
            <a:pPr algn="ctr">
              <a:spcAft>
                <a:spcPts val="700"/>
              </a:spcAft>
              <a:defRPr sz="2000" b="1">
                <a:solidFill>
                  <a:srgbClr val="245AD3"/>
                </a:solidFill>
                <a:latin typeface="DejaVu Sans"/>
              </a:defRPr>
            </a:pPr>
            <a:r>
              <a:t>CSV + tệp mô hình</a:t>
            </a:r>
          </a:p>
        </p:txBody>
      </p:sp>
      <p:sp>
        <p:nvSpPr>
          <p:cNvPr id="17" name="TextBox 16"/>
          <p:cNvSpPr txBox="1"/>
          <p:nvPr/>
        </p:nvSpPr>
        <p:spPr>
          <a:xfrm>
            <a:off x="8366760" y="3337560"/>
            <a:ext cx="2788920" cy="521207"/>
          </a:xfrm>
          <a:prstGeom prst="rect">
            <a:avLst/>
          </a:prstGeom>
          <a:noFill/>
        </p:spPr>
        <p:txBody>
          <a:bodyPr wrap="square" lIns="18288" rIns="18288" tIns="18288" bIns="18288">
            <a:spAutoFit/>
          </a:bodyPr>
          <a:lstStyle/>
          <a:p>
            <a:pPr algn="ctr">
              <a:spcAft>
                <a:spcPts val="700"/>
              </a:spcAft>
              <a:defRPr sz="1500" b="0">
                <a:solidFill>
                  <a:srgbClr val="23384F"/>
                </a:solidFill>
                <a:latin typeface="DejaVu Sans"/>
              </a:defRPr>
            </a:pPr>
            <a:r>
              <a:t>Catalog · reference</a:t>
            </a:r>
          </a:p>
          <a:p>
            <a:pPr algn="ctr">
              <a:spcAft>
                <a:spcPts val="700"/>
              </a:spcAft>
              <a:defRPr sz="1500" b="0">
                <a:solidFill>
                  <a:srgbClr val="23384F"/>
                </a:solidFill>
                <a:latin typeface="DejaVu Sans"/>
              </a:defRPr>
            </a:pPr>
            <a:r>
              <a:t>Metadata mô hình</a:t>
            </a:r>
          </a:p>
        </p:txBody>
      </p:sp>
      <p:sp>
        <p:nvSpPr>
          <p:cNvPr id="18" name="TextBox 17"/>
          <p:cNvSpPr txBox="1"/>
          <p:nvPr/>
        </p:nvSpPr>
        <p:spPr>
          <a:xfrm>
            <a:off x="4005072" y="2788920"/>
            <a:ext cx="548640" cy="457200"/>
          </a:xfrm>
          <a:prstGeom prst="rect">
            <a:avLst/>
          </a:prstGeom>
          <a:noFill/>
        </p:spPr>
        <p:txBody>
          <a:bodyPr wrap="square" lIns="18288" rIns="18288" tIns="18288" bIns="18288">
            <a:spAutoFit/>
          </a:bodyPr>
          <a:lstStyle/>
          <a:p>
            <a:pPr>
              <a:spcAft>
                <a:spcPts val="700"/>
              </a:spcAft>
              <a:defRPr sz="2900" b="1">
                <a:solidFill>
                  <a:srgbClr val="087F83"/>
                </a:solidFill>
                <a:latin typeface="DejaVu Sans"/>
              </a:defRPr>
            </a:pPr>
            <a:r>
              <a:t>↔</a:t>
            </a:r>
          </a:p>
        </p:txBody>
      </p:sp>
      <p:sp>
        <p:nvSpPr>
          <p:cNvPr id="19" name="TextBox 18"/>
          <p:cNvSpPr txBox="1"/>
          <p:nvPr/>
        </p:nvSpPr>
        <p:spPr>
          <a:xfrm>
            <a:off x="7662672" y="2788920"/>
            <a:ext cx="548640" cy="457200"/>
          </a:xfrm>
          <a:prstGeom prst="rect">
            <a:avLst/>
          </a:prstGeom>
          <a:noFill/>
        </p:spPr>
        <p:txBody>
          <a:bodyPr wrap="square" lIns="18288" rIns="18288" tIns="18288" bIns="18288">
            <a:spAutoFit/>
          </a:bodyPr>
          <a:lstStyle/>
          <a:p>
            <a:pPr>
              <a:spcAft>
                <a:spcPts val="700"/>
              </a:spcAft>
              <a:defRPr sz="2900" b="1">
                <a:solidFill>
                  <a:srgbClr val="087F83"/>
                </a:solidFill>
                <a:latin typeface="DejaVu Sans"/>
              </a:defRPr>
            </a:pPr>
            <a:r>
              <a:t>↔</a:t>
            </a:r>
          </a:p>
        </p:txBody>
      </p:sp>
      <p:sp>
        <p:nvSpPr>
          <p:cNvPr id="20" name="TextBox 19"/>
          <p:cNvSpPr txBox="1"/>
          <p:nvPr/>
        </p:nvSpPr>
        <p:spPr>
          <a:xfrm>
            <a:off x="731520" y="1664208"/>
            <a:ext cx="3474720" cy="411480"/>
          </a:xfrm>
          <a:prstGeom prst="rect">
            <a:avLst/>
          </a:prstGeom>
          <a:noFill/>
        </p:spPr>
        <p:txBody>
          <a:bodyPr wrap="square" lIns="18288" rIns="18288" tIns="18288" bIns="18288">
            <a:spAutoFit/>
          </a:bodyPr>
          <a:lstStyle/>
          <a:p>
            <a:pPr algn="ctr">
              <a:spcAft>
                <a:spcPts val="700"/>
              </a:spcAft>
              <a:defRPr sz="2000" b="1">
                <a:solidFill>
                  <a:srgbClr val="087F83"/>
                </a:solidFill>
                <a:latin typeface="DejaVu Sans"/>
              </a:defRPr>
            </a:pPr>
            <a:r>
              <a:t>Manual UI + Playwright</a:t>
            </a:r>
          </a:p>
        </p:txBody>
      </p:sp>
      <p:sp>
        <p:nvSpPr>
          <p:cNvPr id="21" name="TextBox 20"/>
          <p:cNvSpPr txBox="1"/>
          <p:nvPr/>
        </p:nvSpPr>
        <p:spPr>
          <a:xfrm>
            <a:off x="4416552" y="1664208"/>
            <a:ext cx="3429000" cy="411480"/>
          </a:xfrm>
          <a:prstGeom prst="rect">
            <a:avLst/>
          </a:prstGeom>
          <a:noFill/>
        </p:spPr>
        <p:txBody>
          <a:bodyPr wrap="square" lIns="18288" rIns="18288" tIns="18288" bIns="18288">
            <a:spAutoFit/>
          </a:bodyPr>
          <a:lstStyle/>
          <a:p>
            <a:pPr algn="ctr">
              <a:spcAft>
                <a:spcPts val="700"/>
              </a:spcAft>
              <a:defRPr sz="2000" b="1">
                <a:solidFill>
                  <a:srgbClr val="087F83"/>
                </a:solidFill>
                <a:latin typeface="DejaVu Sans"/>
              </a:defRPr>
            </a:pPr>
            <a:r>
              <a:t>Postman + Newman</a:t>
            </a:r>
          </a:p>
        </p:txBody>
      </p:sp>
      <p:sp>
        <p:nvSpPr>
          <p:cNvPr id="22" name="TextBox 21"/>
          <p:cNvSpPr txBox="1"/>
          <p:nvPr/>
        </p:nvSpPr>
        <p:spPr>
          <a:xfrm>
            <a:off x="914400" y="4224528"/>
            <a:ext cx="3200400" cy="822960"/>
          </a:xfrm>
          <a:prstGeom prst="rect">
            <a:avLst/>
          </a:prstGeom>
          <a:noFill/>
        </p:spPr>
        <p:txBody>
          <a:bodyPr wrap="square" lIns="18288" rIns="18288" tIns="18288" bIns="18288">
            <a:spAutoFit/>
          </a:bodyPr>
          <a:lstStyle/>
          <a:p>
            <a:pPr>
              <a:spcAft>
                <a:spcPts val="700"/>
              </a:spcAft>
              <a:defRPr sz="2000" b="0">
                <a:solidFill>
                  <a:srgbClr val="23384F"/>
                </a:solidFill>
                <a:latin typeface="DejaVu Sans"/>
              </a:defRPr>
            </a:pPr>
            <a:r>
              <a:t>Quan sát thao tác, request</a:t>
            </a:r>
          </a:p>
          <a:p>
            <a:pPr>
              <a:spcAft>
                <a:spcPts val="700"/>
              </a:spcAft>
              <a:defRPr sz="2000" b="0">
                <a:solidFill>
                  <a:srgbClr val="23384F"/>
                </a:solidFill>
                <a:latin typeface="DejaVu Sans"/>
              </a:defRPr>
            </a:pPr>
            <a:r>
              <a:t>và kết quả hiển thị</a:t>
            </a:r>
          </a:p>
        </p:txBody>
      </p:sp>
      <p:sp>
        <p:nvSpPr>
          <p:cNvPr id="23" name="TextBox 22"/>
          <p:cNvSpPr txBox="1"/>
          <p:nvPr/>
        </p:nvSpPr>
        <p:spPr>
          <a:xfrm>
            <a:off x="4572000" y="4224528"/>
            <a:ext cx="3200400" cy="822960"/>
          </a:xfrm>
          <a:prstGeom prst="rect">
            <a:avLst/>
          </a:prstGeom>
          <a:noFill/>
        </p:spPr>
        <p:txBody>
          <a:bodyPr wrap="square" lIns="18288" rIns="18288" tIns="18288" bIns="18288">
            <a:spAutoFit/>
          </a:bodyPr>
          <a:lstStyle/>
          <a:p>
            <a:pPr>
              <a:spcAft>
                <a:spcPts val="700"/>
              </a:spcAft>
              <a:defRPr sz="2000" b="0">
                <a:solidFill>
                  <a:srgbClr val="23384F"/>
                </a:solidFill>
                <a:latin typeface="DejaVu Sans"/>
              </a:defRPr>
            </a:pPr>
            <a:r>
              <a:t>Kiểm tra API độc lập</a:t>
            </a:r>
          </a:p>
          <a:p>
            <a:pPr>
              <a:spcAft>
                <a:spcPts val="700"/>
              </a:spcAft>
              <a:defRPr sz="2000" b="0">
                <a:solidFill>
                  <a:srgbClr val="23384F"/>
                </a:solidFill>
                <a:latin typeface="DejaVu Sans"/>
              </a:defRPr>
            </a:pPr>
            <a:r>
              <a:t>với giao diện</a:t>
            </a:r>
          </a:p>
        </p:txBody>
      </p:sp>
      <p:sp>
        <p:nvSpPr>
          <p:cNvPr id="24" name="TextBox 23"/>
          <p:cNvSpPr txBox="1"/>
          <p:nvPr/>
        </p:nvSpPr>
        <p:spPr>
          <a:xfrm>
            <a:off x="8229600" y="4224528"/>
            <a:ext cx="3200400" cy="822960"/>
          </a:xfrm>
          <a:prstGeom prst="rect">
            <a:avLst/>
          </a:prstGeom>
          <a:noFill/>
        </p:spPr>
        <p:txBody>
          <a:bodyPr wrap="square" lIns="18288" rIns="18288" tIns="18288" bIns="18288">
            <a:spAutoFit/>
          </a:bodyPr>
          <a:lstStyle/>
          <a:p>
            <a:pPr>
              <a:spcAft>
                <a:spcPts val="700"/>
              </a:spcAft>
              <a:defRPr sz="2000" b="0">
                <a:solidFill>
                  <a:srgbClr val="23384F"/>
                </a:solidFill>
                <a:latin typeface="DejaVu Sans"/>
              </a:defRPr>
            </a:pPr>
            <a:r>
              <a:t>Giữ cùng snapshot</a:t>
            </a:r>
          </a:p>
          <a:p>
            <a:pPr>
              <a:spcAft>
                <a:spcPts val="700"/>
              </a:spcAft>
              <a:defRPr sz="2000" b="0">
                <a:solidFill>
                  <a:srgbClr val="23384F"/>
                </a:solidFill>
                <a:latin typeface="DejaVu Sans"/>
              </a:defRPr>
            </a:pPr>
            <a:r>
              <a:t>khi đối chiếu kết quả</a:t>
            </a:r>
          </a:p>
        </p:txBody>
      </p:sp>
      <p:sp>
        <p:nvSpPr>
          <p:cNvPr id="25" name="Rounded Rectangle 24"/>
          <p:cNvSpPr/>
          <p:nvPr/>
        </p:nvSpPr>
        <p:spPr>
          <a:xfrm>
            <a:off x="530352" y="5532120"/>
            <a:ext cx="11109960" cy="438912"/>
          </a:xfrm>
          <a:prstGeom prst="roundRect">
            <a:avLst>
              <a:gd name="adj" fmla="val 12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4944" y="5582412"/>
            <a:ext cx="10789920" cy="338328"/>
          </a:xfrm>
          <a:prstGeom prst="rect">
            <a:avLst/>
          </a:prstGeom>
          <a:noFill/>
        </p:spPr>
        <p:txBody>
          <a:bodyPr wrap="square" lIns="18288" rIns="18288" tIns="18288" bIns="18288">
            <a:spAutoFit/>
          </a:bodyPr>
          <a:lstStyle/>
          <a:p>
            <a:pPr>
              <a:spcAft>
                <a:spcPts val="700"/>
              </a:spcAft>
              <a:defRPr sz="1900" b="1">
                <a:solidFill>
                  <a:srgbClr val="087F83"/>
                </a:solidFill>
                <a:latin typeface="DejaVu Sans"/>
              </a:defRPr>
            </a:pPr>
            <a:r>
              <a:t>Phạm vi thực thi: health, catalog, prediction và recommendation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245A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75488" y="265176"/>
            <a:ext cx="10972800" cy="274320"/>
          </a:xfrm>
          <a:prstGeom prst="rect">
            <a:avLst/>
          </a:prstGeom>
          <a:noFill/>
        </p:spPr>
        <p:txBody>
          <a:bodyPr wrap="square" lIns="18288" rIns="18288" tIns="18288" bIns="18288">
            <a:spAutoFit/>
          </a:bodyPr>
          <a:lstStyle/>
          <a:p>
            <a:pPr>
              <a:spcAft>
                <a:spcPts val="700"/>
              </a:spcAft>
              <a:defRPr sz="1100" b="1">
                <a:solidFill>
                  <a:srgbClr val="087F83"/>
                </a:solidFill>
                <a:latin typeface="DejaVu Sans"/>
              </a:defRPr>
            </a:pPr>
            <a:r>
              <a:t>CƠ SỞ CHẤM PASS / FAIL</a:t>
            </a:r>
          </a:p>
        </p:txBody>
      </p:sp>
      <p:sp>
        <p:nvSpPr>
          <p:cNvPr id="4" name="TextBox 3"/>
          <p:cNvSpPr txBox="1"/>
          <p:nvPr/>
        </p:nvSpPr>
        <p:spPr>
          <a:xfrm>
            <a:off x="475488" y="740664"/>
            <a:ext cx="11201400" cy="640080"/>
          </a:xfrm>
          <a:prstGeom prst="rect">
            <a:avLst/>
          </a:prstGeom>
          <a:noFill/>
        </p:spPr>
        <p:txBody>
          <a:bodyPr wrap="square" lIns="18288" rIns="18288" tIns="18288" bIns="18288">
            <a:spAutoFit/>
          </a:bodyPr>
          <a:lstStyle/>
          <a:p>
            <a:pPr>
              <a:spcAft>
                <a:spcPts val="700"/>
              </a:spcAft>
              <a:defRPr sz="3000" b="1">
                <a:solidFill>
                  <a:srgbClr val="142B49"/>
                </a:solidFill>
                <a:latin typeface="DejaVu Sans"/>
              </a:defRPr>
            </a:pPr>
            <a:r>
              <a:t>Đặc tả tạo ra kết quả mong đợi</a:t>
            </a:r>
          </a:p>
        </p:txBody>
      </p:sp>
      <p:sp>
        <p:nvSpPr>
          <p:cNvPr id="5" name="Rectangle 4"/>
          <p:cNvSpPr/>
          <p:nvPr/>
        </p:nvSpPr>
        <p:spPr>
          <a:xfrm>
            <a:off x="502920" y="6419088"/>
            <a:ext cx="11155680" cy="10972"/>
          </a:xfrm>
          <a:prstGeom prst="rect">
            <a:avLst/>
          </a:prstGeom>
          <a:solidFill>
            <a:srgbClr val="DB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8229600" cy="182880"/>
          </a:xfrm>
          <a:prstGeom prst="rect">
            <a:avLst/>
          </a:prstGeom>
          <a:noFill/>
        </p:spPr>
        <p:txBody>
          <a:bodyPr wrap="square" lIns="18288" rIns="18288" tIns="18288" bIns="18288">
            <a:spAutoFit/>
          </a:bodyPr>
          <a:lstStyle/>
          <a:p>
            <a:pPr>
              <a:spcAft>
                <a:spcPts val="700"/>
              </a:spcAft>
              <a:defRPr sz="900" b="0">
                <a:solidFill>
                  <a:srgbClr val="5A6B7E"/>
                </a:solidFill>
                <a:latin typeface="DejaVu Sans"/>
              </a:defRPr>
            </a:pPr>
            <a:r>
              <a:t>NHÓM 11 · 23CN2  |  KIỂM THỬ &amp; ĐẢM BẢO CHẤT LƯỢNG PHẦN MỀM</a:t>
            </a:r>
          </a:p>
        </p:txBody>
      </p:sp>
      <p:sp>
        <p:nvSpPr>
          <p:cNvPr id="7" name="TextBox 6"/>
          <p:cNvSpPr txBox="1"/>
          <p:nvPr/>
        </p:nvSpPr>
        <p:spPr>
          <a:xfrm>
            <a:off x="11064240" y="6473952"/>
            <a:ext cx="548640" cy="228600"/>
          </a:xfrm>
          <a:prstGeom prst="rect">
            <a:avLst/>
          </a:prstGeom>
          <a:noFill/>
        </p:spPr>
        <p:txBody>
          <a:bodyPr wrap="square" lIns="18288" rIns="18288" tIns="18288" bIns="18288">
            <a:spAutoFit/>
          </a:bodyPr>
          <a:lstStyle/>
          <a:p>
            <a:pPr algn="r">
              <a:spcAft>
                <a:spcPts val="700"/>
              </a:spcAft>
              <a:defRPr sz="1200" b="1">
                <a:solidFill>
                  <a:srgbClr val="245AD3"/>
                </a:solidFill>
                <a:latin typeface="DejaVu Sans"/>
              </a:defRPr>
            </a:pPr>
            <a:r>
              <a:t>04</a:t>
            </a:r>
          </a:p>
        </p:txBody>
      </p:sp>
      <p:sp>
        <p:nvSpPr>
          <p:cNvPr id="8" name="TextBox 7"/>
          <p:cNvSpPr txBox="1"/>
          <p:nvPr/>
        </p:nvSpPr>
        <p:spPr>
          <a:xfrm>
            <a:off x="530352" y="6126480"/>
            <a:ext cx="10972800" cy="210312"/>
          </a:xfrm>
          <a:prstGeom prst="rect">
            <a:avLst/>
          </a:prstGeom>
          <a:noFill/>
        </p:spPr>
        <p:txBody>
          <a:bodyPr wrap="square" lIns="18288" rIns="18288" tIns="18288" bIns="18288">
            <a:spAutoFit/>
          </a:bodyPr>
          <a:lstStyle/>
          <a:p>
            <a:pPr>
              <a:spcAft>
                <a:spcPts val="700"/>
              </a:spcAft>
              <a:defRPr sz="900" b="0">
                <a:solidFill>
                  <a:srgbClr val="5A6B7E"/>
                </a:solidFill>
                <a:latin typeface="DejaVu Sans"/>
              </a:defRPr>
            </a:pPr>
            <a:r>
              <a:t>Nguồn: Word §4.1, §4.4; Excel PM-011–PM-032</a:t>
            </a:r>
          </a:p>
        </p:txBody>
      </p:sp>
      <p:sp>
        <p:nvSpPr>
          <p:cNvPr id="9" name="Rectangle 8"/>
          <p:cNvSpPr/>
          <p:nvPr/>
        </p:nvSpPr>
        <p:spPr>
          <a:xfrm>
            <a:off x="530352" y="1673352"/>
            <a:ext cx="3108960" cy="630936"/>
          </a:xfrm>
          <a:prstGeom prst="rect">
            <a:avLst/>
          </a:prstGeom>
          <a:solidFill>
            <a:srgbClr val="142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783080"/>
            <a:ext cx="2907791" cy="493775"/>
          </a:xfrm>
          <a:prstGeom prst="rect">
            <a:avLst/>
          </a:prstGeom>
          <a:noFill/>
        </p:spPr>
        <p:txBody>
          <a:bodyPr wrap="square" lIns="18288" rIns="18288" tIns="18288" bIns="18288">
            <a:spAutoFit/>
          </a:bodyPr>
          <a:lstStyle/>
          <a:p>
            <a:pPr>
              <a:spcAft>
                <a:spcPts val="700"/>
              </a:spcAft>
              <a:defRPr sz="2000" b="1">
                <a:solidFill>
                  <a:srgbClr val="FFFFFF"/>
                </a:solidFill>
                <a:latin typeface="DejaVu Sans"/>
              </a:defRPr>
            </a:pPr>
            <a:r>
              <a:t>Đầu vào / quy tắc</a:t>
            </a:r>
          </a:p>
        </p:txBody>
      </p:sp>
      <p:sp>
        <p:nvSpPr>
          <p:cNvPr id="11" name="Rectangle 10"/>
          <p:cNvSpPr/>
          <p:nvPr/>
        </p:nvSpPr>
        <p:spPr>
          <a:xfrm>
            <a:off x="3639312" y="1673352"/>
            <a:ext cx="8001000" cy="630936"/>
          </a:xfrm>
          <a:prstGeom prst="rect">
            <a:avLst/>
          </a:prstGeom>
          <a:solidFill>
            <a:srgbClr val="142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49039" y="1783080"/>
            <a:ext cx="7799831" cy="493775"/>
          </a:xfrm>
          <a:prstGeom prst="rect">
            <a:avLst/>
          </a:prstGeom>
          <a:noFill/>
        </p:spPr>
        <p:txBody>
          <a:bodyPr wrap="square" lIns="18288" rIns="18288" tIns="18288" bIns="18288">
            <a:spAutoFit/>
          </a:bodyPr>
          <a:lstStyle/>
          <a:p>
            <a:pPr>
              <a:spcAft>
                <a:spcPts val="700"/>
              </a:spcAft>
              <a:defRPr sz="2000" b="1">
                <a:solidFill>
                  <a:srgbClr val="FFFFFF"/>
                </a:solidFill>
                <a:latin typeface="DejaVu Sans"/>
              </a:defRPr>
            </a:pPr>
            <a:r>
              <a:t>Điều kiện cần kiểm tra</a:t>
            </a:r>
          </a:p>
        </p:txBody>
      </p:sp>
      <p:sp>
        <p:nvSpPr>
          <p:cNvPr id="13" name="Rectangle 12"/>
          <p:cNvSpPr/>
          <p:nvPr/>
        </p:nvSpPr>
        <p:spPr>
          <a:xfrm>
            <a:off x="530352" y="2304288"/>
            <a:ext cx="3108960" cy="6309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414016"/>
            <a:ext cx="2907791" cy="493775"/>
          </a:xfrm>
          <a:prstGeom prst="rect">
            <a:avLst/>
          </a:prstGeom>
          <a:noFill/>
        </p:spPr>
        <p:txBody>
          <a:bodyPr wrap="square" lIns="18288" rIns="18288" tIns="18288" bIns="18288">
            <a:spAutoFit/>
          </a:bodyPr>
          <a:lstStyle/>
          <a:p>
            <a:pPr>
              <a:spcAft>
                <a:spcPts val="700"/>
              </a:spcAft>
              <a:defRPr sz="2000" b="1">
                <a:solidFill>
                  <a:srgbClr val="23384F"/>
                </a:solidFill>
                <a:latin typeface="DejaVu Sans"/>
              </a:defRPr>
            </a:pPr>
            <a:r>
              <a:t>Mục đích</a:t>
            </a:r>
          </a:p>
        </p:txBody>
      </p:sp>
      <p:sp>
        <p:nvSpPr>
          <p:cNvPr id="15" name="Rectangle 14"/>
          <p:cNvSpPr/>
          <p:nvPr/>
        </p:nvSpPr>
        <p:spPr>
          <a:xfrm>
            <a:off x="3639312" y="2304288"/>
            <a:ext cx="8001000" cy="6309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49039" y="2414016"/>
            <a:ext cx="7799831" cy="493775"/>
          </a:xfrm>
          <a:prstGeom prst="rect">
            <a:avLst/>
          </a:prstGeom>
          <a:noFill/>
        </p:spPr>
        <p:txBody>
          <a:bodyPr wrap="square" lIns="18288" rIns="18288" tIns="18288" bIns="18288">
            <a:spAutoFit/>
          </a:bodyPr>
          <a:lstStyle/>
          <a:p>
            <a:pPr>
              <a:spcAft>
                <a:spcPts val="700"/>
              </a:spcAft>
              <a:defRPr sz="2000" b="0">
                <a:solidFill>
                  <a:srgbClr val="23384F"/>
                </a:solidFill>
                <a:latin typeface="DejaVu Sans"/>
              </a:defRPr>
            </a:pPr>
            <a:r>
              <a:t>Gaming hoặc Rendering; đúng target tương ứng</a:t>
            </a:r>
          </a:p>
        </p:txBody>
      </p:sp>
      <p:sp>
        <p:nvSpPr>
          <p:cNvPr id="17" name="Rectangle 16"/>
          <p:cNvSpPr/>
          <p:nvPr/>
        </p:nvSpPr>
        <p:spPr>
          <a:xfrm>
            <a:off x="530352" y="2935224"/>
            <a:ext cx="3108960" cy="630936"/>
          </a:xfrm>
          <a:prstGeom prst="rect">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044952"/>
            <a:ext cx="2907791" cy="493775"/>
          </a:xfrm>
          <a:prstGeom prst="rect">
            <a:avLst/>
          </a:prstGeom>
          <a:noFill/>
        </p:spPr>
        <p:txBody>
          <a:bodyPr wrap="square" lIns="18288" rIns="18288" tIns="18288" bIns="18288">
            <a:spAutoFit/>
          </a:bodyPr>
          <a:lstStyle/>
          <a:p>
            <a:pPr>
              <a:spcAft>
                <a:spcPts val="700"/>
              </a:spcAft>
              <a:defRPr sz="2000" b="1">
                <a:solidFill>
                  <a:srgbClr val="23384F"/>
                </a:solidFill>
                <a:latin typeface="DejaVu Sans"/>
              </a:defRPr>
            </a:pPr>
            <a:r>
              <a:t>Khoảng giá</a:t>
            </a:r>
          </a:p>
        </p:txBody>
      </p:sp>
      <p:sp>
        <p:nvSpPr>
          <p:cNvPr id="19" name="Rectangle 18"/>
          <p:cNvSpPr/>
          <p:nvPr/>
        </p:nvSpPr>
        <p:spPr>
          <a:xfrm>
            <a:off x="3639312" y="2935224"/>
            <a:ext cx="8001000" cy="630936"/>
          </a:xfrm>
          <a:prstGeom prst="rect">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49039" y="3044952"/>
            <a:ext cx="7799831" cy="493775"/>
          </a:xfrm>
          <a:prstGeom prst="rect">
            <a:avLst/>
          </a:prstGeom>
          <a:noFill/>
        </p:spPr>
        <p:txBody>
          <a:bodyPr wrap="square" lIns="18288" rIns="18288" tIns="18288" bIns="18288">
            <a:spAutoFit/>
          </a:bodyPr>
          <a:lstStyle/>
          <a:p>
            <a:pPr>
              <a:spcAft>
                <a:spcPts val="700"/>
              </a:spcAft>
              <a:defRPr sz="2000" b="0">
                <a:solidFill>
                  <a:srgbClr val="23384F"/>
                </a:solidFill>
                <a:latin typeface="DejaVu Sans"/>
              </a:defRPr>
            </a:pPr>
            <a:r>
              <a:t>minBudget ≤ giá PC ≤ budget</a:t>
            </a:r>
          </a:p>
        </p:txBody>
      </p:sp>
      <p:sp>
        <p:nvSpPr>
          <p:cNvPr id="21" name="Rectangle 20"/>
          <p:cNvSpPr/>
          <p:nvPr/>
        </p:nvSpPr>
        <p:spPr>
          <a:xfrm>
            <a:off x="530352" y="3566160"/>
            <a:ext cx="3108960" cy="6309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3675887"/>
            <a:ext cx="2907791" cy="493775"/>
          </a:xfrm>
          <a:prstGeom prst="rect">
            <a:avLst/>
          </a:prstGeom>
          <a:noFill/>
        </p:spPr>
        <p:txBody>
          <a:bodyPr wrap="square" lIns="18288" rIns="18288" tIns="18288" bIns="18288">
            <a:spAutoFit/>
          </a:bodyPr>
          <a:lstStyle/>
          <a:p>
            <a:pPr>
              <a:spcAft>
                <a:spcPts val="700"/>
              </a:spcAft>
              <a:defRPr sz="2000" b="1">
                <a:solidFill>
                  <a:srgbClr val="23384F"/>
                </a:solidFill>
                <a:latin typeface="DejaVu Sans"/>
              </a:defRPr>
            </a:pPr>
            <a:r>
              <a:t>Top 1–3</a:t>
            </a:r>
          </a:p>
        </p:txBody>
      </p:sp>
      <p:sp>
        <p:nvSpPr>
          <p:cNvPr id="23" name="Rectangle 22"/>
          <p:cNvSpPr/>
          <p:nvPr/>
        </p:nvSpPr>
        <p:spPr>
          <a:xfrm>
            <a:off x="3639312" y="3566160"/>
            <a:ext cx="8001000" cy="6309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749039" y="3675887"/>
            <a:ext cx="7799831" cy="493775"/>
          </a:xfrm>
          <a:prstGeom prst="rect">
            <a:avLst/>
          </a:prstGeom>
          <a:noFill/>
        </p:spPr>
        <p:txBody>
          <a:bodyPr wrap="square" lIns="18288" rIns="18288" tIns="18288" bIns="18288">
            <a:spAutoFit/>
          </a:bodyPr>
          <a:lstStyle/>
          <a:p>
            <a:pPr>
              <a:spcAft>
                <a:spcPts val="700"/>
              </a:spcAft>
              <a:defRPr sz="2000" b="0">
                <a:solidFill>
                  <a:srgbClr val="23384F"/>
                </a:solidFill>
                <a:latin typeface="DejaVu Sans"/>
              </a:defRPr>
            </a:pPr>
            <a:r>
              <a:t>Tối đa số Top đã chọn; phụ thuộc số PC đủ điều kiện</a:t>
            </a:r>
          </a:p>
        </p:txBody>
      </p:sp>
      <p:sp>
        <p:nvSpPr>
          <p:cNvPr id="25" name="Rectangle 24"/>
          <p:cNvSpPr/>
          <p:nvPr/>
        </p:nvSpPr>
        <p:spPr>
          <a:xfrm>
            <a:off x="530352" y="4197096"/>
            <a:ext cx="3108960" cy="630936"/>
          </a:xfrm>
          <a:prstGeom prst="rect">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4306824"/>
            <a:ext cx="2907791" cy="493775"/>
          </a:xfrm>
          <a:prstGeom prst="rect">
            <a:avLst/>
          </a:prstGeom>
          <a:noFill/>
        </p:spPr>
        <p:txBody>
          <a:bodyPr wrap="square" lIns="18288" rIns="18288" tIns="18288" bIns="18288">
            <a:spAutoFit/>
          </a:bodyPr>
          <a:lstStyle/>
          <a:p>
            <a:pPr>
              <a:spcAft>
                <a:spcPts val="700"/>
              </a:spcAft>
              <a:defRPr sz="2000" b="1">
                <a:solidFill>
                  <a:srgbClr val="23384F"/>
                </a:solidFill>
                <a:latin typeface="DejaVu Sans"/>
              </a:defRPr>
            </a:pPr>
            <a:r>
              <a:t>Xếp hạng</a:t>
            </a:r>
          </a:p>
        </p:txBody>
      </p:sp>
      <p:sp>
        <p:nvSpPr>
          <p:cNvPr id="27" name="Rectangle 26"/>
          <p:cNvSpPr/>
          <p:nvPr/>
        </p:nvSpPr>
        <p:spPr>
          <a:xfrm>
            <a:off x="3639312" y="4197096"/>
            <a:ext cx="8001000" cy="630936"/>
          </a:xfrm>
          <a:prstGeom prst="rect">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749039" y="4306824"/>
            <a:ext cx="7799831" cy="493775"/>
          </a:xfrm>
          <a:prstGeom prst="rect">
            <a:avLst/>
          </a:prstGeom>
          <a:noFill/>
        </p:spPr>
        <p:txBody>
          <a:bodyPr wrap="square" lIns="18288" rIns="18288" tIns="18288" bIns="18288">
            <a:spAutoFit/>
          </a:bodyPr>
          <a:lstStyle/>
          <a:p>
            <a:pPr>
              <a:spcAft>
                <a:spcPts val="700"/>
              </a:spcAft>
              <a:defRPr sz="2000" b="0">
                <a:solidFill>
                  <a:srgbClr val="23384F"/>
                </a:solidFill>
                <a:latin typeface="DejaVu Sans"/>
              </a:defRPr>
            </a:pPr>
            <a:r>
              <a:t>Điểm giảm dần → giá thấp hơn → PcId</a:t>
            </a:r>
          </a:p>
        </p:txBody>
      </p:sp>
      <p:sp>
        <p:nvSpPr>
          <p:cNvPr id="29" name="Rectangle 28"/>
          <p:cNvSpPr/>
          <p:nvPr/>
        </p:nvSpPr>
        <p:spPr>
          <a:xfrm>
            <a:off x="530352" y="4828031"/>
            <a:ext cx="3108960" cy="6309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4937759"/>
            <a:ext cx="2907791" cy="493775"/>
          </a:xfrm>
          <a:prstGeom prst="rect">
            <a:avLst/>
          </a:prstGeom>
          <a:noFill/>
        </p:spPr>
        <p:txBody>
          <a:bodyPr wrap="square" lIns="18288" rIns="18288" tIns="18288" bIns="18288">
            <a:spAutoFit/>
          </a:bodyPr>
          <a:lstStyle/>
          <a:p>
            <a:pPr>
              <a:spcAft>
                <a:spcPts val="700"/>
              </a:spcAft>
              <a:defRPr sz="2000" b="1">
                <a:solidFill>
                  <a:srgbClr val="23384F"/>
                </a:solidFill>
                <a:latin typeface="DejaVu Sans"/>
              </a:defRPr>
            </a:pPr>
            <a:r>
              <a:t>Tiền còn lại</a:t>
            </a:r>
          </a:p>
        </p:txBody>
      </p:sp>
      <p:sp>
        <p:nvSpPr>
          <p:cNvPr id="31" name="Rectangle 30"/>
          <p:cNvSpPr/>
          <p:nvPr/>
        </p:nvSpPr>
        <p:spPr>
          <a:xfrm>
            <a:off x="3639312" y="4828031"/>
            <a:ext cx="8001000" cy="6309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749039" y="4937759"/>
            <a:ext cx="7799831" cy="493775"/>
          </a:xfrm>
          <a:prstGeom prst="rect">
            <a:avLst/>
          </a:prstGeom>
          <a:noFill/>
        </p:spPr>
        <p:txBody>
          <a:bodyPr wrap="square" lIns="18288" rIns="18288" tIns="18288" bIns="18288">
            <a:spAutoFit/>
          </a:bodyPr>
          <a:lstStyle/>
          <a:p>
            <a:pPr>
              <a:spcAft>
                <a:spcPts val="700"/>
              </a:spcAft>
              <a:defRPr sz="2000" b="0">
                <a:solidFill>
                  <a:srgbClr val="23384F"/>
                </a:solidFill>
                <a:latin typeface="DejaVu Sans"/>
              </a:defRPr>
            </a:pPr>
            <a:r>
              <a:t>budgetRemainingVnd = budget − pc.priceVnd</a:t>
            </a:r>
          </a:p>
        </p:txBody>
      </p:sp>
      <p:sp>
        <p:nvSpPr>
          <p:cNvPr id="33" name="Rounded Rectangle 32"/>
          <p:cNvSpPr/>
          <p:nvPr/>
        </p:nvSpPr>
        <p:spPr>
          <a:xfrm>
            <a:off x="530352" y="5605272"/>
            <a:ext cx="11109960" cy="438912"/>
          </a:xfrm>
          <a:prstGeom prst="roundRect">
            <a:avLst>
              <a:gd name="adj" fmla="val 12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4944" y="5655564"/>
            <a:ext cx="10789920" cy="338328"/>
          </a:xfrm>
          <a:prstGeom prst="rect">
            <a:avLst/>
          </a:prstGeom>
          <a:noFill/>
        </p:spPr>
        <p:txBody>
          <a:bodyPr wrap="square" lIns="18288" rIns="18288" tIns="18288" bIns="18288">
            <a:spAutoFit/>
          </a:bodyPr>
          <a:lstStyle/>
          <a:p>
            <a:pPr>
              <a:spcAft>
                <a:spcPts val="700"/>
              </a:spcAft>
              <a:defRPr sz="1700" b="1">
                <a:solidFill>
                  <a:srgbClr val="087F83"/>
                </a:solidFill>
                <a:latin typeface="DejaVu Sans"/>
              </a:defRPr>
            </a:pPr>
            <a:r>
              <a:t>Ví dụ 10–&lt;15 triệu: gửi minBudget = 10.000.000; budget = 14.999.999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245A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75488" y="265176"/>
            <a:ext cx="10972800" cy="274320"/>
          </a:xfrm>
          <a:prstGeom prst="rect">
            <a:avLst/>
          </a:prstGeom>
          <a:noFill/>
        </p:spPr>
        <p:txBody>
          <a:bodyPr wrap="square" lIns="18288" rIns="18288" tIns="18288" bIns="18288">
            <a:spAutoFit/>
          </a:bodyPr>
          <a:lstStyle/>
          <a:p>
            <a:pPr>
              <a:spcAft>
                <a:spcPts val="700"/>
              </a:spcAft>
              <a:defRPr sz="1100" b="1">
                <a:solidFill>
                  <a:srgbClr val="087F83"/>
                </a:solidFill>
                <a:latin typeface="DejaVu Sans"/>
              </a:defRPr>
            </a:pPr>
            <a:r>
              <a:t>CHIẾN LƯỢC · MÔI TRƯỜNG · KỸ THUẬT</a:t>
            </a:r>
          </a:p>
        </p:txBody>
      </p:sp>
      <p:sp>
        <p:nvSpPr>
          <p:cNvPr id="4" name="TextBox 3"/>
          <p:cNvSpPr txBox="1"/>
          <p:nvPr/>
        </p:nvSpPr>
        <p:spPr>
          <a:xfrm>
            <a:off x="475488" y="740664"/>
            <a:ext cx="11201400" cy="640080"/>
          </a:xfrm>
          <a:prstGeom prst="rect">
            <a:avLst/>
          </a:prstGeom>
          <a:noFill/>
        </p:spPr>
        <p:txBody>
          <a:bodyPr wrap="square" lIns="18288" rIns="18288" tIns="18288" bIns="18288">
            <a:spAutoFit/>
          </a:bodyPr>
          <a:lstStyle/>
          <a:p>
            <a:pPr>
              <a:spcAft>
                <a:spcPts val="700"/>
              </a:spcAft>
              <a:defRPr sz="3000" b="1">
                <a:solidFill>
                  <a:srgbClr val="142B49"/>
                </a:solidFill>
                <a:latin typeface="DejaVu Sans"/>
              </a:defRPr>
            </a:pPr>
            <a:r>
              <a:t>Thiết kế testcase trước khi chạy</a:t>
            </a:r>
          </a:p>
        </p:txBody>
      </p:sp>
      <p:sp>
        <p:nvSpPr>
          <p:cNvPr id="5" name="Rectangle 4"/>
          <p:cNvSpPr/>
          <p:nvPr/>
        </p:nvSpPr>
        <p:spPr>
          <a:xfrm>
            <a:off x="502920" y="6419088"/>
            <a:ext cx="11155680" cy="10972"/>
          </a:xfrm>
          <a:prstGeom prst="rect">
            <a:avLst/>
          </a:prstGeom>
          <a:solidFill>
            <a:srgbClr val="DB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8229600" cy="182880"/>
          </a:xfrm>
          <a:prstGeom prst="rect">
            <a:avLst/>
          </a:prstGeom>
          <a:noFill/>
        </p:spPr>
        <p:txBody>
          <a:bodyPr wrap="square" lIns="18288" rIns="18288" tIns="18288" bIns="18288">
            <a:spAutoFit/>
          </a:bodyPr>
          <a:lstStyle/>
          <a:p>
            <a:pPr>
              <a:spcAft>
                <a:spcPts val="700"/>
              </a:spcAft>
              <a:defRPr sz="900" b="0">
                <a:solidFill>
                  <a:srgbClr val="5A6B7E"/>
                </a:solidFill>
                <a:latin typeface="DejaVu Sans"/>
              </a:defRPr>
            </a:pPr>
            <a:r>
              <a:t>NHÓM 11 · 23CN2  |  KIỂM THỬ &amp; ĐẢM BẢO CHẤT LƯỢNG PHẦN MỀM</a:t>
            </a:r>
          </a:p>
        </p:txBody>
      </p:sp>
      <p:sp>
        <p:nvSpPr>
          <p:cNvPr id="7" name="TextBox 6"/>
          <p:cNvSpPr txBox="1"/>
          <p:nvPr/>
        </p:nvSpPr>
        <p:spPr>
          <a:xfrm>
            <a:off x="11064240" y="6473952"/>
            <a:ext cx="548640" cy="228600"/>
          </a:xfrm>
          <a:prstGeom prst="rect">
            <a:avLst/>
          </a:prstGeom>
          <a:noFill/>
        </p:spPr>
        <p:txBody>
          <a:bodyPr wrap="square" lIns="18288" rIns="18288" tIns="18288" bIns="18288">
            <a:spAutoFit/>
          </a:bodyPr>
          <a:lstStyle/>
          <a:p>
            <a:pPr algn="r">
              <a:spcAft>
                <a:spcPts val="700"/>
              </a:spcAft>
              <a:defRPr sz="1200" b="1">
                <a:solidFill>
                  <a:srgbClr val="245AD3"/>
                </a:solidFill>
                <a:latin typeface="DejaVu Sans"/>
              </a:defRPr>
            </a:pPr>
            <a:r>
              <a:t>05</a:t>
            </a:r>
          </a:p>
        </p:txBody>
      </p:sp>
      <p:sp>
        <p:nvSpPr>
          <p:cNvPr id="8" name="TextBox 7"/>
          <p:cNvSpPr txBox="1"/>
          <p:nvPr/>
        </p:nvSpPr>
        <p:spPr>
          <a:xfrm>
            <a:off x="530352" y="6126480"/>
            <a:ext cx="10972800" cy="210312"/>
          </a:xfrm>
          <a:prstGeom prst="rect">
            <a:avLst/>
          </a:prstGeom>
          <a:noFill/>
        </p:spPr>
        <p:txBody>
          <a:bodyPr wrap="square" lIns="18288" rIns="18288" tIns="18288" bIns="18288">
            <a:spAutoFit/>
          </a:bodyPr>
          <a:lstStyle/>
          <a:p>
            <a:pPr>
              <a:spcAft>
                <a:spcPts val="700"/>
              </a:spcAft>
              <a:defRPr sz="900" b="0">
                <a:solidFill>
                  <a:srgbClr val="5A6B7E"/>
                </a:solidFill>
                <a:latin typeface="DejaVu Sans"/>
              </a:defRPr>
            </a:pPr>
            <a:r>
              <a:t>Nguồn: Word §4.1, §4.4.3; Excel Test_cases</a:t>
            </a:r>
          </a:p>
        </p:txBody>
      </p:sp>
      <p:sp>
        <p:nvSpPr>
          <p:cNvPr id="9" name="TextBox 8"/>
          <p:cNvSpPr txBox="1"/>
          <p:nvPr/>
        </p:nvSpPr>
        <p:spPr>
          <a:xfrm>
            <a:off x="548640" y="1554480"/>
            <a:ext cx="10972800" cy="457200"/>
          </a:xfrm>
          <a:prstGeom prst="rect">
            <a:avLst/>
          </a:prstGeom>
          <a:noFill/>
        </p:spPr>
        <p:txBody>
          <a:bodyPr wrap="square" lIns="18288" rIns="18288" tIns="18288" bIns="18288">
            <a:spAutoFit/>
          </a:bodyPr>
          <a:lstStyle/>
          <a:p>
            <a:pPr>
              <a:spcAft>
                <a:spcPts val="700"/>
              </a:spcAft>
              <a:defRPr sz="2200" b="1">
                <a:solidFill>
                  <a:srgbClr val="087F83"/>
                </a:solidFill>
                <a:latin typeface="DejaVu Sans"/>
              </a:defRPr>
            </a:pPr>
            <a:r>
              <a:t>Hộp đen · ca hợp lệ + ca không hợp lệ · đối chiếu theo snapshot</a:t>
            </a:r>
          </a:p>
        </p:txBody>
      </p:sp>
      <p:sp>
        <p:nvSpPr>
          <p:cNvPr id="10" name="Rectangle 9"/>
          <p:cNvSpPr/>
          <p:nvPr/>
        </p:nvSpPr>
        <p:spPr>
          <a:xfrm>
            <a:off x="530352" y="2240280"/>
            <a:ext cx="3657600" cy="594360"/>
          </a:xfrm>
          <a:prstGeom prst="rect">
            <a:avLst/>
          </a:prstGeom>
          <a:solidFill>
            <a:srgbClr val="142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350008"/>
            <a:ext cx="3456432" cy="457200"/>
          </a:xfrm>
          <a:prstGeom prst="rect">
            <a:avLst/>
          </a:prstGeom>
          <a:noFill/>
        </p:spPr>
        <p:txBody>
          <a:bodyPr wrap="square" lIns="18288" rIns="18288" tIns="18288" bIns="18288">
            <a:spAutoFit/>
          </a:bodyPr>
          <a:lstStyle/>
          <a:p>
            <a:pPr>
              <a:spcAft>
                <a:spcPts val="700"/>
              </a:spcAft>
              <a:defRPr sz="1900" b="1">
                <a:solidFill>
                  <a:srgbClr val="FFFFFF"/>
                </a:solidFill>
                <a:latin typeface="DejaVu Sans"/>
              </a:defRPr>
            </a:pPr>
            <a:r>
              <a:t>Kỹ thuật</a:t>
            </a:r>
          </a:p>
        </p:txBody>
      </p:sp>
      <p:sp>
        <p:nvSpPr>
          <p:cNvPr id="12" name="Rectangle 11"/>
          <p:cNvSpPr/>
          <p:nvPr/>
        </p:nvSpPr>
        <p:spPr>
          <a:xfrm>
            <a:off x="4187952" y="2240280"/>
            <a:ext cx="7452360" cy="594360"/>
          </a:xfrm>
          <a:prstGeom prst="rect">
            <a:avLst/>
          </a:prstGeom>
          <a:solidFill>
            <a:srgbClr val="142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97680" y="2350008"/>
            <a:ext cx="7251192" cy="457200"/>
          </a:xfrm>
          <a:prstGeom prst="rect">
            <a:avLst/>
          </a:prstGeom>
          <a:noFill/>
        </p:spPr>
        <p:txBody>
          <a:bodyPr wrap="square" lIns="18288" rIns="18288" tIns="18288" bIns="18288">
            <a:spAutoFit/>
          </a:bodyPr>
          <a:lstStyle/>
          <a:p>
            <a:pPr>
              <a:spcAft>
                <a:spcPts val="700"/>
              </a:spcAft>
              <a:defRPr sz="1900" b="1">
                <a:solidFill>
                  <a:srgbClr val="FFFFFF"/>
                </a:solidFill>
                <a:latin typeface="DejaVu Sans"/>
              </a:defRPr>
            </a:pPr>
            <a:r>
              <a:t>Ví dụ có trong bộ Postman</a:t>
            </a:r>
          </a:p>
        </p:txBody>
      </p:sp>
      <p:sp>
        <p:nvSpPr>
          <p:cNvPr id="14" name="Rectangle 13"/>
          <p:cNvSpPr/>
          <p:nvPr/>
        </p:nvSpPr>
        <p:spPr>
          <a:xfrm>
            <a:off x="530352" y="2834640"/>
            <a:ext cx="3657600" cy="594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2944368"/>
            <a:ext cx="3456432" cy="457200"/>
          </a:xfrm>
          <a:prstGeom prst="rect">
            <a:avLst/>
          </a:prstGeom>
          <a:noFill/>
        </p:spPr>
        <p:txBody>
          <a:bodyPr wrap="square" lIns="18288" rIns="18288" tIns="18288" bIns="18288">
            <a:spAutoFit/>
          </a:bodyPr>
          <a:lstStyle/>
          <a:p>
            <a:pPr>
              <a:spcAft>
                <a:spcPts val="700"/>
              </a:spcAft>
              <a:defRPr sz="1900" b="1">
                <a:solidFill>
                  <a:srgbClr val="23384F"/>
                </a:solidFill>
                <a:latin typeface="DejaVu Sans"/>
              </a:defRPr>
            </a:pPr>
            <a:r>
              <a:t>Phân vùng tương đương</a:t>
            </a:r>
          </a:p>
        </p:txBody>
      </p:sp>
      <p:sp>
        <p:nvSpPr>
          <p:cNvPr id="16" name="Rectangle 15"/>
          <p:cNvSpPr/>
          <p:nvPr/>
        </p:nvSpPr>
        <p:spPr>
          <a:xfrm>
            <a:off x="4187952" y="2834640"/>
            <a:ext cx="7452360" cy="594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97680" y="2944368"/>
            <a:ext cx="7251192" cy="457200"/>
          </a:xfrm>
          <a:prstGeom prst="rect">
            <a:avLst/>
          </a:prstGeom>
          <a:noFill/>
        </p:spPr>
        <p:txBody>
          <a:bodyPr wrap="square" lIns="18288" rIns="18288" tIns="18288" bIns="18288">
            <a:spAutoFit/>
          </a:bodyPr>
          <a:lstStyle/>
          <a:p>
            <a:pPr>
              <a:spcAft>
                <a:spcPts val="700"/>
              </a:spcAft>
              <a:defRPr sz="1900" b="0">
                <a:solidFill>
                  <a:srgbClr val="23384F"/>
                </a:solidFill>
                <a:latin typeface="DejaVu Sans"/>
              </a:defRPr>
            </a:pPr>
            <a:r>
              <a:t>PM-033: thiếu purpose → HTTP 400</a:t>
            </a:r>
          </a:p>
        </p:txBody>
      </p:sp>
      <p:sp>
        <p:nvSpPr>
          <p:cNvPr id="18" name="Rectangle 17"/>
          <p:cNvSpPr/>
          <p:nvPr/>
        </p:nvSpPr>
        <p:spPr>
          <a:xfrm>
            <a:off x="530352" y="3429000"/>
            <a:ext cx="3657600" cy="594360"/>
          </a:xfrm>
          <a:prstGeom prst="rect">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538728"/>
            <a:ext cx="3456432" cy="457200"/>
          </a:xfrm>
          <a:prstGeom prst="rect">
            <a:avLst/>
          </a:prstGeom>
          <a:noFill/>
        </p:spPr>
        <p:txBody>
          <a:bodyPr wrap="square" lIns="18288" rIns="18288" tIns="18288" bIns="18288">
            <a:spAutoFit/>
          </a:bodyPr>
          <a:lstStyle/>
          <a:p>
            <a:pPr>
              <a:spcAft>
                <a:spcPts val="700"/>
              </a:spcAft>
              <a:defRPr sz="1900" b="1">
                <a:solidFill>
                  <a:srgbClr val="23384F"/>
                </a:solidFill>
                <a:latin typeface="DejaVu Sans"/>
              </a:defRPr>
            </a:pPr>
            <a:r>
              <a:t>Phân tích giá trị biên</a:t>
            </a:r>
          </a:p>
        </p:txBody>
      </p:sp>
      <p:sp>
        <p:nvSpPr>
          <p:cNvPr id="20" name="Rectangle 19"/>
          <p:cNvSpPr/>
          <p:nvPr/>
        </p:nvSpPr>
        <p:spPr>
          <a:xfrm>
            <a:off x="4187952" y="3429000"/>
            <a:ext cx="7452360" cy="594360"/>
          </a:xfrm>
          <a:prstGeom prst="rect">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97680" y="3538728"/>
            <a:ext cx="7251192" cy="457200"/>
          </a:xfrm>
          <a:prstGeom prst="rect">
            <a:avLst/>
          </a:prstGeom>
          <a:noFill/>
        </p:spPr>
        <p:txBody>
          <a:bodyPr wrap="square" lIns="18288" rIns="18288" tIns="18288" bIns="18288">
            <a:spAutoFit/>
          </a:bodyPr>
          <a:lstStyle/>
          <a:p>
            <a:pPr>
              <a:spcAft>
                <a:spcPts val="700"/>
              </a:spcAft>
              <a:defRPr sz="1900" b="0">
                <a:solidFill>
                  <a:srgbClr val="23384F"/>
                </a:solidFill>
                <a:latin typeface="DejaVu Sans"/>
              </a:defRPr>
            </a:pPr>
            <a:r>
              <a:t>PM-023: hai cận bằng giá PC → vẫn được chọn</a:t>
            </a:r>
          </a:p>
        </p:txBody>
      </p:sp>
      <p:sp>
        <p:nvSpPr>
          <p:cNvPr id="22" name="Rectangle 21"/>
          <p:cNvSpPr/>
          <p:nvPr/>
        </p:nvSpPr>
        <p:spPr>
          <a:xfrm>
            <a:off x="530352" y="4023360"/>
            <a:ext cx="3657600" cy="594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4133088"/>
            <a:ext cx="3456432" cy="457200"/>
          </a:xfrm>
          <a:prstGeom prst="rect">
            <a:avLst/>
          </a:prstGeom>
          <a:noFill/>
        </p:spPr>
        <p:txBody>
          <a:bodyPr wrap="square" lIns="18288" rIns="18288" tIns="18288" bIns="18288">
            <a:spAutoFit/>
          </a:bodyPr>
          <a:lstStyle/>
          <a:p>
            <a:pPr>
              <a:spcAft>
                <a:spcPts val="700"/>
              </a:spcAft>
              <a:defRPr sz="1900" b="1">
                <a:solidFill>
                  <a:srgbClr val="23384F"/>
                </a:solidFill>
                <a:latin typeface="DejaVu Sans"/>
              </a:defRPr>
            </a:pPr>
            <a:r>
              <a:t>Quy tắc nghiệp vụ</a:t>
            </a:r>
          </a:p>
        </p:txBody>
      </p:sp>
      <p:sp>
        <p:nvSpPr>
          <p:cNvPr id="24" name="Rectangle 23"/>
          <p:cNvSpPr/>
          <p:nvPr/>
        </p:nvSpPr>
        <p:spPr>
          <a:xfrm>
            <a:off x="4187952" y="4023360"/>
            <a:ext cx="7452360" cy="594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297680" y="4133088"/>
            <a:ext cx="7251192" cy="457200"/>
          </a:xfrm>
          <a:prstGeom prst="rect">
            <a:avLst/>
          </a:prstGeom>
          <a:noFill/>
        </p:spPr>
        <p:txBody>
          <a:bodyPr wrap="square" lIns="18288" rIns="18288" tIns="18288" bIns="18288">
            <a:spAutoFit/>
          </a:bodyPr>
          <a:lstStyle/>
          <a:p>
            <a:pPr>
              <a:spcAft>
                <a:spcPts val="700"/>
              </a:spcAft>
              <a:defRPr sz="1900" b="0">
                <a:solidFill>
                  <a:srgbClr val="23384F"/>
                </a:solidFill>
                <a:latin typeface="DejaVu Sans"/>
              </a:defRPr>
            </a:pPr>
            <a:r>
              <a:t>PM-029: tính đúng số tiền còn lại</a:t>
            </a:r>
          </a:p>
        </p:txBody>
      </p:sp>
      <p:sp>
        <p:nvSpPr>
          <p:cNvPr id="26" name="Rectangle 25"/>
          <p:cNvSpPr/>
          <p:nvPr/>
        </p:nvSpPr>
        <p:spPr>
          <a:xfrm>
            <a:off x="530352" y="4617720"/>
            <a:ext cx="3657600" cy="594360"/>
          </a:xfrm>
          <a:prstGeom prst="rect">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4727448"/>
            <a:ext cx="3456432" cy="457200"/>
          </a:xfrm>
          <a:prstGeom prst="rect">
            <a:avLst/>
          </a:prstGeom>
          <a:noFill/>
        </p:spPr>
        <p:txBody>
          <a:bodyPr wrap="square" lIns="18288" rIns="18288" tIns="18288" bIns="18288">
            <a:spAutoFit/>
          </a:bodyPr>
          <a:lstStyle/>
          <a:p>
            <a:pPr>
              <a:spcAft>
                <a:spcPts val="700"/>
              </a:spcAft>
              <a:defRPr sz="1900" b="1">
                <a:solidFill>
                  <a:srgbClr val="23384F"/>
                </a:solidFill>
                <a:latin typeface="DejaVu Sans"/>
              </a:defRPr>
            </a:pPr>
            <a:r>
              <a:t>Đoán lỗi</a:t>
            </a:r>
          </a:p>
        </p:txBody>
      </p:sp>
      <p:sp>
        <p:nvSpPr>
          <p:cNvPr id="28" name="Rectangle 27"/>
          <p:cNvSpPr/>
          <p:nvPr/>
        </p:nvSpPr>
        <p:spPr>
          <a:xfrm>
            <a:off x="4187952" y="4617720"/>
            <a:ext cx="7452360" cy="594360"/>
          </a:xfrm>
          <a:prstGeom prst="rect">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7680" y="4727448"/>
            <a:ext cx="7251192" cy="457200"/>
          </a:xfrm>
          <a:prstGeom prst="rect">
            <a:avLst/>
          </a:prstGeom>
          <a:noFill/>
        </p:spPr>
        <p:txBody>
          <a:bodyPr wrap="square" lIns="18288" rIns="18288" tIns="18288" bIns="18288">
            <a:spAutoFit/>
          </a:bodyPr>
          <a:lstStyle/>
          <a:p>
            <a:pPr>
              <a:spcAft>
                <a:spcPts val="700"/>
              </a:spcAft>
              <a:defRPr sz="1900" b="0">
                <a:solidFill>
                  <a:srgbClr val="23384F"/>
                </a:solidFill>
                <a:latin typeface="DejaVu Sans"/>
              </a:defRPr>
            </a:pPr>
            <a:r>
              <a:t>PM-048: JSON sai cú pháp → HTTP 400</a:t>
            </a:r>
          </a:p>
        </p:txBody>
      </p:sp>
      <p:sp>
        <p:nvSpPr>
          <p:cNvPr id="30" name="TextBox 29"/>
          <p:cNvSpPr txBox="1"/>
          <p:nvPr/>
        </p:nvSpPr>
        <p:spPr>
          <a:xfrm>
            <a:off x="566928" y="5367528"/>
            <a:ext cx="10972800" cy="640080"/>
          </a:xfrm>
          <a:prstGeom prst="rect">
            <a:avLst/>
          </a:prstGeom>
          <a:noFill/>
        </p:spPr>
        <p:txBody>
          <a:bodyPr wrap="square" lIns="18288" rIns="18288" tIns="18288" bIns="18288">
            <a:spAutoFit/>
          </a:bodyPr>
          <a:lstStyle/>
          <a:p>
            <a:pPr>
              <a:spcAft>
                <a:spcPts val="700"/>
              </a:spcAft>
              <a:defRPr sz="1900" b="0">
                <a:solidFill>
                  <a:srgbClr val="23384F"/>
                </a:solidFill>
                <a:latin typeface="DejaVu Sans"/>
              </a:defRPr>
            </a:pPr>
            <a:r>
              <a:t>Môi trường: React :5173 · API :5170 · snapshot 36 PC</a:t>
            </a:r>
          </a:p>
          <a:p>
            <a:pPr>
              <a:spcAft>
                <a:spcPts val="700"/>
              </a:spcAft>
              <a:defRPr sz="1900" b="0">
                <a:solidFill>
                  <a:srgbClr val="23384F"/>
                </a:solidFill>
                <a:latin typeface="DejaVu Sans"/>
              </a:defRPr>
            </a:pPr>
            <a:r>
              <a:t>API cần backend; UI cần cả frontend và backend.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245A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75488" y="265176"/>
            <a:ext cx="10972800" cy="274320"/>
          </a:xfrm>
          <a:prstGeom prst="rect">
            <a:avLst/>
          </a:prstGeom>
          <a:noFill/>
        </p:spPr>
        <p:txBody>
          <a:bodyPr wrap="square" lIns="18288" rIns="18288" tIns="18288" bIns="18288">
            <a:spAutoFit/>
          </a:bodyPr>
          <a:lstStyle/>
          <a:p>
            <a:pPr>
              <a:spcAft>
                <a:spcPts val="700"/>
              </a:spcAft>
              <a:defRPr sz="1100" b="1">
                <a:solidFill>
                  <a:srgbClr val="087F83"/>
                </a:solidFill>
                <a:latin typeface="DejaVu Sans"/>
              </a:defRPr>
            </a:pPr>
            <a:r>
              <a:t>KIỂM THỬ GIAO DIỆN THỦ CÔNG</a:t>
            </a:r>
          </a:p>
        </p:txBody>
      </p:sp>
      <p:sp>
        <p:nvSpPr>
          <p:cNvPr id="4" name="TextBox 3"/>
          <p:cNvSpPr txBox="1"/>
          <p:nvPr/>
        </p:nvSpPr>
        <p:spPr>
          <a:xfrm>
            <a:off x="475488" y="740664"/>
            <a:ext cx="11201400" cy="640080"/>
          </a:xfrm>
          <a:prstGeom prst="rect">
            <a:avLst/>
          </a:prstGeom>
          <a:noFill/>
        </p:spPr>
        <p:txBody>
          <a:bodyPr wrap="square" lIns="18288" rIns="18288" tIns="18288" bIns="18288">
            <a:spAutoFit/>
          </a:bodyPr>
          <a:lstStyle/>
          <a:p>
            <a:pPr>
              <a:spcAft>
                <a:spcPts val="700"/>
              </a:spcAft>
              <a:defRPr sz="3000" b="1">
                <a:solidFill>
                  <a:srgbClr val="142B49"/>
                </a:solidFill>
                <a:latin typeface="DejaVu Sans"/>
              </a:defRPr>
            </a:pPr>
            <a:r>
              <a:t>Manual UI: quan sát và ghi nhận độc lập</a:t>
            </a:r>
          </a:p>
        </p:txBody>
      </p:sp>
      <p:sp>
        <p:nvSpPr>
          <p:cNvPr id="5" name="Rectangle 4"/>
          <p:cNvSpPr/>
          <p:nvPr/>
        </p:nvSpPr>
        <p:spPr>
          <a:xfrm>
            <a:off x="502920" y="6419088"/>
            <a:ext cx="11155680" cy="10972"/>
          </a:xfrm>
          <a:prstGeom prst="rect">
            <a:avLst/>
          </a:prstGeom>
          <a:solidFill>
            <a:srgbClr val="DB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8229600" cy="182880"/>
          </a:xfrm>
          <a:prstGeom prst="rect">
            <a:avLst/>
          </a:prstGeom>
          <a:noFill/>
        </p:spPr>
        <p:txBody>
          <a:bodyPr wrap="square" lIns="18288" rIns="18288" tIns="18288" bIns="18288">
            <a:spAutoFit/>
          </a:bodyPr>
          <a:lstStyle/>
          <a:p>
            <a:pPr>
              <a:spcAft>
                <a:spcPts val="700"/>
              </a:spcAft>
              <a:defRPr sz="900" b="0">
                <a:solidFill>
                  <a:srgbClr val="5A6B7E"/>
                </a:solidFill>
                <a:latin typeface="DejaVu Sans"/>
              </a:defRPr>
            </a:pPr>
            <a:r>
              <a:t>NHÓM 11 · 23CN2  |  KIỂM THỬ &amp; ĐẢM BẢO CHẤT LƯỢNG PHẦN MỀM</a:t>
            </a:r>
          </a:p>
        </p:txBody>
      </p:sp>
      <p:sp>
        <p:nvSpPr>
          <p:cNvPr id="7" name="TextBox 6"/>
          <p:cNvSpPr txBox="1"/>
          <p:nvPr/>
        </p:nvSpPr>
        <p:spPr>
          <a:xfrm>
            <a:off x="11064240" y="6473952"/>
            <a:ext cx="548640" cy="228600"/>
          </a:xfrm>
          <a:prstGeom prst="rect">
            <a:avLst/>
          </a:prstGeom>
          <a:noFill/>
        </p:spPr>
        <p:txBody>
          <a:bodyPr wrap="square" lIns="18288" rIns="18288" tIns="18288" bIns="18288">
            <a:spAutoFit/>
          </a:bodyPr>
          <a:lstStyle/>
          <a:p>
            <a:pPr algn="r">
              <a:spcAft>
                <a:spcPts val="700"/>
              </a:spcAft>
              <a:defRPr sz="1200" b="1">
                <a:solidFill>
                  <a:srgbClr val="245AD3"/>
                </a:solidFill>
                <a:latin typeface="DejaVu Sans"/>
              </a:defRPr>
            </a:pPr>
            <a:r>
              <a:t>06</a:t>
            </a:r>
          </a:p>
        </p:txBody>
      </p:sp>
      <p:sp>
        <p:nvSpPr>
          <p:cNvPr id="8" name="TextBox 7"/>
          <p:cNvSpPr txBox="1"/>
          <p:nvPr/>
        </p:nvSpPr>
        <p:spPr>
          <a:xfrm>
            <a:off x="530352" y="6126480"/>
            <a:ext cx="10972800" cy="210312"/>
          </a:xfrm>
          <a:prstGeom prst="rect">
            <a:avLst/>
          </a:prstGeom>
          <a:noFill/>
        </p:spPr>
        <p:txBody>
          <a:bodyPr wrap="square" lIns="18288" rIns="18288" tIns="18288" bIns="18288">
            <a:spAutoFit/>
          </a:bodyPr>
          <a:lstStyle/>
          <a:p>
            <a:pPr>
              <a:spcAft>
                <a:spcPts val="700"/>
              </a:spcAft>
              <a:defRPr sz="900" b="0">
                <a:solidFill>
                  <a:srgbClr val="5A6B7E"/>
                </a:solidFill>
                <a:latin typeface="DejaVu Sans"/>
              </a:defRPr>
            </a:pPr>
            <a:r>
              <a:t>Nguồn: nhóm xác nhận số liệu; Word §4.2–4.3 mô tả phạm vi</a:t>
            </a:r>
          </a:p>
        </p:txBody>
      </p:sp>
      <p:sp>
        <p:nvSpPr>
          <p:cNvPr id="9" name="Rounded Rectangle 8"/>
          <p:cNvSpPr/>
          <p:nvPr/>
        </p:nvSpPr>
        <p:spPr>
          <a:xfrm>
            <a:off x="548640" y="1691640"/>
            <a:ext cx="3474720" cy="1499616"/>
          </a:xfrm>
          <a:prstGeom prst="roundRect">
            <a:avLst>
              <a:gd name="adj" fmla="val 12000"/>
            </a:avLst>
          </a:prstGeom>
          <a:solidFill>
            <a:srgbClr val="FFFFFF"/>
          </a:solidFill>
          <a:ln>
            <a:solidFill>
              <a:srgbClr val="DB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810512"/>
            <a:ext cx="3017520" cy="713232"/>
          </a:xfrm>
          <a:prstGeom prst="rect">
            <a:avLst/>
          </a:prstGeom>
          <a:noFill/>
        </p:spPr>
        <p:txBody>
          <a:bodyPr wrap="square" lIns="18288" rIns="18288" tIns="18288" bIns="18288">
            <a:spAutoFit/>
          </a:bodyPr>
          <a:lstStyle/>
          <a:p>
            <a:pPr>
              <a:spcAft>
                <a:spcPts val="700"/>
              </a:spcAft>
              <a:defRPr sz="4300" b="1">
                <a:solidFill>
                  <a:srgbClr val="245AD3"/>
                </a:solidFill>
                <a:latin typeface="DejaVu Sans"/>
              </a:defRPr>
            </a:pPr>
            <a:r>
              <a:t>79</a:t>
            </a:r>
          </a:p>
        </p:txBody>
      </p:sp>
      <p:sp>
        <p:nvSpPr>
          <p:cNvPr id="11" name="TextBox 10"/>
          <p:cNvSpPr txBox="1"/>
          <p:nvPr/>
        </p:nvSpPr>
        <p:spPr>
          <a:xfrm>
            <a:off x="777240" y="2596896"/>
            <a:ext cx="3017520" cy="356616"/>
          </a:xfrm>
          <a:prstGeom prst="rect">
            <a:avLst/>
          </a:prstGeom>
          <a:noFill/>
        </p:spPr>
        <p:txBody>
          <a:bodyPr wrap="square" lIns="18288" rIns="18288" tIns="18288" bIns="18288">
            <a:spAutoFit/>
          </a:bodyPr>
          <a:lstStyle/>
          <a:p>
            <a:pPr>
              <a:spcAft>
                <a:spcPts val="700"/>
              </a:spcAft>
              <a:defRPr sz="2000" b="0">
                <a:solidFill>
                  <a:srgbClr val="245AD3"/>
                </a:solidFill>
                <a:latin typeface="DejaVu Sans"/>
              </a:defRPr>
            </a:pPr>
            <a:r>
              <a:t>testcase</a:t>
            </a:r>
          </a:p>
        </p:txBody>
      </p:sp>
      <p:sp>
        <p:nvSpPr>
          <p:cNvPr id="12" name="Rounded Rectangle 11"/>
          <p:cNvSpPr/>
          <p:nvPr/>
        </p:nvSpPr>
        <p:spPr>
          <a:xfrm>
            <a:off x="4352544" y="1691640"/>
            <a:ext cx="3474720" cy="1499616"/>
          </a:xfrm>
          <a:prstGeom prst="roundRect">
            <a:avLst>
              <a:gd name="adj" fmla="val 12000"/>
            </a:avLst>
          </a:prstGeom>
          <a:solidFill>
            <a:srgbClr val="FFFFFF"/>
          </a:solidFill>
          <a:ln>
            <a:solidFill>
              <a:srgbClr val="DB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81144" y="1810512"/>
            <a:ext cx="3017520" cy="713232"/>
          </a:xfrm>
          <a:prstGeom prst="rect">
            <a:avLst/>
          </a:prstGeom>
          <a:noFill/>
        </p:spPr>
        <p:txBody>
          <a:bodyPr wrap="square" lIns="18288" rIns="18288" tIns="18288" bIns="18288">
            <a:spAutoFit/>
          </a:bodyPr>
          <a:lstStyle/>
          <a:p>
            <a:pPr>
              <a:spcAft>
                <a:spcPts val="700"/>
              </a:spcAft>
              <a:defRPr sz="4300" b="1">
                <a:solidFill>
                  <a:srgbClr val="13765D"/>
                </a:solidFill>
                <a:latin typeface="DejaVu Sans"/>
              </a:defRPr>
            </a:pPr>
            <a:r>
              <a:t>77</a:t>
            </a:r>
          </a:p>
        </p:txBody>
      </p:sp>
      <p:sp>
        <p:nvSpPr>
          <p:cNvPr id="14" name="TextBox 13"/>
          <p:cNvSpPr txBox="1"/>
          <p:nvPr/>
        </p:nvSpPr>
        <p:spPr>
          <a:xfrm>
            <a:off x="4581144" y="2596896"/>
            <a:ext cx="3017520" cy="356616"/>
          </a:xfrm>
          <a:prstGeom prst="rect">
            <a:avLst/>
          </a:prstGeom>
          <a:noFill/>
        </p:spPr>
        <p:txBody>
          <a:bodyPr wrap="square" lIns="18288" rIns="18288" tIns="18288" bIns="18288">
            <a:spAutoFit/>
          </a:bodyPr>
          <a:lstStyle/>
          <a:p>
            <a:pPr>
              <a:spcAft>
                <a:spcPts val="700"/>
              </a:spcAft>
              <a:defRPr sz="2000" b="0">
                <a:solidFill>
                  <a:srgbClr val="13765D"/>
                </a:solidFill>
                <a:latin typeface="DejaVu Sans"/>
              </a:defRPr>
            </a:pPr>
            <a:r>
              <a:t>Pass</a:t>
            </a:r>
          </a:p>
        </p:txBody>
      </p:sp>
      <p:sp>
        <p:nvSpPr>
          <p:cNvPr id="15" name="Rounded Rectangle 14"/>
          <p:cNvSpPr/>
          <p:nvPr/>
        </p:nvSpPr>
        <p:spPr>
          <a:xfrm>
            <a:off x="8156448" y="1691640"/>
            <a:ext cx="3474720" cy="1499616"/>
          </a:xfrm>
          <a:prstGeom prst="roundRect">
            <a:avLst>
              <a:gd name="adj" fmla="val 12000"/>
            </a:avLst>
          </a:prstGeom>
          <a:solidFill>
            <a:srgbClr val="FFFFFF"/>
          </a:solidFill>
          <a:ln>
            <a:solidFill>
              <a:srgbClr val="DB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85048" y="1810512"/>
            <a:ext cx="3017520" cy="713232"/>
          </a:xfrm>
          <a:prstGeom prst="rect">
            <a:avLst/>
          </a:prstGeom>
          <a:noFill/>
        </p:spPr>
        <p:txBody>
          <a:bodyPr wrap="square" lIns="18288" rIns="18288" tIns="18288" bIns="18288">
            <a:spAutoFit/>
          </a:bodyPr>
          <a:lstStyle/>
          <a:p>
            <a:pPr>
              <a:spcAft>
                <a:spcPts val="700"/>
              </a:spcAft>
              <a:defRPr sz="4300" b="1">
                <a:solidFill>
                  <a:srgbClr val="B33D49"/>
                </a:solidFill>
                <a:latin typeface="DejaVu Sans"/>
              </a:defRPr>
            </a:pPr>
            <a:r>
              <a:t>2</a:t>
            </a:r>
          </a:p>
        </p:txBody>
      </p:sp>
      <p:sp>
        <p:nvSpPr>
          <p:cNvPr id="17" name="TextBox 16"/>
          <p:cNvSpPr txBox="1"/>
          <p:nvPr/>
        </p:nvSpPr>
        <p:spPr>
          <a:xfrm>
            <a:off x="8385048" y="2596896"/>
            <a:ext cx="3017520" cy="356616"/>
          </a:xfrm>
          <a:prstGeom prst="rect">
            <a:avLst/>
          </a:prstGeom>
          <a:noFill/>
        </p:spPr>
        <p:txBody>
          <a:bodyPr wrap="square" lIns="18288" rIns="18288" tIns="18288" bIns="18288">
            <a:spAutoFit/>
          </a:bodyPr>
          <a:lstStyle/>
          <a:p>
            <a:pPr>
              <a:spcAft>
                <a:spcPts val="700"/>
              </a:spcAft>
              <a:defRPr sz="2000" b="0">
                <a:solidFill>
                  <a:srgbClr val="B33D49"/>
                </a:solidFill>
                <a:latin typeface="DejaVu Sans"/>
              </a:defRPr>
            </a:pPr>
            <a:r>
              <a:t>Fail · chưa retest</a:t>
            </a:r>
          </a:p>
        </p:txBody>
      </p:sp>
      <p:sp>
        <p:nvSpPr>
          <p:cNvPr id="18" name="TextBox 17"/>
          <p:cNvSpPr txBox="1"/>
          <p:nvPr/>
        </p:nvSpPr>
        <p:spPr>
          <a:xfrm>
            <a:off x="566928" y="3611880"/>
            <a:ext cx="4572000" cy="411480"/>
          </a:xfrm>
          <a:prstGeom prst="rect">
            <a:avLst/>
          </a:prstGeom>
          <a:noFill/>
        </p:spPr>
        <p:txBody>
          <a:bodyPr wrap="square" lIns="18288" rIns="18288" tIns="18288" bIns="18288">
            <a:spAutoFit/>
          </a:bodyPr>
          <a:lstStyle/>
          <a:p>
            <a:pPr>
              <a:spcAft>
                <a:spcPts val="700"/>
              </a:spcAft>
              <a:defRPr sz="2300" b="1">
                <a:solidFill>
                  <a:srgbClr val="142B49"/>
                </a:solidFill>
                <a:latin typeface="DejaVu Sans"/>
              </a:defRPr>
            </a:pPr>
            <a:r>
              <a:t>Phạm vi</a:t>
            </a:r>
          </a:p>
        </p:txBody>
      </p:sp>
      <p:sp>
        <p:nvSpPr>
          <p:cNvPr id="19" name="TextBox 18"/>
          <p:cNvSpPr txBox="1"/>
          <p:nvPr/>
        </p:nvSpPr>
        <p:spPr>
          <a:xfrm>
            <a:off x="566928" y="4142232"/>
            <a:ext cx="5349240" cy="1371600"/>
          </a:xfrm>
          <a:prstGeom prst="rect">
            <a:avLst/>
          </a:prstGeom>
          <a:noFill/>
        </p:spPr>
        <p:txBody>
          <a:bodyPr wrap="square" lIns="18288" rIns="18288" tIns="18288" bIns="18288">
            <a:spAutoFit/>
          </a:bodyPr>
          <a:lstStyle/>
          <a:p>
            <a:pPr>
              <a:spcAft>
                <a:spcPts val="700"/>
              </a:spcAft>
              <a:defRPr sz="2200" b="0">
                <a:solidFill>
                  <a:srgbClr val="23384F"/>
                </a:solidFill>
                <a:latin typeface="DejaVu Sans"/>
              </a:defRPr>
            </a:pPr>
            <a:r>
              <a:t>Điều hướng · form nhu cầu</a:t>
            </a:r>
          </a:p>
          <a:p>
            <a:pPr>
              <a:spcAft>
                <a:spcPts val="700"/>
              </a:spcAft>
              <a:defRPr sz="2200" b="0">
                <a:solidFill>
                  <a:srgbClr val="23384F"/>
                </a:solidFill>
                <a:latin typeface="DejaVu Sans"/>
              </a:defRPr>
            </a:pPr>
            <a:r>
              <a:t>Khoảng giá · Top · kết quả</a:t>
            </a:r>
          </a:p>
          <a:p>
            <a:pPr>
              <a:spcAft>
                <a:spcPts val="700"/>
              </a:spcAft>
              <a:defRPr sz="2200" b="0">
                <a:solidFill>
                  <a:srgbClr val="23384F"/>
                </a:solidFill>
                <a:latin typeface="DejaVu Sans"/>
              </a:defRPr>
            </a:pPr>
            <a:r>
              <a:t>Trạng thái lỗi · responsive</a:t>
            </a:r>
          </a:p>
        </p:txBody>
      </p:sp>
      <p:sp>
        <p:nvSpPr>
          <p:cNvPr id="20" name="TextBox 19"/>
          <p:cNvSpPr txBox="1"/>
          <p:nvPr/>
        </p:nvSpPr>
        <p:spPr>
          <a:xfrm>
            <a:off x="6428232" y="3611880"/>
            <a:ext cx="5029200" cy="411480"/>
          </a:xfrm>
          <a:prstGeom prst="rect">
            <a:avLst/>
          </a:prstGeom>
          <a:noFill/>
        </p:spPr>
        <p:txBody>
          <a:bodyPr wrap="square" lIns="18288" rIns="18288" tIns="18288" bIns="18288">
            <a:spAutoFit/>
          </a:bodyPr>
          <a:lstStyle/>
          <a:p>
            <a:pPr>
              <a:spcAft>
                <a:spcPts val="700"/>
              </a:spcAft>
              <a:defRPr sz="2300" b="1">
                <a:solidFill>
                  <a:srgbClr val="142B49"/>
                </a:solidFill>
                <a:latin typeface="DejaVu Sans"/>
              </a:defRPr>
            </a:pPr>
            <a:r>
              <a:t>Cách thực hiện</a:t>
            </a:r>
          </a:p>
        </p:txBody>
      </p:sp>
      <p:sp>
        <p:nvSpPr>
          <p:cNvPr id="21" name="TextBox 20"/>
          <p:cNvSpPr txBox="1"/>
          <p:nvPr/>
        </p:nvSpPr>
        <p:spPr>
          <a:xfrm>
            <a:off x="6428232" y="4142232"/>
            <a:ext cx="5074920" cy="1371600"/>
          </a:xfrm>
          <a:prstGeom prst="rect">
            <a:avLst/>
          </a:prstGeom>
          <a:noFill/>
        </p:spPr>
        <p:txBody>
          <a:bodyPr wrap="square" lIns="18288" rIns="18288" tIns="18288" bIns="18288">
            <a:spAutoFit/>
          </a:bodyPr>
          <a:lstStyle/>
          <a:p>
            <a:pPr>
              <a:spcAft>
                <a:spcPts val="700"/>
              </a:spcAft>
              <a:defRPr sz="2200" b="0">
                <a:solidFill>
                  <a:srgbClr val="23384F"/>
                </a:solidFill>
                <a:latin typeface="DejaVu Sans"/>
              </a:defRPr>
            </a:pPr>
            <a:r>
              <a:t>Thao tác theo ca → quan sát</a:t>
            </a:r>
          </a:p>
          <a:p>
            <a:pPr>
              <a:spcAft>
                <a:spcPts val="700"/>
              </a:spcAft>
              <a:defRPr sz="2200" b="0">
                <a:solidFill>
                  <a:srgbClr val="23384F"/>
                </a:solidFill>
                <a:latin typeface="DejaVu Sans"/>
              </a:defRPr>
            </a:pPr>
            <a:r>
              <a:t>Đối chiếu Expected với Actual</a:t>
            </a:r>
          </a:p>
          <a:p>
            <a:pPr>
              <a:spcAft>
                <a:spcPts val="700"/>
              </a:spcAft>
              <a:defRPr sz="2200" b="0">
                <a:solidFill>
                  <a:srgbClr val="23384F"/>
                </a:solidFill>
                <a:latin typeface="DejaVu Sans"/>
              </a:defRPr>
            </a:pPr>
            <a:r>
              <a:t>Ghi trạng thái và minh chứng</a:t>
            </a:r>
          </a:p>
        </p:txBody>
      </p:sp>
      <p:sp>
        <p:nvSpPr>
          <p:cNvPr id="22" name="Rounded Rectangle 21"/>
          <p:cNvSpPr/>
          <p:nvPr/>
        </p:nvSpPr>
        <p:spPr>
          <a:xfrm>
            <a:off x="530352" y="5650992"/>
            <a:ext cx="11109960" cy="438912"/>
          </a:xfrm>
          <a:prstGeom prst="roundRect">
            <a:avLst>
              <a:gd name="adj" fmla="val 12000"/>
            </a:avLst>
          </a:prstGeom>
          <a:solidFill>
            <a:srgbClr val="FFF2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4944" y="5701283"/>
            <a:ext cx="10789920" cy="338328"/>
          </a:xfrm>
          <a:prstGeom prst="rect">
            <a:avLst/>
          </a:prstGeom>
          <a:noFill/>
        </p:spPr>
        <p:txBody>
          <a:bodyPr wrap="square" lIns="18288" rIns="18288" tIns="18288" bIns="18288">
            <a:spAutoFit/>
          </a:bodyPr>
          <a:lstStyle/>
          <a:p>
            <a:pPr>
              <a:spcAft>
                <a:spcPts val="700"/>
              </a:spcAft>
              <a:defRPr sz="1700" b="1">
                <a:solidFill>
                  <a:srgbClr val="9B6300"/>
                </a:solidFill>
                <a:latin typeface="DejaVu Sans"/>
              </a:defRPr>
            </a:pPr>
            <a:r>
              <a:t>Số liệu đã được nhóm xác nhận; cần bổ sung workbook UI để đối chiếu.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245A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75488" y="265176"/>
            <a:ext cx="10972800" cy="274320"/>
          </a:xfrm>
          <a:prstGeom prst="rect">
            <a:avLst/>
          </a:prstGeom>
          <a:noFill/>
        </p:spPr>
        <p:txBody>
          <a:bodyPr wrap="square" lIns="18288" rIns="18288" tIns="18288" bIns="18288">
            <a:spAutoFit/>
          </a:bodyPr>
          <a:lstStyle/>
          <a:p>
            <a:pPr>
              <a:spcAft>
                <a:spcPts val="700"/>
              </a:spcAft>
              <a:defRPr sz="1100" b="1">
                <a:solidFill>
                  <a:srgbClr val="087F83"/>
                </a:solidFill>
                <a:latin typeface="DejaVu Sans"/>
              </a:defRPr>
            </a:pPr>
            <a:r>
              <a:t>MỘT CA · NHIỀU ĐIỀU KIỆN CẦN ĐỐI CHIẾU</a:t>
            </a:r>
          </a:p>
        </p:txBody>
      </p:sp>
      <p:sp>
        <p:nvSpPr>
          <p:cNvPr id="4" name="TextBox 3"/>
          <p:cNvSpPr txBox="1"/>
          <p:nvPr/>
        </p:nvSpPr>
        <p:spPr>
          <a:xfrm>
            <a:off x="475488" y="740664"/>
            <a:ext cx="11201400" cy="640080"/>
          </a:xfrm>
          <a:prstGeom prst="rect">
            <a:avLst/>
          </a:prstGeom>
          <a:noFill/>
        </p:spPr>
        <p:txBody>
          <a:bodyPr wrap="square" lIns="18288" rIns="18288" tIns="18288" bIns="18288">
            <a:spAutoFit/>
          </a:bodyPr>
          <a:lstStyle/>
          <a:p>
            <a:pPr>
              <a:spcAft>
                <a:spcPts val="700"/>
              </a:spcAft>
              <a:defRPr sz="3000" b="1">
                <a:solidFill>
                  <a:srgbClr val="142B49"/>
                </a:solidFill>
                <a:latin typeface="DejaVu Sans"/>
              </a:defRPr>
            </a:pPr>
            <a:r>
              <a:t>Ví dụ Manual UI: TC-REC-G-001</a:t>
            </a:r>
          </a:p>
        </p:txBody>
      </p:sp>
      <p:sp>
        <p:nvSpPr>
          <p:cNvPr id="5" name="Rectangle 4"/>
          <p:cNvSpPr/>
          <p:nvPr/>
        </p:nvSpPr>
        <p:spPr>
          <a:xfrm>
            <a:off x="502920" y="6419088"/>
            <a:ext cx="11155680" cy="10972"/>
          </a:xfrm>
          <a:prstGeom prst="rect">
            <a:avLst/>
          </a:prstGeom>
          <a:solidFill>
            <a:srgbClr val="DB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8229600" cy="182880"/>
          </a:xfrm>
          <a:prstGeom prst="rect">
            <a:avLst/>
          </a:prstGeom>
          <a:noFill/>
        </p:spPr>
        <p:txBody>
          <a:bodyPr wrap="square" lIns="18288" rIns="18288" tIns="18288" bIns="18288">
            <a:spAutoFit/>
          </a:bodyPr>
          <a:lstStyle/>
          <a:p>
            <a:pPr>
              <a:spcAft>
                <a:spcPts val="700"/>
              </a:spcAft>
              <a:defRPr sz="900" b="0">
                <a:solidFill>
                  <a:srgbClr val="5A6B7E"/>
                </a:solidFill>
                <a:latin typeface="DejaVu Sans"/>
              </a:defRPr>
            </a:pPr>
            <a:r>
              <a:t>NHÓM 11 · 23CN2  |  KIỂM THỬ &amp; ĐẢM BẢO CHẤT LƯỢNG PHẦN MỀM</a:t>
            </a:r>
          </a:p>
        </p:txBody>
      </p:sp>
      <p:sp>
        <p:nvSpPr>
          <p:cNvPr id="7" name="TextBox 6"/>
          <p:cNvSpPr txBox="1"/>
          <p:nvPr/>
        </p:nvSpPr>
        <p:spPr>
          <a:xfrm>
            <a:off x="11064240" y="6473952"/>
            <a:ext cx="548640" cy="228600"/>
          </a:xfrm>
          <a:prstGeom prst="rect">
            <a:avLst/>
          </a:prstGeom>
          <a:noFill/>
        </p:spPr>
        <p:txBody>
          <a:bodyPr wrap="square" lIns="18288" rIns="18288" tIns="18288" bIns="18288">
            <a:spAutoFit/>
          </a:bodyPr>
          <a:lstStyle/>
          <a:p>
            <a:pPr algn="r">
              <a:spcAft>
                <a:spcPts val="700"/>
              </a:spcAft>
              <a:defRPr sz="1200" b="1">
                <a:solidFill>
                  <a:srgbClr val="245AD3"/>
                </a:solidFill>
                <a:latin typeface="DejaVu Sans"/>
              </a:defRPr>
            </a:pPr>
            <a:r>
              <a:t>07</a:t>
            </a:r>
          </a:p>
        </p:txBody>
      </p:sp>
      <p:sp>
        <p:nvSpPr>
          <p:cNvPr id="8" name="TextBox 7"/>
          <p:cNvSpPr txBox="1"/>
          <p:nvPr/>
        </p:nvSpPr>
        <p:spPr>
          <a:xfrm>
            <a:off x="530352" y="6126480"/>
            <a:ext cx="10972800" cy="210312"/>
          </a:xfrm>
          <a:prstGeom prst="rect">
            <a:avLst/>
          </a:prstGeom>
          <a:noFill/>
        </p:spPr>
        <p:txBody>
          <a:bodyPr wrap="square" lIns="18288" rIns="18288" tIns="18288" bIns="18288">
            <a:spAutoFit/>
          </a:bodyPr>
          <a:lstStyle/>
          <a:p>
            <a:pPr>
              <a:spcAft>
                <a:spcPts val="700"/>
              </a:spcAft>
              <a:defRPr sz="900" b="0">
                <a:solidFill>
                  <a:srgbClr val="5A6B7E"/>
                </a:solidFill>
                <a:latin typeface="DejaVu Sans"/>
              </a:defRPr>
            </a:pPr>
            <a:r>
              <a:t>Nguồn: Word Hình 4.1 và Bảng 4.3; ảnh gốc nhúng trong Word</a:t>
            </a:r>
          </a:p>
        </p:txBody>
      </p:sp>
      <p:sp>
        <p:nvSpPr>
          <p:cNvPr id="9" name="TextBox 8"/>
          <p:cNvSpPr txBox="1"/>
          <p:nvPr/>
        </p:nvSpPr>
        <p:spPr>
          <a:xfrm>
            <a:off x="548640" y="1481328"/>
            <a:ext cx="10972800" cy="420624"/>
          </a:xfrm>
          <a:prstGeom prst="rect">
            <a:avLst/>
          </a:prstGeom>
          <a:noFill/>
        </p:spPr>
        <p:txBody>
          <a:bodyPr wrap="square" lIns="18288" rIns="18288" tIns="18288" bIns="18288">
            <a:spAutoFit/>
          </a:bodyPr>
          <a:lstStyle/>
          <a:p>
            <a:pPr>
              <a:spcAft>
                <a:spcPts val="700"/>
              </a:spcAft>
              <a:defRPr sz="2400" b="1">
                <a:solidFill>
                  <a:srgbClr val="087F83"/>
                </a:solidFill>
                <a:latin typeface="DejaVu Sans"/>
              </a:defRPr>
            </a:pPr>
            <a:r>
              <a:t>Gaming · 10–&lt;15 triệu · Top 3</a:t>
            </a:r>
          </a:p>
        </p:txBody>
      </p:sp>
      <p:pic>
        <p:nvPicPr>
          <p:cNvPr id="10" name="Picture 9" descr="image11.png"/>
          <p:cNvPicPr>
            <a:picLocks noChangeAspect="1"/>
          </p:cNvPicPr>
          <p:nvPr/>
        </p:nvPicPr>
        <p:blipFill>
          <a:blip r:embed="rId2"/>
          <a:srcRect/>
          <a:stretch>
            <a:fillRect/>
          </a:stretch>
        </p:blipFill>
        <p:spPr>
          <a:xfrm>
            <a:off x="548640" y="2121408"/>
            <a:ext cx="6729643" cy="3749039"/>
          </a:xfrm>
          <a:prstGeom prst="rect">
            <a:avLst/>
          </a:prstGeom>
        </p:spPr>
      </p:pic>
      <p:sp>
        <p:nvSpPr>
          <p:cNvPr id="11" name="TextBox 10"/>
          <p:cNvSpPr txBox="1"/>
          <p:nvPr/>
        </p:nvSpPr>
        <p:spPr>
          <a:xfrm>
            <a:off x="8229600" y="2130552"/>
            <a:ext cx="3291840" cy="365760"/>
          </a:xfrm>
          <a:prstGeom prst="rect">
            <a:avLst/>
          </a:prstGeom>
          <a:noFill/>
        </p:spPr>
        <p:txBody>
          <a:bodyPr wrap="square" lIns="18288" rIns="18288" tIns="18288" bIns="18288">
            <a:spAutoFit/>
          </a:bodyPr>
          <a:lstStyle/>
          <a:p>
            <a:pPr>
              <a:spcAft>
                <a:spcPts val="700"/>
              </a:spcAft>
              <a:defRPr sz="2300" b="1">
                <a:solidFill>
                  <a:srgbClr val="142B49"/>
                </a:solidFill>
                <a:latin typeface="DejaVu Sans"/>
              </a:defRPr>
            </a:pPr>
            <a:r>
              <a:t>Quan sát</a:t>
            </a:r>
          </a:p>
        </p:txBody>
      </p:sp>
      <p:sp>
        <p:nvSpPr>
          <p:cNvPr id="12" name="TextBox 11"/>
          <p:cNvSpPr txBox="1"/>
          <p:nvPr/>
        </p:nvSpPr>
        <p:spPr>
          <a:xfrm>
            <a:off x="8229600" y="2724912"/>
            <a:ext cx="3383280" cy="2377440"/>
          </a:xfrm>
          <a:prstGeom prst="rect">
            <a:avLst/>
          </a:prstGeom>
          <a:noFill/>
        </p:spPr>
        <p:txBody>
          <a:bodyPr wrap="square" lIns="18288" rIns="18288" tIns="18288" bIns="18288">
            <a:spAutoFit/>
          </a:bodyPr>
          <a:lstStyle/>
          <a:p>
            <a:pPr>
              <a:spcAft>
                <a:spcPts val="700"/>
              </a:spcAft>
              <a:defRPr sz="2100" b="0">
                <a:solidFill>
                  <a:srgbClr val="23384F"/>
                </a:solidFill>
                <a:latin typeface="DejaVu Sans"/>
              </a:defRPr>
            </a:pPr>
            <a:r>
              <a:t>4/36 PC đủ điều kiện</a:t>
            </a:r>
          </a:p>
          <a:p>
            <a:pPr>
              <a:spcAft>
                <a:spcPts val="700"/>
              </a:spcAft>
              <a:defRPr sz="2100" b="0">
                <a:solidFill>
                  <a:srgbClr val="23384F"/>
                </a:solidFill>
                <a:latin typeface="DejaVu Sans"/>
              </a:defRPr>
            </a:pPr>
            <a:r>
              <a:t>3 card, rank #1–#3</a:t>
            </a:r>
          </a:p>
          <a:p>
            <a:pPr>
              <a:spcAft>
                <a:spcPts val="700"/>
              </a:spcAft>
              <a:defRPr sz="2100" b="0">
                <a:solidFill>
                  <a:srgbClr val="23384F"/>
                </a:solidFill>
                <a:latin typeface="DejaVu Sans"/>
              </a:defRPr>
            </a:pPr>
            <a:r>
              <a:t>Giá trong khoảng</a:t>
            </a:r>
          </a:p>
          <a:p>
            <a:pPr>
              <a:spcAft>
                <a:spcPts val="700"/>
              </a:spcAft>
              <a:defRPr sz="2100" b="0">
                <a:solidFill>
                  <a:srgbClr val="23384F"/>
                </a:solidFill>
                <a:latin typeface="DejaVu Sans"/>
              </a:defRPr>
            </a:pPr>
            <a:r>
              <a:t>Điểm giảm dần</a:t>
            </a:r>
          </a:p>
        </p:txBody>
      </p:sp>
      <p:sp>
        <p:nvSpPr>
          <p:cNvPr id="13" name="TextBox 12"/>
          <p:cNvSpPr txBox="1"/>
          <p:nvPr/>
        </p:nvSpPr>
        <p:spPr>
          <a:xfrm>
            <a:off x="8183879" y="5202936"/>
            <a:ext cx="3520440" cy="585216"/>
          </a:xfrm>
          <a:prstGeom prst="rect">
            <a:avLst/>
          </a:prstGeom>
          <a:noFill/>
        </p:spPr>
        <p:txBody>
          <a:bodyPr wrap="square" lIns="18288" rIns="18288" tIns="18288" bIns="18288">
            <a:spAutoFit/>
          </a:bodyPr>
          <a:lstStyle/>
          <a:p>
            <a:pPr>
              <a:spcAft>
                <a:spcPts val="700"/>
              </a:spcAft>
              <a:defRPr sz="1800" b="1">
                <a:solidFill>
                  <a:srgbClr val="245AD3"/>
                </a:solidFill>
                <a:latin typeface="DejaVu Sans"/>
              </a:defRPr>
            </a:pPr>
            <a:r>
              <a:t>8849,3 &gt; 6600,3 &gt; 5513,0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245A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75488" y="265176"/>
            <a:ext cx="10972800" cy="274320"/>
          </a:xfrm>
          <a:prstGeom prst="rect">
            <a:avLst/>
          </a:prstGeom>
          <a:noFill/>
        </p:spPr>
        <p:txBody>
          <a:bodyPr wrap="square" lIns="18288" rIns="18288" tIns="18288" bIns="18288">
            <a:spAutoFit/>
          </a:bodyPr>
          <a:lstStyle/>
          <a:p>
            <a:pPr>
              <a:spcAft>
                <a:spcPts val="700"/>
              </a:spcAft>
              <a:defRPr sz="1100" b="1">
                <a:solidFill>
                  <a:srgbClr val="087F83"/>
                </a:solidFill>
                <a:latin typeface="DejaVu Sans"/>
              </a:defRPr>
            </a:pPr>
            <a:r>
              <a:t>50 TESTCASE API · PM-001 ĐẾN PM-050</a:t>
            </a:r>
          </a:p>
        </p:txBody>
      </p:sp>
      <p:sp>
        <p:nvSpPr>
          <p:cNvPr id="4" name="TextBox 3"/>
          <p:cNvSpPr txBox="1"/>
          <p:nvPr/>
        </p:nvSpPr>
        <p:spPr>
          <a:xfrm>
            <a:off x="475488" y="740664"/>
            <a:ext cx="11201400" cy="640080"/>
          </a:xfrm>
          <a:prstGeom prst="rect">
            <a:avLst/>
          </a:prstGeom>
          <a:noFill/>
        </p:spPr>
        <p:txBody>
          <a:bodyPr wrap="square" lIns="18288" rIns="18288" tIns="18288" bIns="18288">
            <a:spAutoFit/>
          </a:bodyPr>
          <a:lstStyle/>
          <a:p>
            <a:pPr>
              <a:spcAft>
                <a:spcPts val="700"/>
              </a:spcAft>
              <a:defRPr sz="3000" b="1">
                <a:solidFill>
                  <a:srgbClr val="142B49"/>
                </a:solidFill>
                <a:latin typeface="DejaVu Sans"/>
              </a:defRPr>
            </a:pPr>
            <a:r>
              <a:t>Postman thủ công: người kiểm thử quyết định</a:t>
            </a:r>
          </a:p>
        </p:txBody>
      </p:sp>
      <p:sp>
        <p:nvSpPr>
          <p:cNvPr id="5" name="Rectangle 4"/>
          <p:cNvSpPr/>
          <p:nvPr/>
        </p:nvSpPr>
        <p:spPr>
          <a:xfrm>
            <a:off x="502920" y="6419088"/>
            <a:ext cx="11155680" cy="10972"/>
          </a:xfrm>
          <a:prstGeom prst="rect">
            <a:avLst/>
          </a:prstGeom>
          <a:solidFill>
            <a:srgbClr val="DB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8229600" cy="182880"/>
          </a:xfrm>
          <a:prstGeom prst="rect">
            <a:avLst/>
          </a:prstGeom>
          <a:noFill/>
        </p:spPr>
        <p:txBody>
          <a:bodyPr wrap="square" lIns="18288" rIns="18288" tIns="18288" bIns="18288">
            <a:spAutoFit/>
          </a:bodyPr>
          <a:lstStyle/>
          <a:p>
            <a:pPr>
              <a:spcAft>
                <a:spcPts val="700"/>
              </a:spcAft>
              <a:defRPr sz="900" b="0">
                <a:solidFill>
                  <a:srgbClr val="5A6B7E"/>
                </a:solidFill>
                <a:latin typeface="DejaVu Sans"/>
              </a:defRPr>
            </a:pPr>
            <a:r>
              <a:t>NHÓM 11 · 23CN2  |  KIỂM THỬ &amp; ĐẢM BẢO CHẤT LƯỢNG PHẦN MỀM</a:t>
            </a:r>
          </a:p>
        </p:txBody>
      </p:sp>
      <p:sp>
        <p:nvSpPr>
          <p:cNvPr id="7" name="TextBox 6"/>
          <p:cNvSpPr txBox="1"/>
          <p:nvPr/>
        </p:nvSpPr>
        <p:spPr>
          <a:xfrm>
            <a:off x="11064240" y="6473952"/>
            <a:ext cx="548640" cy="228600"/>
          </a:xfrm>
          <a:prstGeom prst="rect">
            <a:avLst/>
          </a:prstGeom>
          <a:noFill/>
        </p:spPr>
        <p:txBody>
          <a:bodyPr wrap="square" lIns="18288" rIns="18288" tIns="18288" bIns="18288">
            <a:spAutoFit/>
          </a:bodyPr>
          <a:lstStyle/>
          <a:p>
            <a:pPr algn="r">
              <a:spcAft>
                <a:spcPts val="700"/>
              </a:spcAft>
              <a:defRPr sz="1200" b="1">
                <a:solidFill>
                  <a:srgbClr val="245AD3"/>
                </a:solidFill>
                <a:latin typeface="DejaVu Sans"/>
              </a:defRPr>
            </a:pPr>
            <a:r>
              <a:t>08</a:t>
            </a:r>
          </a:p>
        </p:txBody>
      </p:sp>
      <p:sp>
        <p:nvSpPr>
          <p:cNvPr id="8" name="TextBox 7"/>
          <p:cNvSpPr txBox="1"/>
          <p:nvPr/>
        </p:nvSpPr>
        <p:spPr>
          <a:xfrm>
            <a:off x="530352" y="6126480"/>
            <a:ext cx="10972800" cy="210312"/>
          </a:xfrm>
          <a:prstGeom prst="rect">
            <a:avLst/>
          </a:prstGeom>
          <a:noFill/>
        </p:spPr>
        <p:txBody>
          <a:bodyPr wrap="square" lIns="18288" rIns="18288" tIns="18288" bIns="18288">
            <a:spAutoFit/>
          </a:bodyPr>
          <a:lstStyle/>
          <a:p>
            <a:pPr>
              <a:spcAft>
                <a:spcPts val="700"/>
              </a:spcAft>
              <a:defRPr sz="900" b="0">
                <a:solidFill>
                  <a:srgbClr val="5A6B7E"/>
                </a:solidFill>
                <a:latin typeface="DejaVu Sans"/>
              </a:defRPr>
            </a:pPr>
            <a:r>
              <a:t>Nguồn: Excel Test_cases, cột “Trạng thái thủ công”; Word §4.4.1–4.4.4</a:t>
            </a:r>
          </a:p>
        </p:txBody>
      </p:sp>
      <p:sp>
        <p:nvSpPr>
          <p:cNvPr id="9" name="Rounded Rectangle 8"/>
          <p:cNvSpPr/>
          <p:nvPr/>
        </p:nvSpPr>
        <p:spPr>
          <a:xfrm>
            <a:off x="548640" y="1691640"/>
            <a:ext cx="2532888" cy="1143000"/>
          </a:xfrm>
          <a:prstGeom prst="roundRect">
            <a:avLst>
              <a:gd name="adj" fmla="val 12000"/>
            </a:avLst>
          </a:prstGeom>
          <a:solidFill>
            <a:srgbClr val="FFFFFF"/>
          </a:solidFill>
          <a:ln>
            <a:solidFill>
              <a:srgbClr val="DB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1819656"/>
            <a:ext cx="2240280" cy="521207"/>
          </a:xfrm>
          <a:prstGeom prst="rect">
            <a:avLst/>
          </a:prstGeom>
          <a:noFill/>
        </p:spPr>
        <p:txBody>
          <a:bodyPr wrap="square" lIns="18288" rIns="18288" tIns="18288" bIns="18288">
            <a:spAutoFit/>
          </a:bodyPr>
          <a:lstStyle/>
          <a:p>
            <a:pPr>
              <a:spcAft>
                <a:spcPts val="700"/>
              </a:spcAft>
              <a:defRPr sz="3200" b="1">
                <a:solidFill>
                  <a:srgbClr val="245AD3"/>
                </a:solidFill>
                <a:latin typeface="DejaVu Sans"/>
              </a:defRPr>
            </a:pPr>
            <a:r>
              <a:t>1</a:t>
            </a:r>
          </a:p>
        </p:txBody>
      </p:sp>
      <p:sp>
        <p:nvSpPr>
          <p:cNvPr id="11" name="TextBox 10"/>
          <p:cNvSpPr txBox="1"/>
          <p:nvPr/>
        </p:nvSpPr>
        <p:spPr>
          <a:xfrm>
            <a:off x="694944" y="2395728"/>
            <a:ext cx="2240280" cy="274320"/>
          </a:xfrm>
          <a:prstGeom prst="rect">
            <a:avLst/>
          </a:prstGeom>
          <a:noFill/>
        </p:spPr>
        <p:txBody>
          <a:bodyPr wrap="square" lIns="18288" rIns="18288" tIns="18288" bIns="18288">
            <a:spAutoFit/>
          </a:bodyPr>
          <a:lstStyle/>
          <a:p>
            <a:pPr>
              <a:spcAft>
                <a:spcPts val="700"/>
              </a:spcAft>
              <a:defRPr sz="1600" b="0">
                <a:solidFill>
                  <a:srgbClr val="23384F"/>
                </a:solidFill>
                <a:latin typeface="DejaVu Sans"/>
              </a:defRPr>
            </a:pPr>
            <a:r>
              <a:t>Health</a:t>
            </a:r>
          </a:p>
        </p:txBody>
      </p:sp>
      <p:sp>
        <p:nvSpPr>
          <p:cNvPr id="12" name="Rounded Rectangle 11"/>
          <p:cNvSpPr/>
          <p:nvPr/>
        </p:nvSpPr>
        <p:spPr>
          <a:xfrm>
            <a:off x="3401568" y="1691640"/>
            <a:ext cx="2532888" cy="1143000"/>
          </a:xfrm>
          <a:prstGeom prst="roundRect">
            <a:avLst>
              <a:gd name="adj" fmla="val 12000"/>
            </a:avLst>
          </a:prstGeom>
          <a:solidFill>
            <a:srgbClr val="FFFFFF"/>
          </a:solidFill>
          <a:ln>
            <a:solidFill>
              <a:srgbClr val="DB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47872" y="1819656"/>
            <a:ext cx="2240280" cy="521207"/>
          </a:xfrm>
          <a:prstGeom prst="rect">
            <a:avLst/>
          </a:prstGeom>
          <a:noFill/>
        </p:spPr>
        <p:txBody>
          <a:bodyPr wrap="square" lIns="18288" rIns="18288" tIns="18288" bIns="18288">
            <a:spAutoFit/>
          </a:bodyPr>
          <a:lstStyle/>
          <a:p>
            <a:pPr>
              <a:spcAft>
                <a:spcPts val="700"/>
              </a:spcAft>
              <a:defRPr sz="3200" b="1">
                <a:solidFill>
                  <a:srgbClr val="245AD3"/>
                </a:solidFill>
                <a:latin typeface="DejaVu Sans"/>
              </a:defRPr>
            </a:pPr>
            <a:r>
              <a:t>4</a:t>
            </a:r>
          </a:p>
        </p:txBody>
      </p:sp>
      <p:sp>
        <p:nvSpPr>
          <p:cNvPr id="14" name="TextBox 13"/>
          <p:cNvSpPr txBox="1"/>
          <p:nvPr/>
        </p:nvSpPr>
        <p:spPr>
          <a:xfrm>
            <a:off x="3547872" y="2395728"/>
            <a:ext cx="2240280" cy="274320"/>
          </a:xfrm>
          <a:prstGeom prst="rect">
            <a:avLst/>
          </a:prstGeom>
          <a:noFill/>
        </p:spPr>
        <p:txBody>
          <a:bodyPr wrap="square" lIns="18288" rIns="18288" tIns="18288" bIns="18288">
            <a:spAutoFit/>
          </a:bodyPr>
          <a:lstStyle/>
          <a:p>
            <a:pPr>
              <a:spcAft>
                <a:spcPts val="700"/>
              </a:spcAft>
              <a:defRPr sz="1600" b="0">
                <a:solidFill>
                  <a:srgbClr val="23384F"/>
                </a:solidFill>
                <a:latin typeface="DejaVu Sans"/>
              </a:defRPr>
            </a:pPr>
            <a:r>
              <a:t>Catalog</a:t>
            </a:r>
          </a:p>
        </p:txBody>
      </p:sp>
      <p:sp>
        <p:nvSpPr>
          <p:cNvPr id="15" name="Rounded Rectangle 14"/>
          <p:cNvSpPr/>
          <p:nvPr/>
        </p:nvSpPr>
        <p:spPr>
          <a:xfrm>
            <a:off x="6254496" y="1691640"/>
            <a:ext cx="2532888" cy="1143000"/>
          </a:xfrm>
          <a:prstGeom prst="roundRect">
            <a:avLst>
              <a:gd name="adj" fmla="val 12000"/>
            </a:avLst>
          </a:prstGeom>
          <a:solidFill>
            <a:srgbClr val="FFFFFF"/>
          </a:solidFill>
          <a:ln>
            <a:solidFill>
              <a:srgbClr val="DB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1819656"/>
            <a:ext cx="2240280" cy="521207"/>
          </a:xfrm>
          <a:prstGeom prst="rect">
            <a:avLst/>
          </a:prstGeom>
          <a:noFill/>
        </p:spPr>
        <p:txBody>
          <a:bodyPr wrap="square" lIns="18288" rIns="18288" tIns="18288" bIns="18288">
            <a:spAutoFit/>
          </a:bodyPr>
          <a:lstStyle/>
          <a:p>
            <a:pPr>
              <a:spcAft>
                <a:spcPts val="700"/>
              </a:spcAft>
              <a:defRPr sz="3200" b="1">
                <a:solidFill>
                  <a:srgbClr val="245AD3"/>
                </a:solidFill>
                <a:latin typeface="DejaVu Sans"/>
              </a:defRPr>
            </a:pPr>
            <a:r>
              <a:t>5</a:t>
            </a:r>
          </a:p>
        </p:txBody>
      </p:sp>
      <p:sp>
        <p:nvSpPr>
          <p:cNvPr id="17" name="TextBox 16"/>
          <p:cNvSpPr txBox="1"/>
          <p:nvPr/>
        </p:nvSpPr>
        <p:spPr>
          <a:xfrm>
            <a:off x="6400800" y="2395728"/>
            <a:ext cx="2240280" cy="274320"/>
          </a:xfrm>
          <a:prstGeom prst="rect">
            <a:avLst/>
          </a:prstGeom>
          <a:noFill/>
        </p:spPr>
        <p:txBody>
          <a:bodyPr wrap="square" lIns="18288" rIns="18288" tIns="18288" bIns="18288">
            <a:spAutoFit/>
          </a:bodyPr>
          <a:lstStyle/>
          <a:p>
            <a:pPr>
              <a:spcAft>
                <a:spcPts val="700"/>
              </a:spcAft>
              <a:defRPr sz="1600" b="0">
                <a:solidFill>
                  <a:srgbClr val="23384F"/>
                </a:solidFill>
                <a:latin typeface="DejaVu Sans"/>
              </a:defRPr>
            </a:pPr>
            <a:r>
              <a:t>Prediction</a:t>
            </a:r>
          </a:p>
        </p:txBody>
      </p:sp>
      <p:sp>
        <p:nvSpPr>
          <p:cNvPr id="18" name="Rounded Rectangle 17"/>
          <p:cNvSpPr/>
          <p:nvPr/>
        </p:nvSpPr>
        <p:spPr>
          <a:xfrm>
            <a:off x="9107424" y="1691640"/>
            <a:ext cx="2532888" cy="1143000"/>
          </a:xfrm>
          <a:prstGeom prst="roundRect">
            <a:avLst>
              <a:gd name="adj" fmla="val 12000"/>
            </a:avLst>
          </a:prstGeom>
          <a:solidFill>
            <a:srgbClr val="FFFFFF"/>
          </a:solidFill>
          <a:ln>
            <a:solidFill>
              <a:srgbClr val="DB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53728" y="1819656"/>
            <a:ext cx="2240280" cy="521207"/>
          </a:xfrm>
          <a:prstGeom prst="rect">
            <a:avLst/>
          </a:prstGeom>
          <a:noFill/>
        </p:spPr>
        <p:txBody>
          <a:bodyPr wrap="square" lIns="18288" rIns="18288" tIns="18288" bIns="18288">
            <a:spAutoFit/>
          </a:bodyPr>
          <a:lstStyle/>
          <a:p>
            <a:pPr>
              <a:spcAft>
                <a:spcPts val="700"/>
              </a:spcAft>
              <a:defRPr sz="3200" b="1">
                <a:solidFill>
                  <a:srgbClr val="245AD3"/>
                </a:solidFill>
                <a:latin typeface="DejaVu Sans"/>
              </a:defRPr>
            </a:pPr>
            <a:r>
              <a:t>40</a:t>
            </a:r>
          </a:p>
        </p:txBody>
      </p:sp>
      <p:sp>
        <p:nvSpPr>
          <p:cNvPr id="20" name="TextBox 19"/>
          <p:cNvSpPr txBox="1"/>
          <p:nvPr/>
        </p:nvSpPr>
        <p:spPr>
          <a:xfrm>
            <a:off x="9253728" y="2395728"/>
            <a:ext cx="2240280" cy="274320"/>
          </a:xfrm>
          <a:prstGeom prst="rect">
            <a:avLst/>
          </a:prstGeom>
          <a:noFill/>
        </p:spPr>
        <p:txBody>
          <a:bodyPr wrap="square" lIns="18288" rIns="18288" tIns="18288" bIns="18288">
            <a:spAutoFit/>
          </a:bodyPr>
          <a:lstStyle/>
          <a:p>
            <a:pPr>
              <a:spcAft>
                <a:spcPts val="700"/>
              </a:spcAft>
              <a:defRPr sz="1600" b="0">
                <a:solidFill>
                  <a:srgbClr val="23384F"/>
                </a:solidFill>
                <a:latin typeface="DejaVu Sans"/>
              </a:defRPr>
            </a:pPr>
            <a:r>
              <a:t>Recommendation</a:t>
            </a:r>
          </a:p>
        </p:txBody>
      </p:sp>
      <p:sp>
        <p:nvSpPr>
          <p:cNvPr id="21" name="TextBox 20"/>
          <p:cNvSpPr txBox="1"/>
          <p:nvPr/>
        </p:nvSpPr>
        <p:spPr>
          <a:xfrm>
            <a:off x="585216" y="3209544"/>
            <a:ext cx="10972800" cy="548640"/>
          </a:xfrm>
          <a:prstGeom prst="rect">
            <a:avLst/>
          </a:prstGeom>
          <a:noFill/>
        </p:spPr>
        <p:txBody>
          <a:bodyPr wrap="square" lIns="18288" rIns="18288" tIns="18288" bIns="18288">
            <a:spAutoFit/>
          </a:bodyPr>
          <a:lstStyle/>
          <a:p>
            <a:pPr>
              <a:spcAft>
                <a:spcPts val="700"/>
              </a:spcAft>
              <a:defRPr sz="2400" b="1">
                <a:solidFill>
                  <a:srgbClr val="142B49"/>
                </a:solidFill>
                <a:latin typeface="DejaVu Sans"/>
              </a:defRPr>
            </a:pPr>
            <a:r>
              <a:t>Gửi request → Đọc response → Tự đối chiếu → Ghi Excel</a:t>
            </a:r>
          </a:p>
        </p:txBody>
      </p:sp>
      <p:sp>
        <p:nvSpPr>
          <p:cNvPr id="22" name="Rectangle 21"/>
          <p:cNvSpPr/>
          <p:nvPr/>
        </p:nvSpPr>
        <p:spPr>
          <a:xfrm>
            <a:off x="548640" y="3794760"/>
            <a:ext cx="5577840" cy="420624"/>
          </a:xfrm>
          <a:prstGeom prst="rect">
            <a:avLst/>
          </a:prstGeom>
          <a:solidFill>
            <a:srgbClr val="142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 y="3904488"/>
            <a:ext cx="5376672" cy="283464"/>
          </a:xfrm>
          <a:prstGeom prst="rect">
            <a:avLst/>
          </a:prstGeom>
          <a:noFill/>
        </p:spPr>
        <p:txBody>
          <a:bodyPr wrap="square" lIns="18288" rIns="18288" tIns="18288" bIns="18288">
            <a:spAutoFit/>
          </a:bodyPr>
          <a:lstStyle/>
          <a:p>
            <a:pPr>
              <a:spcAft>
                <a:spcPts val="700"/>
              </a:spcAft>
              <a:defRPr sz="1700" b="1">
                <a:solidFill>
                  <a:srgbClr val="FFFFFF"/>
                </a:solidFill>
                <a:latin typeface="DejaVu Sans"/>
              </a:defRPr>
            </a:pPr>
            <a:r>
              <a:t>Ca âm tính</a:t>
            </a:r>
          </a:p>
        </p:txBody>
      </p:sp>
      <p:sp>
        <p:nvSpPr>
          <p:cNvPr id="24" name="Rectangle 23"/>
          <p:cNvSpPr/>
          <p:nvPr/>
        </p:nvSpPr>
        <p:spPr>
          <a:xfrm>
            <a:off x="6126479" y="3794760"/>
            <a:ext cx="2194560" cy="420624"/>
          </a:xfrm>
          <a:prstGeom prst="rect">
            <a:avLst/>
          </a:prstGeom>
          <a:solidFill>
            <a:srgbClr val="142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36207" y="3904488"/>
            <a:ext cx="1993391" cy="283464"/>
          </a:xfrm>
          <a:prstGeom prst="rect">
            <a:avLst/>
          </a:prstGeom>
          <a:noFill/>
        </p:spPr>
        <p:txBody>
          <a:bodyPr wrap="square" lIns="18288" rIns="18288" tIns="18288" bIns="18288">
            <a:spAutoFit/>
          </a:bodyPr>
          <a:lstStyle/>
          <a:p>
            <a:pPr>
              <a:spcAft>
                <a:spcPts val="700"/>
              </a:spcAft>
              <a:defRPr sz="1700" b="1">
                <a:solidFill>
                  <a:srgbClr val="FFFFFF"/>
                </a:solidFill>
                <a:latin typeface="DejaVu Sans"/>
              </a:defRPr>
            </a:pPr>
            <a:r>
              <a:t>HTTP kỳ vọng</a:t>
            </a:r>
          </a:p>
        </p:txBody>
      </p:sp>
      <p:sp>
        <p:nvSpPr>
          <p:cNvPr id="26" name="Rectangle 25"/>
          <p:cNvSpPr/>
          <p:nvPr/>
        </p:nvSpPr>
        <p:spPr>
          <a:xfrm>
            <a:off x="8321040" y="3794760"/>
            <a:ext cx="3337560" cy="420624"/>
          </a:xfrm>
          <a:prstGeom prst="rect">
            <a:avLst/>
          </a:prstGeom>
          <a:solidFill>
            <a:srgbClr val="142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30767" y="3904488"/>
            <a:ext cx="3136391" cy="283464"/>
          </a:xfrm>
          <a:prstGeom prst="rect">
            <a:avLst/>
          </a:prstGeom>
          <a:noFill/>
        </p:spPr>
        <p:txBody>
          <a:bodyPr wrap="square" lIns="18288" rIns="18288" tIns="18288" bIns="18288">
            <a:spAutoFit/>
          </a:bodyPr>
          <a:lstStyle/>
          <a:p>
            <a:pPr>
              <a:spcAft>
                <a:spcPts val="700"/>
              </a:spcAft>
              <a:defRPr sz="1700" b="1">
                <a:solidFill>
                  <a:srgbClr val="FFFFFF"/>
                </a:solidFill>
                <a:latin typeface="DejaVu Sans"/>
              </a:defRPr>
            </a:pPr>
            <a:r>
              <a:t>Kết quả trong Excel</a:t>
            </a:r>
          </a:p>
        </p:txBody>
      </p:sp>
      <p:sp>
        <p:nvSpPr>
          <p:cNvPr id="28" name="Rectangle 27"/>
          <p:cNvSpPr/>
          <p:nvPr/>
        </p:nvSpPr>
        <p:spPr>
          <a:xfrm>
            <a:off x="548640" y="4215384"/>
            <a:ext cx="557784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 y="4325112"/>
            <a:ext cx="5376672" cy="283464"/>
          </a:xfrm>
          <a:prstGeom prst="rect">
            <a:avLst/>
          </a:prstGeom>
          <a:noFill/>
        </p:spPr>
        <p:txBody>
          <a:bodyPr wrap="square" lIns="18288" rIns="18288" tIns="18288" bIns="18288">
            <a:spAutoFit/>
          </a:bodyPr>
          <a:lstStyle/>
          <a:p>
            <a:pPr>
              <a:spcAft>
                <a:spcPts val="700"/>
              </a:spcAft>
              <a:defRPr sz="1700" b="1">
                <a:solidFill>
                  <a:srgbClr val="23384F"/>
                </a:solidFill>
                <a:latin typeface="DejaVu Sans"/>
              </a:defRPr>
            </a:pPr>
            <a:r>
              <a:t>PM-033 · thiếu purpose</a:t>
            </a:r>
          </a:p>
        </p:txBody>
      </p:sp>
      <p:sp>
        <p:nvSpPr>
          <p:cNvPr id="30" name="Rectangle 29"/>
          <p:cNvSpPr/>
          <p:nvPr/>
        </p:nvSpPr>
        <p:spPr>
          <a:xfrm>
            <a:off x="6126479" y="4215384"/>
            <a:ext cx="219456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36207" y="4325112"/>
            <a:ext cx="1993391" cy="283464"/>
          </a:xfrm>
          <a:prstGeom prst="rect">
            <a:avLst/>
          </a:prstGeom>
          <a:noFill/>
        </p:spPr>
        <p:txBody>
          <a:bodyPr wrap="square" lIns="18288" rIns="18288" tIns="18288" bIns="18288">
            <a:spAutoFit/>
          </a:bodyPr>
          <a:lstStyle/>
          <a:p>
            <a:pPr>
              <a:spcAft>
                <a:spcPts val="700"/>
              </a:spcAft>
              <a:defRPr sz="1700" b="0">
                <a:solidFill>
                  <a:srgbClr val="23384F"/>
                </a:solidFill>
                <a:latin typeface="DejaVu Sans"/>
              </a:defRPr>
            </a:pPr>
            <a:r>
              <a:t>400</a:t>
            </a:r>
          </a:p>
        </p:txBody>
      </p:sp>
      <p:sp>
        <p:nvSpPr>
          <p:cNvPr id="32" name="Rectangle 31"/>
          <p:cNvSpPr/>
          <p:nvPr/>
        </p:nvSpPr>
        <p:spPr>
          <a:xfrm>
            <a:off x="8321040" y="4215384"/>
            <a:ext cx="333756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30767" y="4325112"/>
            <a:ext cx="3136391" cy="283464"/>
          </a:xfrm>
          <a:prstGeom prst="rect">
            <a:avLst/>
          </a:prstGeom>
          <a:noFill/>
        </p:spPr>
        <p:txBody>
          <a:bodyPr wrap="square" lIns="18288" rIns="18288" tIns="18288" bIns="18288">
            <a:spAutoFit/>
          </a:bodyPr>
          <a:lstStyle/>
          <a:p>
            <a:pPr>
              <a:spcAft>
                <a:spcPts val="700"/>
              </a:spcAft>
              <a:defRPr sz="1700" b="0">
                <a:solidFill>
                  <a:srgbClr val="23384F"/>
                </a:solidFill>
                <a:latin typeface="DejaVu Sans"/>
              </a:defRPr>
            </a:pPr>
            <a:r>
              <a:t>Pass</a:t>
            </a:r>
          </a:p>
        </p:txBody>
      </p:sp>
      <p:sp>
        <p:nvSpPr>
          <p:cNvPr id="34" name="Rectangle 33"/>
          <p:cNvSpPr/>
          <p:nvPr/>
        </p:nvSpPr>
        <p:spPr>
          <a:xfrm>
            <a:off x="548640" y="4636008"/>
            <a:ext cx="5577840" cy="420624"/>
          </a:xfrm>
          <a:prstGeom prst="rect">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8" y="4745736"/>
            <a:ext cx="5376672" cy="283464"/>
          </a:xfrm>
          <a:prstGeom prst="rect">
            <a:avLst/>
          </a:prstGeom>
          <a:noFill/>
        </p:spPr>
        <p:txBody>
          <a:bodyPr wrap="square" lIns="18288" rIns="18288" tIns="18288" bIns="18288">
            <a:spAutoFit/>
          </a:bodyPr>
          <a:lstStyle/>
          <a:p>
            <a:pPr>
              <a:spcAft>
                <a:spcPts val="700"/>
              </a:spcAft>
              <a:defRPr sz="1700" b="1">
                <a:solidFill>
                  <a:srgbClr val="23384F"/>
                </a:solidFill>
                <a:latin typeface="DejaVu Sans"/>
              </a:defRPr>
            </a:pPr>
            <a:r>
              <a:t>PM-005 · ID không tồn tại</a:t>
            </a:r>
          </a:p>
        </p:txBody>
      </p:sp>
      <p:sp>
        <p:nvSpPr>
          <p:cNvPr id="36" name="Rectangle 35"/>
          <p:cNvSpPr/>
          <p:nvPr/>
        </p:nvSpPr>
        <p:spPr>
          <a:xfrm>
            <a:off x="6126479" y="4636008"/>
            <a:ext cx="2194560" cy="420624"/>
          </a:xfrm>
          <a:prstGeom prst="rect">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36207" y="4745736"/>
            <a:ext cx="1993391" cy="283464"/>
          </a:xfrm>
          <a:prstGeom prst="rect">
            <a:avLst/>
          </a:prstGeom>
          <a:noFill/>
        </p:spPr>
        <p:txBody>
          <a:bodyPr wrap="square" lIns="18288" rIns="18288" tIns="18288" bIns="18288">
            <a:spAutoFit/>
          </a:bodyPr>
          <a:lstStyle/>
          <a:p>
            <a:pPr>
              <a:spcAft>
                <a:spcPts val="700"/>
              </a:spcAft>
              <a:defRPr sz="1700" b="0">
                <a:solidFill>
                  <a:srgbClr val="23384F"/>
                </a:solidFill>
                <a:latin typeface="DejaVu Sans"/>
              </a:defRPr>
            </a:pPr>
            <a:r>
              <a:t>404</a:t>
            </a:r>
          </a:p>
        </p:txBody>
      </p:sp>
      <p:sp>
        <p:nvSpPr>
          <p:cNvPr id="38" name="Rectangle 37"/>
          <p:cNvSpPr/>
          <p:nvPr/>
        </p:nvSpPr>
        <p:spPr>
          <a:xfrm>
            <a:off x="8321040" y="4636008"/>
            <a:ext cx="3337560" cy="420624"/>
          </a:xfrm>
          <a:prstGeom prst="rect">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430767" y="4745736"/>
            <a:ext cx="3136391" cy="283464"/>
          </a:xfrm>
          <a:prstGeom prst="rect">
            <a:avLst/>
          </a:prstGeom>
          <a:noFill/>
        </p:spPr>
        <p:txBody>
          <a:bodyPr wrap="square" lIns="18288" rIns="18288" tIns="18288" bIns="18288">
            <a:spAutoFit/>
          </a:bodyPr>
          <a:lstStyle/>
          <a:p>
            <a:pPr>
              <a:spcAft>
                <a:spcPts val="700"/>
              </a:spcAft>
              <a:defRPr sz="1700" b="0">
                <a:solidFill>
                  <a:srgbClr val="23384F"/>
                </a:solidFill>
                <a:latin typeface="DejaVu Sans"/>
              </a:defRPr>
            </a:pPr>
            <a:r>
              <a:t>Pass</a:t>
            </a:r>
          </a:p>
        </p:txBody>
      </p:sp>
      <p:sp>
        <p:nvSpPr>
          <p:cNvPr id="40" name="Rectangle 39"/>
          <p:cNvSpPr/>
          <p:nvPr/>
        </p:nvSpPr>
        <p:spPr>
          <a:xfrm>
            <a:off x="548640" y="5056632"/>
            <a:ext cx="557784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8368" y="5166360"/>
            <a:ext cx="5376672" cy="283464"/>
          </a:xfrm>
          <a:prstGeom prst="rect">
            <a:avLst/>
          </a:prstGeom>
          <a:noFill/>
        </p:spPr>
        <p:txBody>
          <a:bodyPr wrap="square" lIns="18288" rIns="18288" tIns="18288" bIns="18288">
            <a:spAutoFit/>
          </a:bodyPr>
          <a:lstStyle/>
          <a:p>
            <a:pPr>
              <a:spcAft>
                <a:spcPts val="700"/>
              </a:spcAft>
              <a:defRPr sz="1700" b="1">
                <a:solidFill>
                  <a:srgbClr val="23384F"/>
                </a:solidFill>
                <a:latin typeface="DejaVu Sans"/>
              </a:defRPr>
            </a:pPr>
            <a:r>
              <a:t>PM-050 · sai Content-Type</a:t>
            </a:r>
          </a:p>
        </p:txBody>
      </p:sp>
      <p:sp>
        <p:nvSpPr>
          <p:cNvPr id="42" name="Rectangle 41"/>
          <p:cNvSpPr/>
          <p:nvPr/>
        </p:nvSpPr>
        <p:spPr>
          <a:xfrm>
            <a:off x="6126479" y="5056632"/>
            <a:ext cx="219456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236207" y="5166360"/>
            <a:ext cx="1993391" cy="283464"/>
          </a:xfrm>
          <a:prstGeom prst="rect">
            <a:avLst/>
          </a:prstGeom>
          <a:noFill/>
        </p:spPr>
        <p:txBody>
          <a:bodyPr wrap="square" lIns="18288" rIns="18288" tIns="18288" bIns="18288">
            <a:spAutoFit/>
          </a:bodyPr>
          <a:lstStyle/>
          <a:p>
            <a:pPr>
              <a:spcAft>
                <a:spcPts val="700"/>
              </a:spcAft>
              <a:defRPr sz="1700" b="0">
                <a:solidFill>
                  <a:srgbClr val="23384F"/>
                </a:solidFill>
                <a:latin typeface="DejaVu Sans"/>
              </a:defRPr>
            </a:pPr>
            <a:r>
              <a:t>415</a:t>
            </a:r>
          </a:p>
        </p:txBody>
      </p:sp>
      <p:sp>
        <p:nvSpPr>
          <p:cNvPr id="44" name="Rectangle 43"/>
          <p:cNvSpPr/>
          <p:nvPr/>
        </p:nvSpPr>
        <p:spPr>
          <a:xfrm>
            <a:off x="8321040" y="5056632"/>
            <a:ext cx="333756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30767" y="5166360"/>
            <a:ext cx="3136391" cy="283464"/>
          </a:xfrm>
          <a:prstGeom prst="rect">
            <a:avLst/>
          </a:prstGeom>
          <a:noFill/>
        </p:spPr>
        <p:txBody>
          <a:bodyPr wrap="square" lIns="18288" rIns="18288" tIns="18288" bIns="18288">
            <a:spAutoFit/>
          </a:bodyPr>
          <a:lstStyle/>
          <a:p>
            <a:pPr>
              <a:spcAft>
                <a:spcPts val="700"/>
              </a:spcAft>
              <a:defRPr sz="1700" b="0">
                <a:solidFill>
                  <a:srgbClr val="23384F"/>
                </a:solidFill>
                <a:latin typeface="DejaVu Sans"/>
              </a:defRPr>
            </a:pPr>
            <a:r>
              <a:t>Pass</a:t>
            </a:r>
          </a:p>
        </p:txBody>
      </p:sp>
      <p:sp>
        <p:nvSpPr>
          <p:cNvPr id="46" name="Rounded Rectangle 45"/>
          <p:cNvSpPr/>
          <p:nvPr/>
        </p:nvSpPr>
        <p:spPr>
          <a:xfrm>
            <a:off x="530352" y="5605272"/>
            <a:ext cx="11109960" cy="438912"/>
          </a:xfrm>
          <a:prstGeom prst="roundRect">
            <a:avLst>
              <a:gd name="adj" fmla="val 12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94944" y="5655564"/>
            <a:ext cx="10789920" cy="338328"/>
          </a:xfrm>
          <a:prstGeom prst="rect">
            <a:avLst/>
          </a:prstGeom>
          <a:noFill/>
        </p:spPr>
        <p:txBody>
          <a:bodyPr wrap="square" lIns="18288" rIns="18288" tIns="18288" bIns="18288">
            <a:spAutoFit/>
          </a:bodyPr>
          <a:lstStyle/>
          <a:p>
            <a:pPr>
              <a:spcAft>
                <a:spcPts val="700"/>
              </a:spcAft>
              <a:defRPr sz="1800" b="1">
                <a:solidFill>
                  <a:srgbClr val="087F83"/>
                </a:solidFill>
                <a:latin typeface="DejaVu Sans"/>
              </a:defRPr>
            </a:pPr>
            <a:r>
              <a:t>50/50 ca thủ công Pass theo Excel; không suy ra từ lần chạy tự động.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245A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75488" y="265176"/>
            <a:ext cx="10972800" cy="274320"/>
          </a:xfrm>
          <a:prstGeom prst="rect">
            <a:avLst/>
          </a:prstGeom>
          <a:noFill/>
        </p:spPr>
        <p:txBody>
          <a:bodyPr wrap="square" lIns="18288" rIns="18288" tIns="18288" bIns="18288">
            <a:spAutoFit/>
          </a:bodyPr>
          <a:lstStyle/>
          <a:p>
            <a:pPr>
              <a:spcAft>
                <a:spcPts val="700"/>
              </a:spcAft>
              <a:defRPr sz="1100" b="1">
                <a:solidFill>
                  <a:srgbClr val="087F83"/>
                </a:solidFill>
                <a:latin typeface="DejaVu Sans"/>
              </a:defRPr>
            </a:pPr>
            <a:r>
              <a:t>VÍ DỤ API THỦ CÔNG CÓ RESPONSE THẬT</a:t>
            </a:r>
          </a:p>
        </p:txBody>
      </p:sp>
      <p:sp>
        <p:nvSpPr>
          <p:cNvPr id="4" name="TextBox 3"/>
          <p:cNvSpPr txBox="1"/>
          <p:nvPr/>
        </p:nvSpPr>
        <p:spPr>
          <a:xfrm>
            <a:off x="475488" y="740664"/>
            <a:ext cx="11201400" cy="640080"/>
          </a:xfrm>
          <a:prstGeom prst="rect">
            <a:avLst/>
          </a:prstGeom>
          <a:noFill/>
        </p:spPr>
        <p:txBody>
          <a:bodyPr wrap="square" lIns="18288" rIns="18288" tIns="18288" bIns="18288">
            <a:spAutoFit/>
          </a:bodyPr>
          <a:lstStyle/>
          <a:p>
            <a:pPr>
              <a:spcAft>
                <a:spcPts val="700"/>
              </a:spcAft>
              <a:defRPr sz="3000" b="1">
                <a:solidFill>
                  <a:srgbClr val="142B49"/>
                </a:solidFill>
                <a:latin typeface="DejaVu Sans"/>
              </a:defRPr>
            </a:pPr>
            <a:r>
              <a:t>PM-029: kiểm tra số tiền còn lại</a:t>
            </a:r>
          </a:p>
        </p:txBody>
      </p:sp>
      <p:sp>
        <p:nvSpPr>
          <p:cNvPr id="5" name="Rectangle 4"/>
          <p:cNvSpPr/>
          <p:nvPr/>
        </p:nvSpPr>
        <p:spPr>
          <a:xfrm>
            <a:off x="502920" y="6419088"/>
            <a:ext cx="11155680" cy="10972"/>
          </a:xfrm>
          <a:prstGeom prst="rect">
            <a:avLst/>
          </a:prstGeom>
          <a:solidFill>
            <a:srgbClr val="DB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8229600" cy="182880"/>
          </a:xfrm>
          <a:prstGeom prst="rect">
            <a:avLst/>
          </a:prstGeom>
          <a:noFill/>
        </p:spPr>
        <p:txBody>
          <a:bodyPr wrap="square" lIns="18288" rIns="18288" tIns="18288" bIns="18288">
            <a:spAutoFit/>
          </a:bodyPr>
          <a:lstStyle/>
          <a:p>
            <a:pPr>
              <a:spcAft>
                <a:spcPts val="700"/>
              </a:spcAft>
              <a:defRPr sz="900" b="0">
                <a:solidFill>
                  <a:srgbClr val="5A6B7E"/>
                </a:solidFill>
                <a:latin typeface="DejaVu Sans"/>
              </a:defRPr>
            </a:pPr>
            <a:r>
              <a:t>NHÓM 11 · 23CN2  |  KIỂM THỬ &amp; ĐẢM BẢO CHẤT LƯỢNG PHẦN MỀM</a:t>
            </a:r>
          </a:p>
        </p:txBody>
      </p:sp>
      <p:sp>
        <p:nvSpPr>
          <p:cNvPr id="7" name="TextBox 6"/>
          <p:cNvSpPr txBox="1"/>
          <p:nvPr/>
        </p:nvSpPr>
        <p:spPr>
          <a:xfrm>
            <a:off x="11064240" y="6473952"/>
            <a:ext cx="548640" cy="228600"/>
          </a:xfrm>
          <a:prstGeom prst="rect">
            <a:avLst/>
          </a:prstGeom>
          <a:noFill/>
        </p:spPr>
        <p:txBody>
          <a:bodyPr wrap="square" lIns="18288" rIns="18288" tIns="18288" bIns="18288">
            <a:spAutoFit/>
          </a:bodyPr>
          <a:lstStyle/>
          <a:p>
            <a:pPr algn="r">
              <a:spcAft>
                <a:spcPts val="700"/>
              </a:spcAft>
              <a:defRPr sz="1200" b="1">
                <a:solidFill>
                  <a:srgbClr val="245AD3"/>
                </a:solidFill>
                <a:latin typeface="DejaVu Sans"/>
              </a:defRPr>
            </a:pPr>
            <a:r>
              <a:t>09</a:t>
            </a:r>
          </a:p>
        </p:txBody>
      </p:sp>
      <p:sp>
        <p:nvSpPr>
          <p:cNvPr id="8" name="TextBox 7"/>
          <p:cNvSpPr txBox="1"/>
          <p:nvPr/>
        </p:nvSpPr>
        <p:spPr>
          <a:xfrm>
            <a:off x="530352" y="6126480"/>
            <a:ext cx="10972800" cy="210312"/>
          </a:xfrm>
          <a:prstGeom prst="rect">
            <a:avLst/>
          </a:prstGeom>
          <a:noFill/>
        </p:spPr>
        <p:txBody>
          <a:bodyPr wrap="square" lIns="18288" rIns="18288" tIns="18288" bIns="18288">
            <a:spAutoFit/>
          </a:bodyPr>
          <a:lstStyle/>
          <a:p>
            <a:pPr>
              <a:spcAft>
                <a:spcPts val="700"/>
              </a:spcAft>
              <a:defRPr sz="900" b="0">
                <a:solidFill>
                  <a:srgbClr val="5A6B7E"/>
                </a:solidFill>
                <a:latin typeface="DejaVu Sans"/>
              </a:defRPr>
            </a:pPr>
            <a:r>
              <a:t>Nguồn: Excel PM-029; PM-029-response.json; Word Hình 4.4.4.2</a:t>
            </a:r>
          </a:p>
        </p:txBody>
      </p:sp>
      <p:sp>
        <p:nvSpPr>
          <p:cNvPr id="9" name="TextBox 8"/>
          <p:cNvSpPr txBox="1"/>
          <p:nvPr/>
        </p:nvSpPr>
        <p:spPr>
          <a:xfrm>
            <a:off x="557784" y="1444752"/>
            <a:ext cx="10972800" cy="457200"/>
          </a:xfrm>
          <a:prstGeom prst="rect">
            <a:avLst/>
          </a:prstGeom>
          <a:noFill/>
        </p:spPr>
        <p:txBody>
          <a:bodyPr wrap="square" lIns="18288" rIns="18288" tIns="18288" bIns="18288">
            <a:spAutoFit/>
          </a:bodyPr>
          <a:lstStyle/>
          <a:p>
            <a:pPr>
              <a:spcAft>
                <a:spcPts val="700"/>
              </a:spcAft>
              <a:defRPr sz="2500" b="1">
                <a:solidFill>
                  <a:srgbClr val="245AD3"/>
                </a:solidFill>
                <a:latin typeface="DejaVu Sans"/>
              </a:defRPr>
            </a:pPr>
            <a:r>
              <a:t>budgetRemainingVnd = budget − pc.priceVnd</a:t>
            </a:r>
          </a:p>
        </p:txBody>
      </p:sp>
      <p:sp>
        <p:nvSpPr>
          <p:cNvPr id="10" name="Rectangle 9"/>
          <p:cNvSpPr/>
          <p:nvPr/>
        </p:nvSpPr>
        <p:spPr>
          <a:xfrm>
            <a:off x="548640" y="2048256"/>
            <a:ext cx="2057400" cy="475488"/>
          </a:xfrm>
          <a:prstGeom prst="rect">
            <a:avLst/>
          </a:prstGeom>
          <a:solidFill>
            <a:srgbClr val="142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2157984"/>
            <a:ext cx="1856231" cy="338328"/>
          </a:xfrm>
          <a:prstGeom prst="rect">
            <a:avLst/>
          </a:prstGeom>
          <a:noFill/>
        </p:spPr>
        <p:txBody>
          <a:bodyPr wrap="square" lIns="18288" rIns="18288" tIns="18288" bIns="18288">
            <a:spAutoFit/>
          </a:bodyPr>
          <a:lstStyle/>
          <a:p>
            <a:pPr>
              <a:spcAft>
                <a:spcPts val="700"/>
              </a:spcAft>
              <a:defRPr sz="1900" b="1">
                <a:solidFill>
                  <a:srgbClr val="FFFFFF"/>
                </a:solidFill>
                <a:latin typeface="DejaVu Sans"/>
              </a:defRPr>
            </a:pPr>
            <a:r>
              <a:t>PC</a:t>
            </a:r>
          </a:p>
        </p:txBody>
      </p:sp>
      <p:sp>
        <p:nvSpPr>
          <p:cNvPr id="12" name="Rectangle 11"/>
          <p:cNvSpPr/>
          <p:nvPr/>
        </p:nvSpPr>
        <p:spPr>
          <a:xfrm>
            <a:off x="2606040" y="2048256"/>
            <a:ext cx="3017520" cy="475488"/>
          </a:xfrm>
          <a:prstGeom prst="rect">
            <a:avLst/>
          </a:prstGeom>
          <a:solidFill>
            <a:srgbClr val="142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15768" y="2157984"/>
            <a:ext cx="2816351" cy="338328"/>
          </a:xfrm>
          <a:prstGeom prst="rect">
            <a:avLst/>
          </a:prstGeom>
          <a:noFill/>
        </p:spPr>
        <p:txBody>
          <a:bodyPr wrap="square" lIns="18288" rIns="18288" tIns="18288" bIns="18288">
            <a:spAutoFit/>
          </a:bodyPr>
          <a:lstStyle/>
          <a:p>
            <a:pPr>
              <a:spcAft>
                <a:spcPts val="700"/>
              </a:spcAft>
              <a:defRPr sz="1900" b="1">
                <a:solidFill>
                  <a:srgbClr val="FFFFFF"/>
                </a:solidFill>
                <a:latin typeface="DejaVu Sans"/>
              </a:defRPr>
            </a:pPr>
            <a:r>
              <a:t>Ngân sách (đ)</a:t>
            </a:r>
          </a:p>
        </p:txBody>
      </p:sp>
      <p:sp>
        <p:nvSpPr>
          <p:cNvPr id="14" name="Rectangle 13"/>
          <p:cNvSpPr/>
          <p:nvPr/>
        </p:nvSpPr>
        <p:spPr>
          <a:xfrm>
            <a:off x="5623559" y="2048256"/>
            <a:ext cx="3017520" cy="475488"/>
          </a:xfrm>
          <a:prstGeom prst="rect">
            <a:avLst/>
          </a:prstGeom>
          <a:solidFill>
            <a:srgbClr val="142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733288" y="2157984"/>
            <a:ext cx="2816351" cy="338328"/>
          </a:xfrm>
          <a:prstGeom prst="rect">
            <a:avLst/>
          </a:prstGeom>
          <a:noFill/>
        </p:spPr>
        <p:txBody>
          <a:bodyPr wrap="square" lIns="18288" rIns="18288" tIns="18288" bIns="18288">
            <a:spAutoFit/>
          </a:bodyPr>
          <a:lstStyle/>
          <a:p>
            <a:pPr>
              <a:spcAft>
                <a:spcPts val="700"/>
              </a:spcAft>
              <a:defRPr sz="1900" b="1">
                <a:solidFill>
                  <a:srgbClr val="FFFFFF"/>
                </a:solidFill>
                <a:latin typeface="DejaVu Sans"/>
              </a:defRPr>
            </a:pPr>
            <a:r>
              <a:t>Giá PC (đ)</a:t>
            </a:r>
          </a:p>
        </p:txBody>
      </p:sp>
      <p:sp>
        <p:nvSpPr>
          <p:cNvPr id="16" name="Rectangle 15"/>
          <p:cNvSpPr/>
          <p:nvPr/>
        </p:nvSpPr>
        <p:spPr>
          <a:xfrm>
            <a:off x="8641080" y="2048256"/>
            <a:ext cx="3017520" cy="475488"/>
          </a:xfrm>
          <a:prstGeom prst="rect">
            <a:avLst/>
          </a:prstGeom>
          <a:solidFill>
            <a:srgbClr val="142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50807" y="2157984"/>
            <a:ext cx="2816351" cy="338328"/>
          </a:xfrm>
          <a:prstGeom prst="rect">
            <a:avLst/>
          </a:prstGeom>
          <a:noFill/>
        </p:spPr>
        <p:txBody>
          <a:bodyPr wrap="square" lIns="18288" rIns="18288" tIns="18288" bIns="18288">
            <a:spAutoFit/>
          </a:bodyPr>
          <a:lstStyle/>
          <a:p>
            <a:pPr>
              <a:spcAft>
                <a:spcPts val="700"/>
              </a:spcAft>
              <a:defRPr sz="1900" b="1">
                <a:solidFill>
                  <a:srgbClr val="FFFFFF"/>
                </a:solidFill>
                <a:latin typeface="DejaVu Sans"/>
              </a:defRPr>
            </a:pPr>
            <a:r>
              <a:t>Còn lại (đ)</a:t>
            </a:r>
          </a:p>
        </p:txBody>
      </p:sp>
      <p:sp>
        <p:nvSpPr>
          <p:cNvPr id="18" name="Rectangle 17"/>
          <p:cNvSpPr/>
          <p:nvPr/>
        </p:nvSpPr>
        <p:spPr>
          <a:xfrm>
            <a:off x="548640" y="2523744"/>
            <a:ext cx="205740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2633472"/>
            <a:ext cx="1856231" cy="338328"/>
          </a:xfrm>
          <a:prstGeom prst="rect">
            <a:avLst/>
          </a:prstGeom>
          <a:noFill/>
        </p:spPr>
        <p:txBody>
          <a:bodyPr wrap="square" lIns="18288" rIns="18288" tIns="18288" bIns="18288">
            <a:spAutoFit/>
          </a:bodyPr>
          <a:lstStyle/>
          <a:p>
            <a:pPr>
              <a:spcAft>
                <a:spcPts val="700"/>
              </a:spcAft>
              <a:defRPr sz="1900" b="1">
                <a:solidFill>
                  <a:srgbClr val="23384F"/>
                </a:solidFill>
                <a:latin typeface="DejaVu Sans"/>
              </a:defRPr>
            </a:pPr>
            <a:r>
              <a:t>PC-042</a:t>
            </a:r>
          </a:p>
        </p:txBody>
      </p:sp>
      <p:sp>
        <p:nvSpPr>
          <p:cNvPr id="20" name="Rectangle 19"/>
          <p:cNvSpPr/>
          <p:nvPr/>
        </p:nvSpPr>
        <p:spPr>
          <a:xfrm>
            <a:off x="2606040" y="2523744"/>
            <a:ext cx="301752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15768" y="2633472"/>
            <a:ext cx="2816351" cy="338328"/>
          </a:xfrm>
          <a:prstGeom prst="rect">
            <a:avLst/>
          </a:prstGeom>
          <a:noFill/>
        </p:spPr>
        <p:txBody>
          <a:bodyPr wrap="square" lIns="18288" rIns="18288" tIns="18288" bIns="18288">
            <a:spAutoFit/>
          </a:bodyPr>
          <a:lstStyle/>
          <a:p>
            <a:pPr>
              <a:spcAft>
                <a:spcPts val="700"/>
              </a:spcAft>
              <a:defRPr sz="1900" b="0">
                <a:solidFill>
                  <a:srgbClr val="23384F"/>
                </a:solidFill>
                <a:latin typeface="DejaVu Sans"/>
              </a:defRPr>
            </a:pPr>
            <a:r>
              <a:t>34.999.999</a:t>
            </a:r>
          </a:p>
        </p:txBody>
      </p:sp>
      <p:sp>
        <p:nvSpPr>
          <p:cNvPr id="22" name="Rectangle 21"/>
          <p:cNvSpPr/>
          <p:nvPr/>
        </p:nvSpPr>
        <p:spPr>
          <a:xfrm>
            <a:off x="5623559" y="2523744"/>
            <a:ext cx="301752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33288" y="2633472"/>
            <a:ext cx="2816351" cy="338328"/>
          </a:xfrm>
          <a:prstGeom prst="rect">
            <a:avLst/>
          </a:prstGeom>
          <a:noFill/>
        </p:spPr>
        <p:txBody>
          <a:bodyPr wrap="square" lIns="18288" rIns="18288" tIns="18288" bIns="18288">
            <a:spAutoFit/>
          </a:bodyPr>
          <a:lstStyle/>
          <a:p>
            <a:pPr>
              <a:spcAft>
                <a:spcPts val="700"/>
              </a:spcAft>
              <a:defRPr sz="1900" b="0">
                <a:solidFill>
                  <a:srgbClr val="23384F"/>
                </a:solidFill>
                <a:latin typeface="DejaVu Sans"/>
              </a:defRPr>
            </a:pPr>
            <a:r>
              <a:t>31.980.000</a:t>
            </a:r>
          </a:p>
        </p:txBody>
      </p:sp>
      <p:sp>
        <p:nvSpPr>
          <p:cNvPr id="24" name="Rectangle 23"/>
          <p:cNvSpPr/>
          <p:nvPr/>
        </p:nvSpPr>
        <p:spPr>
          <a:xfrm>
            <a:off x="8641080" y="2523744"/>
            <a:ext cx="301752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50807" y="2633472"/>
            <a:ext cx="2816351" cy="338328"/>
          </a:xfrm>
          <a:prstGeom prst="rect">
            <a:avLst/>
          </a:prstGeom>
          <a:noFill/>
        </p:spPr>
        <p:txBody>
          <a:bodyPr wrap="square" lIns="18288" rIns="18288" tIns="18288" bIns="18288">
            <a:spAutoFit/>
          </a:bodyPr>
          <a:lstStyle/>
          <a:p>
            <a:pPr>
              <a:spcAft>
                <a:spcPts val="700"/>
              </a:spcAft>
              <a:defRPr sz="1900" b="0">
                <a:solidFill>
                  <a:srgbClr val="23384F"/>
                </a:solidFill>
                <a:latin typeface="DejaVu Sans"/>
              </a:defRPr>
            </a:pPr>
            <a:r>
              <a:t>3.019.999</a:t>
            </a:r>
          </a:p>
        </p:txBody>
      </p:sp>
      <p:sp>
        <p:nvSpPr>
          <p:cNvPr id="26" name="Rectangle 25"/>
          <p:cNvSpPr/>
          <p:nvPr/>
        </p:nvSpPr>
        <p:spPr>
          <a:xfrm>
            <a:off x="548640" y="2999232"/>
            <a:ext cx="2057400" cy="475488"/>
          </a:xfrm>
          <a:prstGeom prst="rect">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8368" y="3108960"/>
            <a:ext cx="1856231" cy="338328"/>
          </a:xfrm>
          <a:prstGeom prst="rect">
            <a:avLst/>
          </a:prstGeom>
          <a:noFill/>
        </p:spPr>
        <p:txBody>
          <a:bodyPr wrap="square" lIns="18288" rIns="18288" tIns="18288" bIns="18288">
            <a:spAutoFit/>
          </a:bodyPr>
          <a:lstStyle/>
          <a:p>
            <a:pPr>
              <a:spcAft>
                <a:spcPts val="700"/>
              </a:spcAft>
              <a:defRPr sz="1900" b="1">
                <a:solidFill>
                  <a:srgbClr val="23384F"/>
                </a:solidFill>
                <a:latin typeface="DejaVu Sans"/>
              </a:defRPr>
            </a:pPr>
            <a:r>
              <a:t>PC-045</a:t>
            </a:r>
          </a:p>
        </p:txBody>
      </p:sp>
      <p:sp>
        <p:nvSpPr>
          <p:cNvPr id="28" name="Rectangle 27"/>
          <p:cNvSpPr/>
          <p:nvPr/>
        </p:nvSpPr>
        <p:spPr>
          <a:xfrm>
            <a:off x="2606040" y="2999232"/>
            <a:ext cx="3017520" cy="475488"/>
          </a:xfrm>
          <a:prstGeom prst="rect">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15768" y="3108960"/>
            <a:ext cx="2816351" cy="338328"/>
          </a:xfrm>
          <a:prstGeom prst="rect">
            <a:avLst/>
          </a:prstGeom>
          <a:noFill/>
        </p:spPr>
        <p:txBody>
          <a:bodyPr wrap="square" lIns="18288" rIns="18288" tIns="18288" bIns="18288">
            <a:spAutoFit/>
          </a:bodyPr>
          <a:lstStyle/>
          <a:p>
            <a:pPr>
              <a:spcAft>
                <a:spcPts val="700"/>
              </a:spcAft>
              <a:defRPr sz="1900" b="0">
                <a:solidFill>
                  <a:srgbClr val="23384F"/>
                </a:solidFill>
                <a:latin typeface="DejaVu Sans"/>
              </a:defRPr>
            </a:pPr>
            <a:r>
              <a:t>34.999.999</a:t>
            </a:r>
          </a:p>
        </p:txBody>
      </p:sp>
      <p:sp>
        <p:nvSpPr>
          <p:cNvPr id="30" name="Rectangle 29"/>
          <p:cNvSpPr/>
          <p:nvPr/>
        </p:nvSpPr>
        <p:spPr>
          <a:xfrm>
            <a:off x="5623559" y="2999232"/>
            <a:ext cx="3017520" cy="475488"/>
          </a:xfrm>
          <a:prstGeom prst="rect">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733288" y="3108960"/>
            <a:ext cx="2816351" cy="338328"/>
          </a:xfrm>
          <a:prstGeom prst="rect">
            <a:avLst/>
          </a:prstGeom>
          <a:noFill/>
        </p:spPr>
        <p:txBody>
          <a:bodyPr wrap="square" lIns="18288" rIns="18288" tIns="18288" bIns="18288">
            <a:spAutoFit/>
          </a:bodyPr>
          <a:lstStyle/>
          <a:p>
            <a:pPr>
              <a:spcAft>
                <a:spcPts val="700"/>
              </a:spcAft>
              <a:defRPr sz="1900" b="0">
                <a:solidFill>
                  <a:srgbClr val="23384F"/>
                </a:solidFill>
                <a:latin typeface="DejaVu Sans"/>
              </a:defRPr>
            </a:pPr>
            <a:r>
              <a:t>34.980.000</a:t>
            </a:r>
          </a:p>
        </p:txBody>
      </p:sp>
      <p:sp>
        <p:nvSpPr>
          <p:cNvPr id="32" name="Rectangle 31"/>
          <p:cNvSpPr/>
          <p:nvPr/>
        </p:nvSpPr>
        <p:spPr>
          <a:xfrm>
            <a:off x="8641080" y="2999232"/>
            <a:ext cx="3017520" cy="475488"/>
          </a:xfrm>
          <a:prstGeom prst="rect">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50807" y="3108960"/>
            <a:ext cx="2816351" cy="338328"/>
          </a:xfrm>
          <a:prstGeom prst="rect">
            <a:avLst/>
          </a:prstGeom>
          <a:noFill/>
        </p:spPr>
        <p:txBody>
          <a:bodyPr wrap="square" lIns="18288" rIns="18288" tIns="18288" bIns="18288">
            <a:spAutoFit/>
          </a:bodyPr>
          <a:lstStyle/>
          <a:p>
            <a:pPr>
              <a:spcAft>
                <a:spcPts val="700"/>
              </a:spcAft>
              <a:defRPr sz="1900" b="0">
                <a:solidFill>
                  <a:srgbClr val="23384F"/>
                </a:solidFill>
                <a:latin typeface="DejaVu Sans"/>
              </a:defRPr>
            </a:pPr>
            <a:r>
              <a:t>19.999</a:t>
            </a:r>
          </a:p>
        </p:txBody>
      </p:sp>
      <p:sp>
        <p:nvSpPr>
          <p:cNvPr id="34" name="Rectangle 33"/>
          <p:cNvSpPr/>
          <p:nvPr/>
        </p:nvSpPr>
        <p:spPr>
          <a:xfrm>
            <a:off x="548640" y="3474720"/>
            <a:ext cx="205740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8" y="3584448"/>
            <a:ext cx="1856231" cy="338328"/>
          </a:xfrm>
          <a:prstGeom prst="rect">
            <a:avLst/>
          </a:prstGeom>
          <a:noFill/>
        </p:spPr>
        <p:txBody>
          <a:bodyPr wrap="square" lIns="18288" rIns="18288" tIns="18288" bIns="18288">
            <a:spAutoFit/>
          </a:bodyPr>
          <a:lstStyle/>
          <a:p>
            <a:pPr>
              <a:spcAft>
                <a:spcPts val="700"/>
              </a:spcAft>
              <a:defRPr sz="1900" b="1">
                <a:solidFill>
                  <a:srgbClr val="23384F"/>
                </a:solidFill>
                <a:latin typeface="DejaVu Sans"/>
              </a:defRPr>
            </a:pPr>
            <a:r>
              <a:t>PC-044</a:t>
            </a:r>
          </a:p>
        </p:txBody>
      </p:sp>
      <p:sp>
        <p:nvSpPr>
          <p:cNvPr id="36" name="Rectangle 35"/>
          <p:cNvSpPr/>
          <p:nvPr/>
        </p:nvSpPr>
        <p:spPr>
          <a:xfrm>
            <a:off x="2606040" y="3474720"/>
            <a:ext cx="301752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715768" y="3584448"/>
            <a:ext cx="2816351" cy="338328"/>
          </a:xfrm>
          <a:prstGeom prst="rect">
            <a:avLst/>
          </a:prstGeom>
          <a:noFill/>
        </p:spPr>
        <p:txBody>
          <a:bodyPr wrap="square" lIns="18288" rIns="18288" tIns="18288" bIns="18288">
            <a:spAutoFit/>
          </a:bodyPr>
          <a:lstStyle/>
          <a:p>
            <a:pPr>
              <a:spcAft>
                <a:spcPts val="700"/>
              </a:spcAft>
              <a:defRPr sz="1900" b="0">
                <a:solidFill>
                  <a:srgbClr val="23384F"/>
                </a:solidFill>
                <a:latin typeface="DejaVu Sans"/>
              </a:defRPr>
            </a:pPr>
            <a:r>
              <a:t>34.999.999</a:t>
            </a:r>
          </a:p>
        </p:txBody>
      </p:sp>
      <p:sp>
        <p:nvSpPr>
          <p:cNvPr id="38" name="Rectangle 37"/>
          <p:cNvSpPr/>
          <p:nvPr/>
        </p:nvSpPr>
        <p:spPr>
          <a:xfrm>
            <a:off x="5623559" y="3474720"/>
            <a:ext cx="301752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733288" y="3584448"/>
            <a:ext cx="2816351" cy="338328"/>
          </a:xfrm>
          <a:prstGeom prst="rect">
            <a:avLst/>
          </a:prstGeom>
          <a:noFill/>
        </p:spPr>
        <p:txBody>
          <a:bodyPr wrap="square" lIns="18288" rIns="18288" tIns="18288" bIns="18288">
            <a:spAutoFit/>
          </a:bodyPr>
          <a:lstStyle/>
          <a:p>
            <a:pPr>
              <a:spcAft>
                <a:spcPts val="700"/>
              </a:spcAft>
              <a:defRPr sz="1900" b="0">
                <a:solidFill>
                  <a:srgbClr val="23384F"/>
                </a:solidFill>
                <a:latin typeface="DejaVu Sans"/>
              </a:defRPr>
            </a:pPr>
            <a:r>
              <a:t>28.480.000</a:t>
            </a:r>
          </a:p>
        </p:txBody>
      </p:sp>
      <p:sp>
        <p:nvSpPr>
          <p:cNvPr id="40" name="Rectangle 39"/>
          <p:cNvSpPr/>
          <p:nvPr/>
        </p:nvSpPr>
        <p:spPr>
          <a:xfrm>
            <a:off x="8641080" y="3474720"/>
            <a:ext cx="301752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750807" y="3584448"/>
            <a:ext cx="2816351" cy="338328"/>
          </a:xfrm>
          <a:prstGeom prst="rect">
            <a:avLst/>
          </a:prstGeom>
          <a:noFill/>
        </p:spPr>
        <p:txBody>
          <a:bodyPr wrap="square" lIns="18288" rIns="18288" tIns="18288" bIns="18288">
            <a:spAutoFit/>
          </a:bodyPr>
          <a:lstStyle/>
          <a:p>
            <a:pPr>
              <a:spcAft>
                <a:spcPts val="700"/>
              </a:spcAft>
              <a:defRPr sz="1900" b="0">
                <a:solidFill>
                  <a:srgbClr val="23384F"/>
                </a:solidFill>
                <a:latin typeface="DejaVu Sans"/>
              </a:defRPr>
            </a:pPr>
            <a:r>
              <a:t>6.519.999</a:t>
            </a:r>
          </a:p>
        </p:txBody>
      </p:sp>
      <p:sp>
        <p:nvSpPr>
          <p:cNvPr id="42" name="TextBox 41"/>
          <p:cNvSpPr txBox="1"/>
          <p:nvPr/>
        </p:nvSpPr>
        <p:spPr>
          <a:xfrm>
            <a:off x="566928" y="4133087"/>
            <a:ext cx="7772400" cy="320040"/>
          </a:xfrm>
          <a:prstGeom prst="rect">
            <a:avLst/>
          </a:prstGeom>
          <a:noFill/>
        </p:spPr>
        <p:txBody>
          <a:bodyPr wrap="square" lIns="18288" rIns="18288" tIns="18288" bIns="18288">
            <a:spAutoFit/>
          </a:bodyPr>
          <a:lstStyle/>
          <a:p>
            <a:pPr>
              <a:spcAft>
                <a:spcPts val="700"/>
              </a:spcAft>
              <a:defRPr sz="1700" b="0">
                <a:solidFill>
                  <a:srgbClr val="5A6B7E"/>
                </a:solidFill>
                <a:latin typeface="DejaVu Sans"/>
              </a:defRPr>
            </a:pPr>
            <a:r>
              <a:t>Trích response PC-042 từ ảnh gốc</a:t>
            </a:r>
          </a:p>
        </p:txBody>
      </p:sp>
      <p:pic>
        <p:nvPicPr>
          <p:cNvPr id="43" name="Picture 42" descr="image13.png"/>
          <p:cNvPicPr>
            <a:picLocks noChangeAspect="1"/>
          </p:cNvPicPr>
          <p:nvPr/>
        </p:nvPicPr>
        <p:blipFill>
          <a:blip r:embed="rId2"/>
          <a:srcRect l="33403" t="91582" r="44328" b="5485"/>
          <a:stretch>
            <a:fillRect/>
          </a:stretch>
        </p:blipFill>
        <p:spPr>
          <a:xfrm>
            <a:off x="566928" y="4617720"/>
            <a:ext cx="7808975" cy="561270"/>
          </a:xfrm>
          <a:prstGeom prst="rect">
            <a:avLst/>
          </a:prstGeom>
        </p:spPr>
      </p:pic>
      <p:sp>
        <p:nvSpPr>
          <p:cNvPr id="44" name="TextBox 43"/>
          <p:cNvSpPr txBox="1"/>
          <p:nvPr/>
        </p:nvSpPr>
        <p:spPr>
          <a:xfrm>
            <a:off x="8714232" y="4370832"/>
            <a:ext cx="2788920" cy="1417320"/>
          </a:xfrm>
          <a:prstGeom prst="rect">
            <a:avLst/>
          </a:prstGeom>
          <a:noFill/>
        </p:spPr>
        <p:txBody>
          <a:bodyPr wrap="square" lIns="18288" rIns="18288" tIns="18288" bIns="18288">
            <a:spAutoFit/>
          </a:bodyPr>
          <a:lstStyle/>
          <a:p>
            <a:pPr>
              <a:spcAft>
                <a:spcPts val="700"/>
              </a:spcAft>
              <a:defRPr sz="2100" b="1">
                <a:solidFill>
                  <a:srgbClr val="13765D"/>
                </a:solidFill>
                <a:latin typeface="DejaVu Sans"/>
              </a:defRPr>
            </a:pPr>
            <a:r>
              <a:t>HTTP 200</a:t>
            </a:r>
          </a:p>
          <a:p>
            <a:pPr>
              <a:spcAft>
                <a:spcPts val="700"/>
              </a:spcAft>
              <a:defRPr sz="2100" b="1">
                <a:solidFill>
                  <a:srgbClr val="13765D"/>
                </a:solidFill>
                <a:latin typeface="DejaVu Sans"/>
              </a:defRPr>
            </a:pPr>
            <a:r>
              <a:t>Số nguyên VNĐ</a:t>
            </a:r>
          </a:p>
          <a:p>
            <a:pPr>
              <a:spcAft>
                <a:spcPts val="700"/>
              </a:spcAft>
              <a:defRPr sz="2100" b="1">
                <a:solidFill>
                  <a:srgbClr val="13765D"/>
                </a:solidFill>
                <a:latin typeface="DejaVu Sans"/>
              </a:defRPr>
            </a:pPr>
            <a:r>
              <a:t>3 giá trị khớp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245A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75488" y="265176"/>
            <a:ext cx="10972800" cy="274320"/>
          </a:xfrm>
          <a:prstGeom prst="rect">
            <a:avLst/>
          </a:prstGeom>
          <a:noFill/>
        </p:spPr>
        <p:txBody>
          <a:bodyPr wrap="square" lIns="18288" rIns="18288" tIns="18288" bIns="18288">
            <a:spAutoFit/>
          </a:bodyPr>
          <a:lstStyle/>
          <a:p>
            <a:pPr>
              <a:spcAft>
                <a:spcPts val="700"/>
              </a:spcAft>
              <a:defRPr sz="1100" b="1">
                <a:solidFill>
                  <a:srgbClr val="087F83"/>
                </a:solidFill>
                <a:latin typeface="DejaVu Sans"/>
              </a:defRPr>
            </a:pPr>
            <a:r>
              <a:t>CÙNG 50 TESTCASE API</a:t>
            </a:r>
          </a:p>
        </p:txBody>
      </p:sp>
      <p:sp>
        <p:nvSpPr>
          <p:cNvPr id="4" name="TextBox 3"/>
          <p:cNvSpPr txBox="1"/>
          <p:nvPr/>
        </p:nvSpPr>
        <p:spPr>
          <a:xfrm>
            <a:off x="475488" y="740664"/>
            <a:ext cx="11201400" cy="640080"/>
          </a:xfrm>
          <a:prstGeom prst="rect">
            <a:avLst/>
          </a:prstGeom>
          <a:noFill/>
        </p:spPr>
        <p:txBody>
          <a:bodyPr wrap="square" lIns="18288" rIns="18288" tIns="18288" bIns="18288">
            <a:spAutoFit/>
          </a:bodyPr>
          <a:lstStyle/>
          <a:p>
            <a:pPr>
              <a:spcAft>
                <a:spcPts val="700"/>
              </a:spcAft>
              <a:defRPr sz="3000" b="1">
                <a:solidFill>
                  <a:srgbClr val="142B49"/>
                </a:solidFill>
                <a:latin typeface="DejaVu Sans"/>
              </a:defRPr>
            </a:pPr>
            <a:r>
              <a:t>Tự động hóa điều kiện chấm bằng script</a:t>
            </a:r>
          </a:p>
        </p:txBody>
      </p:sp>
      <p:sp>
        <p:nvSpPr>
          <p:cNvPr id="5" name="Rectangle 4"/>
          <p:cNvSpPr/>
          <p:nvPr/>
        </p:nvSpPr>
        <p:spPr>
          <a:xfrm>
            <a:off x="502920" y="6419088"/>
            <a:ext cx="11155680" cy="10972"/>
          </a:xfrm>
          <a:prstGeom prst="rect">
            <a:avLst/>
          </a:prstGeom>
          <a:solidFill>
            <a:srgbClr val="DB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8229600" cy="182880"/>
          </a:xfrm>
          <a:prstGeom prst="rect">
            <a:avLst/>
          </a:prstGeom>
          <a:noFill/>
        </p:spPr>
        <p:txBody>
          <a:bodyPr wrap="square" lIns="18288" rIns="18288" tIns="18288" bIns="18288">
            <a:spAutoFit/>
          </a:bodyPr>
          <a:lstStyle/>
          <a:p>
            <a:pPr>
              <a:spcAft>
                <a:spcPts val="700"/>
              </a:spcAft>
              <a:defRPr sz="900" b="0">
                <a:solidFill>
                  <a:srgbClr val="5A6B7E"/>
                </a:solidFill>
                <a:latin typeface="DejaVu Sans"/>
              </a:defRPr>
            </a:pPr>
            <a:r>
              <a:t>NHÓM 11 · 23CN2  |  KIỂM THỬ &amp; ĐẢM BẢO CHẤT LƯỢNG PHẦN MỀM</a:t>
            </a:r>
          </a:p>
        </p:txBody>
      </p:sp>
      <p:sp>
        <p:nvSpPr>
          <p:cNvPr id="7" name="TextBox 6"/>
          <p:cNvSpPr txBox="1"/>
          <p:nvPr/>
        </p:nvSpPr>
        <p:spPr>
          <a:xfrm>
            <a:off x="11064240" y="6473952"/>
            <a:ext cx="548640" cy="228600"/>
          </a:xfrm>
          <a:prstGeom prst="rect">
            <a:avLst/>
          </a:prstGeom>
          <a:noFill/>
        </p:spPr>
        <p:txBody>
          <a:bodyPr wrap="square" lIns="18288" rIns="18288" tIns="18288" bIns="18288">
            <a:spAutoFit/>
          </a:bodyPr>
          <a:lstStyle/>
          <a:p>
            <a:pPr algn="r">
              <a:spcAft>
                <a:spcPts val="700"/>
              </a:spcAft>
              <a:defRPr sz="1200" b="1">
                <a:solidFill>
                  <a:srgbClr val="245AD3"/>
                </a:solidFill>
                <a:latin typeface="DejaVu Sans"/>
              </a:defRPr>
            </a:pPr>
            <a:r>
              <a:t>10</a:t>
            </a:r>
          </a:p>
        </p:txBody>
      </p:sp>
      <p:sp>
        <p:nvSpPr>
          <p:cNvPr id="8" name="TextBox 7"/>
          <p:cNvSpPr txBox="1"/>
          <p:nvPr/>
        </p:nvSpPr>
        <p:spPr>
          <a:xfrm>
            <a:off x="530352" y="6126480"/>
            <a:ext cx="10972800" cy="210312"/>
          </a:xfrm>
          <a:prstGeom prst="rect">
            <a:avLst/>
          </a:prstGeom>
          <a:noFill/>
        </p:spPr>
        <p:txBody>
          <a:bodyPr wrap="square" lIns="18288" rIns="18288" tIns="18288" bIns="18288">
            <a:spAutoFit/>
          </a:bodyPr>
          <a:lstStyle/>
          <a:p>
            <a:pPr>
              <a:spcAft>
                <a:spcPts val="700"/>
              </a:spcAft>
              <a:defRPr sz="900" b="0">
                <a:solidFill>
                  <a:srgbClr val="5A6B7E"/>
                </a:solidFill>
                <a:latin typeface="DejaVu Sans"/>
              </a:defRPr>
            </a:pPr>
            <a:r>
              <a:t>Nguồn: Postman-tu-dong/assertions.js; Collection và scripts đi kèm ZIP</a:t>
            </a:r>
          </a:p>
        </p:txBody>
      </p:sp>
      <p:sp>
        <p:nvSpPr>
          <p:cNvPr id="9" name="TextBox 8"/>
          <p:cNvSpPr txBox="1"/>
          <p:nvPr/>
        </p:nvSpPr>
        <p:spPr>
          <a:xfrm>
            <a:off x="566928" y="1545336"/>
            <a:ext cx="10972800" cy="457200"/>
          </a:xfrm>
          <a:prstGeom prst="rect">
            <a:avLst/>
          </a:prstGeom>
          <a:noFill/>
        </p:spPr>
        <p:txBody>
          <a:bodyPr wrap="square" lIns="18288" rIns="18288" tIns="18288" bIns="18288">
            <a:spAutoFit/>
          </a:bodyPr>
          <a:lstStyle/>
          <a:p>
            <a:pPr>
              <a:spcAft>
                <a:spcPts val="700"/>
              </a:spcAft>
              <a:defRPr sz="2400" b="1">
                <a:solidFill>
                  <a:srgbClr val="087F83"/>
                </a:solidFill>
                <a:latin typeface="DejaVu Sans"/>
              </a:defRPr>
            </a:pPr>
            <a:r>
              <a:t>Request + Expected → Script assertions → Pass / Fail</a:t>
            </a:r>
          </a:p>
        </p:txBody>
      </p:sp>
      <p:sp>
        <p:nvSpPr>
          <p:cNvPr id="10" name="Rounded Rectangle 9"/>
          <p:cNvSpPr/>
          <p:nvPr/>
        </p:nvSpPr>
        <p:spPr>
          <a:xfrm>
            <a:off x="548640" y="2350008"/>
            <a:ext cx="7589520" cy="2286000"/>
          </a:xfrm>
          <a:prstGeom prst="roundRect">
            <a:avLst>
              <a:gd name="adj" fmla="val 12000"/>
            </a:avLst>
          </a:prstGeom>
          <a:solidFill>
            <a:srgbClr val="142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724912"/>
            <a:ext cx="7086600" cy="1645920"/>
          </a:xfrm>
          <a:prstGeom prst="rect">
            <a:avLst/>
          </a:prstGeom>
          <a:noFill/>
        </p:spPr>
        <p:txBody>
          <a:bodyPr wrap="square" lIns="18288" rIns="18288" tIns="18288" bIns="18288">
            <a:spAutoFit/>
          </a:bodyPr>
          <a:lstStyle/>
          <a:p>
            <a:pPr>
              <a:spcAft>
                <a:spcPts val="700"/>
              </a:spcAft>
              <a:defRPr sz="2100" b="0">
                <a:solidFill>
                  <a:srgbClr val="FFFFFF"/>
                </a:solidFill>
                <a:latin typeface="DejaVu Sans Mono"/>
              </a:defRPr>
            </a:pPr>
            <a:r>
              <a:t>eq(x.budgetRemainingVnd,</a:t>
            </a:r>
          </a:p>
          <a:p>
            <a:pPr>
              <a:spcAft>
                <a:spcPts val="700"/>
              </a:spcAft>
              <a:defRPr sz="2100" b="0">
                <a:solidFill>
                  <a:srgbClr val="FFFFFF"/>
                </a:solidFill>
                <a:latin typeface="DejaVu Sans Mono"/>
              </a:defRPr>
            </a:pPr>
            <a:r>
              <a:t>   b.budget - x.pc.priceVnd);</a:t>
            </a:r>
          </a:p>
          <a:p>
            <a:pPr>
              <a:spcAft>
                <a:spcPts val="700"/>
              </a:spcAft>
              <a:defRPr sz="2100" b="0">
                <a:solidFill>
                  <a:srgbClr val="FFFFFF"/>
                </a:solidFill>
                <a:latin typeface="DejaVu Sans Mono"/>
              </a:defRPr>
            </a:pPr>
            <a:r>
              <a:t>ok(x.budgetRemainingVnd &gt;= 0,</a:t>
            </a:r>
          </a:p>
          <a:p>
            <a:pPr>
              <a:spcAft>
                <a:spcPts val="700"/>
              </a:spcAft>
              <a:defRPr sz="2100" b="0">
                <a:solidFill>
                  <a:srgbClr val="FFFFFF"/>
                </a:solidFill>
                <a:latin typeface="DejaVu Sans Mono"/>
              </a:defRPr>
            </a:pPr>
            <a:r>
              <a:t>   'Tiền còn lại không âm');</a:t>
            </a:r>
          </a:p>
        </p:txBody>
      </p:sp>
      <p:sp>
        <p:nvSpPr>
          <p:cNvPr id="12" name="TextBox 11"/>
          <p:cNvSpPr txBox="1"/>
          <p:nvPr/>
        </p:nvSpPr>
        <p:spPr>
          <a:xfrm>
            <a:off x="8503920" y="2468880"/>
            <a:ext cx="2834640" cy="914400"/>
          </a:xfrm>
          <a:prstGeom prst="rect">
            <a:avLst/>
          </a:prstGeom>
          <a:noFill/>
        </p:spPr>
        <p:txBody>
          <a:bodyPr wrap="square" lIns="18288" rIns="18288" tIns="18288" bIns="18288">
            <a:spAutoFit/>
          </a:bodyPr>
          <a:lstStyle/>
          <a:p>
            <a:pPr>
              <a:spcAft>
                <a:spcPts val="700"/>
              </a:spcAft>
              <a:defRPr sz="2000" b="1">
                <a:solidFill>
                  <a:srgbClr val="245AD3"/>
                </a:solidFill>
                <a:latin typeface="DejaVu Sans"/>
              </a:defRPr>
            </a:pPr>
            <a:r>
              <a:t>Trích từ script</a:t>
            </a:r>
          </a:p>
          <a:p>
            <a:pPr>
              <a:spcAft>
                <a:spcPts val="700"/>
              </a:spcAft>
              <a:defRPr sz="2000" b="1">
                <a:solidFill>
                  <a:srgbClr val="245AD3"/>
                </a:solidFill>
                <a:latin typeface="DejaVu Sans"/>
              </a:defRPr>
            </a:pPr>
            <a:r>
              <a:t>assertions.js</a:t>
            </a:r>
          </a:p>
        </p:txBody>
      </p:sp>
      <p:sp>
        <p:nvSpPr>
          <p:cNvPr id="13" name="TextBox 12"/>
          <p:cNvSpPr txBox="1"/>
          <p:nvPr/>
        </p:nvSpPr>
        <p:spPr>
          <a:xfrm>
            <a:off x="8503920" y="3538728"/>
            <a:ext cx="2834640" cy="1371600"/>
          </a:xfrm>
          <a:prstGeom prst="rect">
            <a:avLst/>
          </a:prstGeom>
          <a:noFill/>
        </p:spPr>
        <p:txBody>
          <a:bodyPr wrap="square" lIns="18288" rIns="18288" tIns="18288" bIns="18288">
            <a:spAutoFit/>
          </a:bodyPr>
          <a:lstStyle/>
          <a:p>
            <a:pPr>
              <a:spcAft>
                <a:spcPts val="700"/>
              </a:spcAft>
              <a:defRPr sz="2000" b="0">
                <a:solidFill>
                  <a:srgbClr val="23384F"/>
                </a:solidFill>
                <a:latin typeface="DejaVu Sans"/>
              </a:defRPr>
            </a:pPr>
            <a:r>
              <a:t>eq / ok dùng</a:t>
            </a:r>
          </a:p>
          <a:p>
            <a:pPr>
              <a:spcAft>
                <a:spcPts val="700"/>
              </a:spcAft>
              <a:defRPr sz="2000" b="0">
                <a:solidFill>
                  <a:srgbClr val="23384F"/>
                </a:solidFill>
                <a:latin typeface="DejaVu Sans"/>
              </a:defRPr>
            </a:pPr>
            <a:r>
              <a:t>pm.expect;</a:t>
            </a:r>
          </a:p>
          <a:p>
            <a:pPr>
              <a:spcAft>
                <a:spcPts val="700"/>
              </a:spcAft>
              <a:defRPr sz="2000" b="0">
                <a:solidFill>
                  <a:srgbClr val="23384F"/>
                </a:solidFill>
                <a:latin typeface="DejaVu Sans"/>
              </a:defRPr>
            </a:pPr>
            <a:r>
              <a:t>check dùng pm.test.</a:t>
            </a:r>
          </a:p>
        </p:txBody>
      </p:sp>
      <p:sp>
        <p:nvSpPr>
          <p:cNvPr id="14" name="Rounded Rectangle 13"/>
          <p:cNvSpPr/>
          <p:nvPr/>
        </p:nvSpPr>
        <p:spPr>
          <a:xfrm>
            <a:off x="530352" y="5367528"/>
            <a:ext cx="11109960" cy="438912"/>
          </a:xfrm>
          <a:prstGeom prst="roundRect">
            <a:avLst>
              <a:gd name="adj" fmla="val 12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4944" y="5417820"/>
            <a:ext cx="10789920" cy="338328"/>
          </a:xfrm>
          <a:prstGeom prst="rect">
            <a:avLst/>
          </a:prstGeom>
          <a:noFill/>
        </p:spPr>
        <p:txBody>
          <a:bodyPr wrap="square" lIns="18288" rIns="18288" tIns="18288" bIns="18288">
            <a:spAutoFit/>
          </a:bodyPr>
          <a:lstStyle/>
          <a:p>
            <a:pPr>
              <a:spcAft>
                <a:spcPts val="700"/>
              </a:spcAft>
              <a:defRPr sz="1800" b="1">
                <a:solidFill>
                  <a:srgbClr val="087F83"/>
                </a:solidFill>
                <a:latin typeface="DejaVu Sans"/>
              </a:defRPr>
            </a:pPr>
            <a:r>
              <a:t>Một testcase có thể chứa nhiều phép kiểm tra; 257 assertions ≠ 257 testcase.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245A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75488" y="265176"/>
            <a:ext cx="10972800" cy="274320"/>
          </a:xfrm>
          <a:prstGeom prst="rect">
            <a:avLst/>
          </a:prstGeom>
          <a:noFill/>
        </p:spPr>
        <p:txBody>
          <a:bodyPr wrap="square" lIns="18288" rIns="18288" tIns="18288" bIns="18288">
            <a:spAutoFit/>
          </a:bodyPr>
          <a:lstStyle/>
          <a:p>
            <a:pPr>
              <a:spcAft>
                <a:spcPts val="700"/>
              </a:spcAft>
              <a:defRPr sz="1100" b="1">
                <a:solidFill>
                  <a:srgbClr val="087F83"/>
                </a:solidFill>
                <a:latin typeface="DejaVu Sans"/>
              </a:defRPr>
            </a:pPr>
            <a:r>
              <a:t>MINH CHỨNG KIỂM THỬ API TỰ ĐỘNG</a:t>
            </a:r>
          </a:p>
        </p:txBody>
      </p:sp>
      <p:sp>
        <p:nvSpPr>
          <p:cNvPr id="4" name="TextBox 3"/>
          <p:cNvSpPr txBox="1"/>
          <p:nvPr/>
        </p:nvSpPr>
        <p:spPr>
          <a:xfrm>
            <a:off x="475488" y="740664"/>
            <a:ext cx="11201400" cy="640080"/>
          </a:xfrm>
          <a:prstGeom prst="rect">
            <a:avLst/>
          </a:prstGeom>
          <a:noFill/>
        </p:spPr>
        <p:txBody>
          <a:bodyPr wrap="square" lIns="18288" rIns="18288" tIns="18288" bIns="18288">
            <a:spAutoFit/>
          </a:bodyPr>
          <a:lstStyle/>
          <a:p>
            <a:pPr>
              <a:spcAft>
                <a:spcPts val="700"/>
              </a:spcAft>
              <a:defRPr sz="3000" b="1">
                <a:solidFill>
                  <a:srgbClr val="142B49"/>
                </a:solidFill>
                <a:latin typeface="DejaVu Sans"/>
              </a:defRPr>
            </a:pPr>
            <a:r>
              <a:t>Runner và Newman: hai lần chạy riêng</a:t>
            </a:r>
          </a:p>
        </p:txBody>
      </p:sp>
      <p:sp>
        <p:nvSpPr>
          <p:cNvPr id="5" name="Rectangle 4"/>
          <p:cNvSpPr/>
          <p:nvPr/>
        </p:nvSpPr>
        <p:spPr>
          <a:xfrm>
            <a:off x="502920" y="6419088"/>
            <a:ext cx="11155680" cy="10972"/>
          </a:xfrm>
          <a:prstGeom prst="rect">
            <a:avLst/>
          </a:prstGeom>
          <a:solidFill>
            <a:srgbClr val="DB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8229600" cy="182880"/>
          </a:xfrm>
          <a:prstGeom prst="rect">
            <a:avLst/>
          </a:prstGeom>
          <a:noFill/>
        </p:spPr>
        <p:txBody>
          <a:bodyPr wrap="square" lIns="18288" rIns="18288" tIns="18288" bIns="18288">
            <a:spAutoFit/>
          </a:bodyPr>
          <a:lstStyle/>
          <a:p>
            <a:pPr>
              <a:spcAft>
                <a:spcPts val="700"/>
              </a:spcAft>
              <a:defRPr sz="900" b="0">
                <a:solidFill>
                  <a:srgbClr val="5A6B7E"/>
                </a:solidFill>
                <a:latin typeface="DejaVu Sans"/>
              </a:defRPr>
            </a:pPr>
            <a:r>
              <a:t>NHÓM 11 · 23CN2  |  KIỂM THỬ &amp; ĐẢM BẢO CHẤT LƯỢNG PHẦN MỀM</a:t>
            </a:r>
          </a:p>
        </p:txBody>
      </p:sp>
      <p:sp>
        <p:nvSpPr>
          <p:cNvPr id="7" name="TextBox 6"/>
          <p:cNvSpPr txBox="1"/>
          <p:nvPr/>
        </p:nvSpPr>
        <p:spPr>
          <a:xfrm>
            <a:off x="11064240" y="6473952"/>
            <a:ext cx="548640" cy="228600"/>
          </a:xfrm>
          <a:prstGeom prst="rect">
            <a:avLst/>
          </a:prstGeom>
          <a:noFill/>
        </p:spPr>
        <p:txBody>
          <a:bodyPr wrap="square" lIns="18288" rIns="18288" tIns="18288" bIns="18288">
            <a:spAutoFit/>
          </a:bodyPr>
          <a:lstStyle/>
          <a:p>
            <a:pPr algn="r">
              <a:spcAft>
                <a:spcPts val="700"/>
              </a:spcAft>
              <a:defRPr sz="1200" b="1">
                <a:solidFill>
                  <a:srgbClr val="245AD3"/>
                </a:solidFill>
                <a:latin typeface="DejaVu Sans"/>
              </a:defRPr>
            </a:pPr>
            <a:r>
              <a:t>11</a:t>
            </a:r>
          </a:p>
        </p:txBody>
      </p:sp>
      <p:sp>
        <p:nvSpPr>
          <p:cNvPr id="8" name="TextBox 7"/>
          <p:cNvSpPr txBox="1"/>
          <p:nvPr/>
        </p:nvSpPr>
        <p:spPr>
          <a:xfrm>
            <a:off x="530352" y="6126480"/>
            <a:ext cx="10972800" cy="210312"/>
          </a:xfrm>
          <a:prstGeom prst="rect">
            <a:avLst/>
          </a:prstGeom>
          <a:noFill/>
        </p:spPr>
        <p:txBody>
          <a:bodyPr wrap="square" lIns="18288" rIns="18288" tIns="18288" bIns="18288">
            <a:spAutoFit/>
          </a:bodyPr>
          <a:lstStyle/>
          <a:p>
            <a:pPr>
              <a:spcAft>
                <a:spcPts val="700"/>
              </a:spcAft>
              <a:defRPr sz="900" b="0">
                <a:solidFill>
                  <a:srgbClr val="5A6B7E"/>
                </a:solidFill>
                <a:latin typeface="DejaVu Sans"/>
              </a:defRPr>
            </a:pPr>
            <a:r>
              <a:t>Nguồn: ảnh Postman Runner; reports/2026-10-05T19-34-53-868Z/results.json và newman-full.json</a:t>
            </a:r>
          </a:p>
        </p:txBody>
      </p:sp>
      <p:pic>
        <p:nvPicPr>
          <p:cNvPr id="9" name="Picture 8" descr="image15.png"/>
          <p:cNvPicPr>
            <a:picLocks noChangeAspect="1"/>
          </p:cNvPicPr>
          <p:nvPr/>
        </p:nvPicPr>
        <p:blipFill>
          <a:blip r:embed="rId2"/>
          <a:srcRect l="25035" t="7712" r="556" b="74679"/>
          <a:stretch>
            <a:fillRect/>
          </a:stretch>
        </p:blipFill>
        <p:spPr>
          <a:xfrm>
            <a:off x="566928" y="1618488"/>
            <a:ext cx="10998162" cy="1408176"/>
          </a:xfrm>
          <a:prstGeom prst="rect">
            <a:avLst/>
          </a:prstGeom>
        </p:spPr>
      </p:pic>
      <p:sp>
        <p:nvSpPr>
          <p:cNvPr id="10" name="Rectangle 9"/>
          <p:cNvSpPr/>
          <p:nvPr/>
        </p:nvSpPr>
        <p:spPr>
          <a:xfrm>
            <a:off x="548640" y="3364992"/>
            <a:ext cx="2834640" cy="630936"/>
          </a:xfrm>
          <a:prstGeom prst="rect">
            <a:avLst/>
          </a:prstGeom>
          <a:solidFill>
            <a:srgbClr val="142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3474720"/>
            <a:ext cx="2633472" cy="493775"/>
          </a:xfrm>
          <a:prstGeom prst="rect">
            <a:avLst/>
          </a:prstGeom>
          <a:noFill/>
        </p:spPr>
        <p:txBody>
          <a:bodyPr wrap="square" lIns="18288" rIns="18288" tIns="18288" bIns="18288">
            <a:spAutoFit/>
          </a:bodyPr>
          <a:lstStyle/>
          <a:p>
            <a:pPr>
              <a:spcAft>
                <a:spcPts val="700"/>
              </a:spcAft>
              <a:defRPr sz="1800" b="1">
                <a:solidFill>
                  <a:srgbClr val="FFFFFF"/>
                </a:solidFill>
                <a:latin typeface="DejaVu Sans"/>
              </a:defRPr>
            </a:pPr>
            <a:r>
              <a:t>Lần chạy</a:t>
            </a:r>
          </a:p>
        </p:txBody>
      </p:sp>
      <p:sp>
        <p:nvSpPr>
          <p:cNvPr id="12" name="Rectangle 11"/>
          <p:cNvSpPr/>
          <p:nvPr/>
        </p:nvSpPr>
        <p:spPr>
          <a:xfrm>
            <a:off x="3383280" y="3364992"/>
            <a:ext cx="2423160" cy="630936"/>
          </a:xfrm>
          <a:prstGeom prst="rect">
            <a:avLst/>
          </a:prstGeom>
          <a:solidFill>
            <a:srgbClr val="142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93008" y="3474720"/>
            <a:ext cx="2221991" cy="493775"/>
          </a:xfrm>
          <a:prstGeom prst="rect">
            <a:avLst/>
          </a:prstGeom>
          <a:noFill/>
        </p:spPr>
        <p:txBody>
          <a:bodyPr wrap="square" lIns="18288" rIns="18288" tIns="18288" bIns="18288">
            <a:spAutoFit/>
          </a:bodyPr>
          <a:lstStyle/>
          <a:p>
            <a:pPr>
              <a:spcAft>
                <a:spcPts val="700"/>
              </a:spcAft>
              <a:defRPr sz="1800" b="1">
                <a:solidFill>
                  <a:srgbClr val="FFFFFF"/>
                </a:solidFill>
                <a:latin typeface="DejaVu Sans"/>
              </a:defRPr>
            </a:pPr>
            <a:r>
              <a:t>Testcase / item</a:t>
            </a:r>
          </a:p>
        </p:txBody>
      </p:sp>
      <p:sp>
        <p:nvSpPr>
          <p:cNvPr id="14" name="Rectangle 13"/>
          <p:cNvSpPr/>
          <p:nvPr/>
        </p:nvSpPr>
        <p:spPr>
          <a:xfrm>
            <a:off x="5806440" y="3364992"/>
            <a:ext cx="2880360" cy="630936"/>
          </a:xfrm>
          <a:prstGeom prst="rect">
            <a:avLst/>
          </a:prstGeom>
          <a:solidFill>
            <a:srgbClr val="142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16168" y="3474720"/>
            <a:ext cx="2679191" cy="493775"/>
          </a:xfrm>
          <a:prstGeom prst="rect">
            <a:avLst/>
          </a:prstGeom>
          <a:noFill/>
        </p:spPr>
        <p:txBody>
          <a:bodyPr wrap="square" lIns="18288" rIns="18288" tIns="18288" bIns="18288">
            <a:spAutoFit/>
          </a:bodyPr>
          <a:lstStyle/>
          <a:p>
            <a:pPr>
              <a:spcAft>
                <a:spcPts val="700"/>
              </a:spcAft>
              <a:defRPr sz="1800" b="1">
                <a:solidFill>
                  <a:srgbClr val="FFFFFF"/>
                </a:solidFill>
                <a:latin typeface="DejaVu Sans"/>
              </a:defRPr>
            </a:pPr>
            <a:r>
              <a:t>Pass</a:t>
            </a:r>
          </a:p>
        </p:txBody>
      </p:sp>
      <p:sp>
        <p:nvSpPr>
          <p:cNvPr id="16" name="Rectangle 15"/>
          <p:cNvSpPr/>
          <p:nvPr/>
        </p:nvSpPr>
        <p:spPr>
          <a:xfrm>
            <a:off x="8686800" y="3364992"/>
            <a:ext cx="2971800" cy="630936"/>
          </a:xfrm>
          <a:prstGeom prst="rect">
            <a:avLst/>
          </a:prstGeom>
          <a:solidFill>
            <a:srgbClr val="142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96528" y="3474720"/>
            <a:ext cx="2770632" cy="493775"/>
          </a:xfrm>
          <a:prstGeom prst="rect">
            <a:avLst/>
          </a:prstGeom>
          <a:noFill/>
        </p:spPr>
        <p:txBody>
          <a:bodyPr wrap="square" lIns="18288" rIns="18288" tIns="18288" bIns="18288">
            <a:spAutoFit/>
          </a:bodyPr>
          <a:lstStyle/>
          <a:p>
            <a:pPr>
              <a:spcAft>
                <a:spcPts val="700"/>
              </a:spcAft>
              <a:defRPr sz="1800" b="1">
                <a:solidFill>
                  <a:srgbClr val="FFFFFF"/>
                </a:solidFill>
                <a:latin typeface="DejaVu Sans"/>
              </a:defRPr>
            </a:pPr>
            <a:r>
              <a:t>Fail / Skip / Error</a:t>
            </a:r>
          </a:p>
        </p:txBody>
      </p:sp>
      <p:sp>
        <p:nvSpPr>
          <p:cNvPr id="18" name="Rectangle 17"/>
          <p:cNvSpPr/>
          <p:nvPr/>
        </p:nvSpPr>
        <p:spPr>
          <a:xfrm>
            <a:off x="548640" y="3995928"/>
            <a:ext cx="2834640" cy="6309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4105656"/>
            <a:ext cx="2633472" cy="493775"/>
          </a:xfrm>
          <a:prstGeom prst="rect">
            <a:avLst/>
          </a:prstGeom>
          <a:noFill/>
        </p:spPr>
        <p:txBody>
          <a:bodyPr wrap="square" lIns="18288" rIns="18288" tIns="18288" bIns="18288">
            <a:spAutoFit/>
          </a:bodyPr>
          <a:lstStyle/>
          <a:p>
            <a:pPr>
              <a:spcAft>
                <a:spcPts val="700"/>
              </a:spcAft>
              <a:defRPr sz="1800" b="1">
                <a:solidFill>
                  <a:srgbClr val="23384F"/>
                </a:solidFill>
                <a:latin typeface="DejaVu Sans"/>
              </a:defRPr>
            </a:pPr>
            <a:r>
              <a:t>Postman Runner</a:t>
            </a:r>
          </a:p>
        </p:txBody>
      </p:sp>
      <p:sp>
        <p:nvSpPr>
          <p:cNvPr id="20" name="Rectangle 19"/>
          <p:cNvSpPr/>
          <p:nvPr/>
        </p:nvSpPr>
        <p:spPr>
          <a:xfrm>
            <a:off x="3383280" y="3995928"/>
            <a:ext cx="2423160" cy="6309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93008" y="4105656"/>
            <a:ext cx="2221991" cy="493775"/>
          </a:xfrm>
          <a:prstGeom prst="rect">
            <a:avLst/>
          </a:prstGeom>
          <a:noFill/>
        </p:spPr>
        <p:txBody>
          <a:bodyPr wrap="square" lIns="18288" rIns="18288" tIns="18288" bIns="18288">
            <a:spAutoFit/>
          </a:bodyPr>
          <a:lstStyle/>
          <a:p>
            <a:pPr>
              <a:spcAft>
                <a:spcPts val="700"/>
              </a:spcAft>
              <a:defRPr sz="1800" b="0">
                <a:solidFill>
                  <a:srgbClr val="23384F"/>
                </a:solidFill>
                <a:latin typeface="DejaVu Sans"/>
              </a:defRPr>
            </a:pPr>
            <a:r>
              <a:t>Cùng bộ 50 ca</a:t>
            </a:r>
          </a:p>
        </p:txBody>
      </p:sp>
      <p:sp>
        <p:nvSpPr>
          <p:cNvPr id="22" name="Rectangle 21"/>
          <p:cNvSpPr/>
          <p:nvPr/>
        </p:nvSpPr>
        <p:spPr>
          <a:xfrm>
            <a:off x="5806440" y="3995928"/>
            <a:ext cx="2880360" cy="6309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16168" y="4105656"/>
            <a:ext cx="2679191" cy="493775"/>
          </a:xfrm>
          <a:prstGeom prst="rect">
            <a:avLst/>
          </a:prstGeom>
          <a:noFill/>
        </p:spPr>
        <p:txBody>
          <a:bodyPr wrap="square" lIns="18288" rIns="18288" tIns="18288" bIns="18288">
            <a:spAutoFit/>
          </a:bodyPr>
          <a:lstStyle/>
          <a:p>
            <a:pPr>
              <a:spcAft>
                <a:spcPts val="700"/>
              </a:spcAft>
              <a:defRPr sz="1800" b="0">
                <a:solidFill>
                  <a:srgbClr val="23384F"/>
                </a:solidFill>
                <a:latin typeface="DejaVu Sans"/>
              </a:defRPr>
            </a:pPr>
            <a:r>
              <a:t>257 phép kiểm tra</a:t>
            </a:r>
          </a:p>
        </p:txBody>
      </p:sp>
      <p:sp>
        <p:nvSpPr>
          <p:cNvPr id="24" name="Rectangle 23"/>
          <p:cNvSpPr/>
          <p:nvPr/>
        </p:nvSpPr>
        <p:spPr>
          <a:xfrm>
            <a:off x="8686800" y="3995928"/>
            <a:ext cx="2971800" cy="6309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96528" y="4105656"/>
            <a:ext cx="2770632" cy="493775"/>
          </a:xfrm>
          <a:prstGeom prst="rect">
            <a:avLst/>
          </a:prstGeom>
          <a:noFill/>
        </p:spPr>
        <p:txBody>
          <a:bodyPr wrap="square" lIns="18288" rIns="18288" tIns="18288" bIns="18288">
            <a:spAutoFit/>
          </a:bodyPr>
          <a:lstStyle/>
          <a:p>
            <a:pPr>
              <a:spcAft>
                <a:spcPts val="700"/>
              </a:spcAft>
              <a:defRPr sz="1800" b="0">
                <a:solidFill>
                  <a:srgbClr val="23384F"/>
                </a:solidFill>
                <a:latin typeface="DejaVu Sans"/>
              </a:defRPr>
            </a:pPr>
            <a:r>
              <a:t>0 / 0 / 0</a:t>
            </a:r>
          </a:p>
        </p:txBody>
      </p:sp>
      <p:sp>
        <p:nvSpPr>
          <p:cNvPr id="26" name="Rectangle 25"/>
          <p:cNvSpPr/>
          <p:nvPr/>
        </p:nvSpPr>
        <p:spPr>
          <a:xfrm>
            <a:off x="548640" y="4626864"/>
            <a:ext cx="2834640" cy="630936"/>
          </a:xfrm>
          <a:prstGeom prst="rect">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8368" y="4736592"/>
            <a:ext cx="2633472" cy="493775"/>
          </a:xfrm>
          <a:prstGeom prst="rect">
            <a:avLst/>
          </a:prstGeom>
          <a:noFill/>
        </p:spPr>
        <p:txBody>
          <a:bodyPr wrap="square" lIns="18288" rIns="18288" tIns="18288" bIns="18288">
            <a:spAutoFit/>
          </a:bodyPr>
          <a:lstStyle/>
          <a:p>
            <a:pPr>
              <a:spcAft>
                <a:spcPts val="700"/>
              </a:spcAft>
              <a:defRPr sz="1800" b="1">
                <a:solidFill>
                  <a:srgbClr val="23384F"/>
                </a:solidFill>
                <a:latin typeface="DejaVu Sans"/>
              </a:defRPr>
            </a:pPr>
            <a:r>
              <a:t>Newman</a:t>
            </a:r>
          </a:p>
        </p:txBody>
      </p:sp>
      <p:sp>
        <p:nvSpPr>
          <p:cNvPr id="28" name="Rectangle 27"/>
          <p:cNvSpPr/>
          <p:nvPr/>
        </p:nvSpPr>
        <p:spPr>
          <a:xfrm>
            <a:off x="3383280" y="4626864"/>
            <a:ext cx="2423160" cy="630936"/>
          </a:xfrm>
          <a:prstGeom prst="rect">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493008" y="4736592"/>
            <a:ext cx="2221991" cy="493775"/>
          </a:xfrm>
          <a:prstGeom prst="rect">
            <a:avLst/>
          </a:prstGeom>
          <a:noFill/>
        </p:spPr>
        <p:txBody>
          <a:bodyPr wrap="square" lIns="18288" rIns="18288" tIns="18288" bIns="18288">
            <a:spAutoFit/>
          </a:bodyPr>
          <a:lstStyle/>
          <a:p>
            <a:pPr>
              <a:spcAft>
                <a:spcPts val="700"/>
              </a:spcAft>
              <a:defRPr sz="1800" b="0">
                <a:solidFill>
                  <a:srgbClr val="23384F"/>
                </a:solidFill>
                <a:latin typeface="DejaVu Sans"/>
              </a:defRPr>
            </a:pPr>
            <a:r>
              <a:t>50 item</a:t>
            </a:r>
          </a:p>
        </p:txBody>
      </p:sp>
      <p:sp>
        <p:nvSpPr>
          <p:cNvPr id="30" name="Rectangle 29"/>
          <p:cNvSpPr/>
          <p:nvPr/>
        </p:nvSpPr>
        <p:spPr>
          <a:xfrm>
            <a:off x="5806440" y="4626864"/>
            <a:ext cx="2880360" cy="630936"/>
          </a:xfrm>
          <a:prstGeom prst="rect">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916168" y="4736592"/>
            <a:ext cx="2679191" cy="493775"/>
          </a:xfrm>
          <a:prstGeom prst="rect">
            <a:avLst/>
          </a:prstGeom>
          <a:noFill/>
        </p:spPr>
        <p:txBody>
          <a:bodyPr wrap="square" lIns="18288" rIns="18288" tIns="18288" bIns="18288">
            <a:spAutoFit/>
          </a:bodyPr>
          <a:lstStyle/>
          <a:p>
            <a:pPr>
              <a:spcAft>
                <a:spcPts val="700"/>
              </a:spcAft>
              <a:defRPr sz="1800" b="0">
                <a:solidFill>
                  <a:srgbClr val="23384F"/>
                </a:solidFill>
                <a:latin typeface="DejaVu Sans"/>
              </a:defRPr>
            </a:pPr>
            <a:r>
              <a:t>257 assertions</a:t>
            </a:r>
          </a:p>
        </p:txBody>
      </p:sp>
      <p:sp>
        <p:nvSpPr>
          <p:cNvPr id="32" name="Rectangle 31"/>
          <p:cNvSpPr/>
          <p:nvPr/>
        </p:nvSpPr>
        <p:spPr>
          <a:xfrm>
            <a:off x="8686800" y="4626864"/>
            <a:ext cx="2971800" cy="630936"/>
          </a:xfrm>
          <a:prstGeom prst="rect">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96528" y="4736592"/>
            <a:ext cx="2770632" cy="493775"/>
          </a:xfrm>
          <a:prstGeom prst="rect">
            <a:avLst/>
          </a:prstGeom>
          <a:noFill/>
        </p:spPr>
        <p:txBody>
          <a:bodyPr wrap="square" lIns="18288" rIns="18288" tIns="18288" bIns="18288">
            <a:spAutoFit/>
          </a:bodyPr>
          <a:lstStyle/>
          <a:p>
            <a:pPr>
              <a:spcAft>
                <a:spcPts val="700"/>
              </a:spcAft>
              <a:defRPr sz="1800" b="0">
                <a:solidFill>
                  <a:srgbClr val="23384F"/>
                </a:solidFill>
                <a:latin typeface="DejaVu Sans"/>
              </a:defRPr>
            </a:pPr>
            <a:r>
              <a:t>0 / 0 / 0</a:t>
            </a:r>
          </a:p>
        </p:txBody>
      </p:sp>
      <p:sp>
        <p:nvSpPr>
          <p:cNvPr id="34" name="Rounded Rectangle 33"/>
          <p:cNvSpPr/>
          <p:nvPr/>
        </p:nvSpPr>
        <p:spPr>
          <a:xfrm>
            <a:off x="530352" y="5605272"/>
            <a:ext cx="11109960" cy="438912"/>
          </a:xfrm>
          <a:prstGeom prst="roundRect">
            <a:avLst>
              <a:gd name="adj" fmla="val 12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4944" y="5655564"/>
            <a:ext cx="10789920" cy="338328"/>
          </a:xfrm>
          <a:prstGeom prst="rect">
            <a:avLst/>
          </a:prstGeom>
          <a:noFill/>
        </p:spPr>
        <p:txBody>
          <a:bodyPr wrap="square" lIns="18288" rIns="18288" tIns="18288" bIns="18288">
            <a:spAutoFit/>
          </a:bodyPr>
          <a:lstStyle/>
          <a:p>
            <a:pPr>
              <a:spcAft>
                <a:spcPts val="700"/>
              </a:spcAft>
              <a:defRPr sz="1800" b="1">
                <a:solidFill>
                  <a:srgbClr val="087F83"/>
                </a:solidFill>
                <a:latin typeface="DejaVu Sans"/>
              </a:defRPr>
            </a:pPr>
            <a:r>
              <a:t>Báo cáo từng lần chạy; không cộng testcase hoặc trộn số liệu giữa hai lần.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245A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75488" y="265176"/>
            <a:ext cx="10972800" cy="274320"/>
          </a:xfrm>
          <a:prstGeom prst="rect">
            <a:avLst/>
          </a:prstGeom>
          <a:noFill/>
        </p:spPr>
        <p:txBody>
          <a:bodyPr wrap="square" lIns="18288" rIns="18288" tIns="18288" bIns="18288">
            <a:spAutoFit/>
          </a:bodyPr>
          <a:lstStyle/>
          <a:p>
            <a:pPr>
              <a:spcAft>
                <a:spcPts val="700"/>
              </a:spcAft>
              <a:defRPr sz="1100" b="1">
                <a:solidFill>
                  <a:srgbClr val="087F83"/>
                </a:solidFill>
                <a:latin typeface="DejaVu Sans"/>
              </a:defRPr>
            </a:pPr>
            <a:r>
              <a:t>KIỂM THỬ UI / E2E TỰ ĐỘNG</a:t>
            </a:r>
          </a:p>
        </p:txBody>
      </p:sp>
      <p:sp>
        <p:nvSpPr>
          <p:cNvPr id="4" name="TextBox 3"/>
          <p:cNvSpPr txBox="1"/>
          <p:nvPr/>
        </p:nvSpPr>
        <p:spPr>
          <a:xfrm>
            <a:off x="475488" y="740664"/>
            <a:ext cx="11201400" cy="640080"/>
          </a:xfrm>
          <a:prstGeom prst="rect">
            <a:avLst/>
          </a:prstGeom>
          <a:noFill/>
        </p:spPr>
        <p:txBody>
          <a:bodyPr wrap="square" lIns="18288" rIns="18288" tIns="18288" bIns="18288">
            <a:spAutoFit/>
          </a:bodyPr>
          <a:lstStyle/>
          <a:p>
            <a:pPr>
              <a:spcAft>
                <a:spcPts val="700"/>
              </a:spcAft>
              <a:defRPr sz="3000" b="1">
                <a:solidFill>
                  <a:srgbClr val="142B49"/>
                </a:solidFill>
                <a:latin typeface="DejaVu Sans"/>
              </a:defRPr>
            </a:pPr>
            <a:r>
              <a:t>Playwright: 8 ca nền tảng + 42 tổ hợp</a:t>
            </a:r>
          </a:p>
        </p:txBody>
      </p:sp>
      <p:sp>
        <p:nvSpPr>
          <p:cNvPr id="5" name="Rectangle 4"/>
          <p:cNvSpPr/>
          <p:nvPr/>
        </p:nvSpPr>
        <p:spPr>
          <a:xfrm>
            <a:off x="502920" y="6419088"/>
            <a:ext cx="11155680" cy="10972"/>
          </a:xfrm>
          <a:prstGeom prst="rect">
            <a:avLst/>
          </a:prstGeom>
          <a:solidFill>
            <a:srgbClr val="DB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8229600" cy="182880"/>
          </a:xfrm>
          <a:prstGeom prst="rect">
            <a:avLst/>
          </a:prstGeom>
          <a:noFill/>
        </p:spPr>
        <p:txBody>
          <a:bodyPr wrap="square" lIns="18288" rIns="18288" tIns="18288" bIns="18288">
            <a:spAutoFit/>
          </a:bodyPr>
          <a:lstStyle/>
          <a:p>
            <a:pPr>
              <a:spcAft>
                <a:spcPts val="700"/>
              </a:spcAft>
              <a:defRPr sz="900" b="0">
                <a:solidFill>
                  <a:srgbClr val="5A6B7E"/>
                </a:solidFill>
                <a:latin typeface="DejaVu Sans"/>
              </a:defRPr>
            </a:pPr>
            <a:r>
              <a:t>NHÓM 11 · 23CN2  |  KIỂM THỬ &amp; ĐẢM BẢO CHẤT LƯỢNG PHẦN MỀM</a:t>
            </a:r>
          </a:p>
        </p:txBody>
      </p:sp>
      <p:sp>
        <p:nvSpPr>
          <p:cNvPr id="7" name="TextBox 6"/>
          <p:cNvSpPr txBox="1"/>
          <p:nvPr/>
        </p:nvSpPr>
        <p:spPr>
          <a:xfrm>
            <a:off x="11064240" y="6473952"/>
            <a:ext cx="548640" cy="228600"/>
          </a:xfrm>
          <a:prstGeom prst="rect">
            <a:avLst/>
          </a:prstGeom>
          <a:noFill/>
        </p:spPr>
        <p:txBody>
          <a:bodyPr wrap="square" lIns="18288" rIns="18288" tIns="18288" bIns="18288">
            <a:spAutoFit/>
          </a:bodyPr>
          <a:lstStyle/>
          <a:p>
            <a:pPr algn="r">
              <a:spcAft>
                <a:spcPts val="700"/>
              </a:spcAft>
              <a:defRPr sz="1200" b="1">
                <a:solidFill>
                  <a:srgbClr val="245AD3"/>
                </a:solidFill>
                <a:latin typeface="DejaVu Sans"/>
              </a:defRPr>
            </a:pPr>
            <a:r>
              <a:t>12</a:t>
            </a:r>
          </a:p>
        </p:txBody>
      </p:sp>
      <p:sp>
        <p:nvSpPr>
          <p:cNvPr id="8" name="TextBox 7"/>
          <p:cNvSpPr txBox="1"/>
          <p:nvPr/>
        </p:nvSpPr>
        <p:spPr>
          <a:xfrm>
            <a:off x="530352" y="6126480"/>
            <a:ext cx="10972800" cy="210312"/>
          </a:xfrm>
          <a:prstGeom prst="rect">
            <a:avLst/>
          </a:prstGeom>
          <a:noFill/>
        </p:spPr>
        <p:txBody>
          <a:bodyPr wrap="square" lIns="18288" rIns="18288" tIns="18288" bIns="18288">
            <a:spAutoFit/>
          </a:bodyPr>
          <a:lstStyle/>
          <a:p>
            <a:pPr>
              <a:spcAft>
                <a:spcPts val="700"/>
              </a:spcAft>
              <a:defRPr sz="900" b="0">
                <a:solidFill>
                  <a:srgbClr val="5A6B7E"/>
                </a:solidFill>
                <a:latin typeface="DejaVu Sans"/>
              </a:defRPr>
            </a:pPr>
            <a:r>
              <a:t>Nguồn: Word §4.5; số liệu 50 Pass do nhóm xác nhận</a:t>
            </a:r>
          </a:p>
        </p:txBody>
      </p:sp>
      <p:sp>
        <p:nvSpPr>
          <p:cNvPr id="9" name="Rounded Rectangle 8"/>
          <p:cNvSpPr/>
          <p:nvPr/>
        </p:nvSpPr>
        <p:spPr>
          <a:xfrm>
            <a:off x="548640" y="1728216"/>
            <a:ext cx="3657600" cy="3236976"/>
          </a:xfrm>
          <a:prstGeom prst="roundRect">
            <a:avLst>
              <a:gd name="adj" fmla="val 12000"/>
            </a:avLst>
          </a:prstGeom>
          <a:solidFill>
            <a:srgbClr val="FFFFFF"/>
          </a:solidFill>
          <a:ln>
            <a:solidFill>
              <a:srgbClr val="DB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728216"/>
            <a:ext cx="59436" cy="3236976"/>
          </a:xfrm>
          <a:prstGeom prst="rect">
            <a:avLst/>
          </a:prstGeom>
          <a:solidFill>
            <a:srgbClr val="245A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1874519"/>
            <a:ext cx="3273552" cy="530352"/>
          </a:xfrm>
          <a:prstGeom prst="rect">
            <a:avLst/>
          </a:prstGeom>
          <a:noFill/>
        </p:spPr>
        <p:txBody>
          <a:bodyPr wrap="square" lIns="18288" rIns="18288" tIns="18288" bIns="18288">
            <a:spAutoFit/>
          </a:bodyPr>
          <a:lstStyle/>
          <a:p>
            <a:pPr>
              <a:spcAft>
                <a:spcPts val="700"/>
              </a:spcAft>
              <a:defRPr sz="2000" b="1">
                <a:solidFill>
                  <a:srgbClr val="245AD3"/>
                </a:solidFill>
                <a:latin typeface="DejaVu Sans"/>
              </a:defRPr>
            </a:pPr>
            <a:r>
              <a:t>8 ca nền tảng</a:t>
            </a:r>
          </a:p>
        </p:txBody>
      </p:sp>
      <p:sp>
        <p:nvSpPr>
          <p:cNvPr id="12" name="TextBox 11"/>
          <p:cNvSpPr txBox="1"/>
          <p:nvPr/>
        </p:nvSpPr>
        <p:spPr>
          <a:xfrm>
            <a:off x="749808" y="2514600"/>
            <a:ext cx="3273552" cy="2350008"/>
          </a:xfrm>
          <a:prstGeom prst="rect">
            <a:avLst/>
          </a:prstGeom>
          <a:noFill/>
        </p:spPr>
        <p:txBody>
          <a:bodyPr wrap="square" lIns="18288" rIns="18288" tIns="18288" bIns="18288">
            <a:spAutoFit/>
          </a:bodyPr>
          <a:lstStyle/>
          <a:p>
            <a:pPr>
              <a:spcAft>
                <a:spcPts val="700"/>
              </a:spcAft>
              <a:defRPr sz="2000" b="0">
                <a:solidFill>
                  <a:srgbClr val="23384F"/>
                </a:solidFill>
                <a:latin typeface="DejaVu Sans"/>
              </a:defRPr>
            </a:pPr>
            <a:r>
              <a:t>Home: 1 · Điều hướng: 3</a:t>
            </a:r>
          </a:p>
          <a:p>
            <a:pPr>
              <a:spcAft>
                <a:spcPts val="700"/>
              </a:spcAft>
              <a:defRPr sz="2000" b="0">
                <a:solidFill>
                  <a:srgbClr val="23384F"/>
                </a:solidFill>
                <a:latin typeface="DejaVu Sans"/>
              </a:defRPr>
            </a:pPr>
            <a:r>
              <a:t>Purpose: 2</a:t>
            </a:r>
          </a:p>
          <a:p>
            <a:pPr>
              <a:spcAft>
                <a:spcPts val="700"/>
              </a:spcAft>
              <a:defRPr sz="2000" b="0">
                <a:solidFill>
                  <a:srgbClr val="23384F"/>
                </a:solidFill>
                <a:latin typeface="DejaVu Sans"/>
              </a:defRPr>
            </a:pPr>
            <a:r>
              <a:t>Validation: 1</a:t>
            </a:r>
          </a:p>
          <a:p>
            <a:pPr>
              <a:spcAft>
                <a:spcPts val="700"/>
              </a:spcAft>
              <a:defRPr sz="2000" b="0">
                <a:solidFill>
                  <a:srgbClr val="23384F"/>
                </a:solidFill>
                <a:latin typeface="DejaVu Sans"/>
              </a:defRPr>
            </a:pPr>
            <a:r>
              <a:t>Trạng thái: 1</a:t>
            </a:r>
          </a:p>
        </p:txBody>
      </p:sp>
      <p:sp>
        <p:nvSpPr>
          <p:cNvPr id="13" name="Rounded Rectangle 12"/>
          <p:cNvSpPr/>
          <p:nvPr/>
        </p:nvSpPr>
        <p:spPr>
          <a:xfrm>
            <a:off x="4453128" y="1728216"/>
            <a:ext cx="3657600" cy="3236976"/>
          </a:xfrm>
          <a:prstGeom prst="roundRect">
            <a:avLst>
              <a:gd name="adj" fmla="val 12000"/>
            </a:avLst>
          </a:prstGeom>
          <a:solidFill>
            <a:srgbClr val="FFFFFF"/>
          </a:solidFill>
          <a:ln>
            <a:solidFill>
              <a:srgbClr val="DB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53128" y="1728216"/>
            <a:ext cx="59436" cy="3236976"/>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54296" y="1874519"/>
            <a:ext cx="3273552" cy="530352"/>
          </a:xfrm>
          <a:prstGeom prst="rect">
            <a:avLst/>
          </a:prstGeom>
          <a:noFill/>
        </p:spPr>
        <p:txBody>
          <a:bodyPr wrap="square" lIns="18288" rIns="18288" tIns="18288" bIns="18288">
            <a:spAutoFit/>
          </a:bodyPr>
          <a:lstStyle/>
          <a:p>
            <a:pPr>
              <a:spcAft>
                <a:spcPts val="700"/>
              </a:spcAft>
              <a:defRPr sz="2000" b="1">
                <a:solidFill>
                  <a:srgbClr val="087F83"/>
                </a:solidFill>
                <a:latin typeface="DejaVu Sans"/>
              </a:defRPr>
            </a:pPr>
            <a:r>
              <a:t>42 tổ hợp</a:t>
            </a:r>
          </a:p>
        </p:txBody>
      </p:sp>
      <p:sp>
        <p:nvSpPr>
          <p:cNvPr id="16" name="TextBox 15"/>
          <p:cNvSpPr txBox="1"/>
          <p:nvPr/>
        </p:nvSpPr>
        <p:spPr>
          <a:xfrm>
            <a:off x="4654296" y="2514600"/>
            <a:ext cx="3273552" cy="2350008"/>
          </a:xfrm>
          <a:prstGeom prst="rect">
            <a:avLst/>
          </a:prstGeom>
          <a:noFill/>
        </p:spPr>
        <p:txBody>
          <a:bodyPr wrap="square" lIns="18288" rIns="18288" tIns="18288" bIns="18288">
            <a:spAutoFit/>
          </a:bodyPr>
          <a:lstStyle/>
          <a:p>
            <a:pPr>
              <a:spcAft>
                <a:spcPts val="700"/>
              </a:spcAft>
              <a:defRPr sz="2000" b="0">
                <a:solidFill>
                  <a:srgbClr val="23384F"/>
                </a:solidFill>
                <a:latin typeface="DejaVu Sans"/>
              </a:defRPr>
            </a:pPr>
            <a:r>
              <a:t>2 mục đích</a:t>
            </a:r>
          </a:p>
          <a:p>
            <a:pPr>
              <a:spcAft>
                <a:spcPts val="700"/>
              </a:spcAft>
              <a:defRPr sz="2000" b="0">
                <a:solidFill>
                  <a:srgbClr val="23384F"/>
                </a:solidFill>
                <a:latin typeface="DejaVu Sans"/>
              </a:defRPr>
            </a:pPr>
            <a:r>
              <a:t>× 7 khoảng giá</a:t>
            </a:r>
          </a:p>
          <a:p>
            <a:pPr>
              <a:spcAft>
                <a:spcPts val="700"/>
              </a:spcAft>
              <a:defRPr sz="2000" b="0">
                <a:solidFill>
                  <a:srgbClr val="23384F"/>
                </a:solidFill>
                <a:latin typeface="DejaVu Sans"/>
              </a:defRPr>
            </a:pPr>
            <a:r>
              <a:t>× 3 lựa chọn Top</a:t>
            </a:r>
          </a:p>
        </p:txBody>
      </p:sp>
      <p:sp>
        <p:nvSpPr>
          <p:cNvPr id="17" name="Rounded Rectangle 16"/>
          <p:cNvSpPr/>
          <p:nvPr/>
        </p:nvSpPr>
        <p:spPr>
          <a:xfrm>
            <a:off x="8357616" y="1728216"/>
            <a:ext cx="3255264" cy="3236976"/>
          </a:xfrm>
          <a:prstGeom prst="roundRect">
            <a:avLst>
              <a:gd name="adj" fmla="val 12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0" y="1965960"/>
            <a:ext cx="2743200" cy="822960"/>
          </a:xfrm>
          <a:prstGeom prst="rect">
            <a:avLst/>
          </a:prstGeom>
          <a:noFill/>
        </p:spPr>
        <p:txBody>
          <a:bodyPr wrap="square" lIns="18288" rIns="18288" tIns="18288" bIns="18288">
            <a:spAutoFit/>
          </a:bodyPr>
          <a:lstStyle/>
          <a:p>
            <a:pPr>
              <a:spcAft>
                <a:spcPts val="700"/>
              </a:spcAft>
              <a:defRPr sz="5000" b="1">
                <a:solidFill>
                  <a:srgbClr val="13765D"/>
                </a:solidFill>
                <a:latin typeface="DejaVu Sans"/>
              </a:defRPr>
            </a:pPr>
            <a:r>
              <a:t>50</a:t>
            </a:r>
          </a:p>
        </p:txBody>
      </p:sp>
      <p:sp>
        <p:nvSpPr>
          <p:cNvPr id="19" name="TextBox 18"/>
          <p:cNvSpPr txBox="1"/>
          <p:nvPr/>
        </p:nvSpPr>
        <p:spPr>
          <a:xfrm>
            <a:off x="8595360" y="2898648"/>
            <a:ext cx="2743200" cy="960120"/>
          </a:xfrm>
          <a:prstGeom prst="rect">
            <a:avLst/>
          </a:prstGeom>
          <a:noFill/>
        </p:spPr>
        <p:txBody>
          <a:bodyPr wrap="square" lIns="18288" rIns="18288" tIns="18288" bIns="18288">
            <a:spAutoFit/>
          </a:bodyPr>
          <a:lstStyle/>
          <a:p>
            <a:pPr>
              <a:spcAft>
                <a:spcPts val="700"/>
              </a:spcAft>
              <a:defRPr sz="2000" b="1">
                <a:solidFill>
                  <a:srgbClr val="13765D"/>
                </a:solidFill>
                <a:latin typeface="DejaVu Sans"/>
              </a:defRPr>
            </a:pPr>
            <a:r>
              <a:t>ca Pass</a:t>
            </a:r>
          </a:p>
          <a:p>
            <a:pPr>
              <a:spcAft>
                <a:spcPts val="700"/>
              </a:spcAft>
              <a:defRPr sz="2000" b="1">
                <a:solidFill>
                  <a:srgbClr val="13765D"/>
                </a:solidFill>
                <a:latin typeface="DejaVu Sans"/>
              </a:defRPr>
            </a:pPr>
            <a:r>
              <a:t>Nhóm xác nhận</a:t>
            </a:r>
          </a:p>
        </p:txBody>
      </p:sp>
      <p:sp>
        <p:nvSpPr>
          <p:cNvPr id="20" name="TextBox 19"/>
          <p:cNvSpPr txBox="1"/>
          <p:nvPr/>
        </p:nvSpPr>
        <p:spPr>
          <a:xfrm>
            <a:off x="8595360" y="4105656"/>
            <a:ext cx="2743200" cy="621792"/>
          </a:xfrm>
          <a:prstGeom prst="rect">
            <a:avLst/>
          </a:prstGeom>
          <a:noFill/>
        </p:spPr>
        <p:txBody>
          <a:bodyPr wrap="square" lIns="18288" rIns="18288" tIns="18288" bIns="18288">
            <a:spAutoFit/>
          </a:bodyPr>
          <a:lstStyle/>
          <a:p>
            <a:pPr>
              <a:spcAft>
                <a:spcPts val="700"/>
              </a:spcAft>
              <a:defRPr sz="1600" b="0">
                <a:solidFill>
                  <a:srgbClr val="9B6300"/>
                </a:solidFill>
                <a:latin typeface="DejaVu Sans"/>
              </a:defRPr>
            </a:pPr>
            <a:r>
              <a:t>Cần bổ sung report</a:t>
            </a:r>
          </a:p>
          <a:p>
            <a:pPr>
              <a:spcAft>
                <a:spcPts val="700"/>
              </a:spcAft>
              <a:defRPr sz="1600" b="0">
                <a:solidFill>
                  <a:srgbClr val="9B6300"/>
                </a:solidFill>
                <a:latin typeface="DejaVu Sans"/>
              </a:defRPr>
            </a:pPr>
            <a:r>
              <a:t>của bộ PC-DSS</a:t>
            </a:r>
          </a:p>
        </p:txBody>
      </p:sp>
      <p:sp>
        <p:nvSpPr>
          <p:cNvPr id="21" name="TextBox 20"/>
          <p:cNvSpPr txBox="1"/>
          <p:nvPr/>
        </p:nvSpPr>
        <p:spPr>
          <a:xfrm>
            <a:off x="566928" y="5376672"/>
            <a:ext cx="10972800" cy="603504"/>
          </a:xfrm>
          <a:prstGeom prst="rect">
            <a:avLst/>
          </a:prstGeom>
          <a:noFill/>
        </p:spPr>
        <p:txBody>
          <a:bodyPr wrap="square" lIns="18288" rIns="18288" tIns="18288" bIns="18288">
            <a:spAutoFit/>
          </a:bodyPr>
          <a:lstStyle/>
          <a:p>
            <a:pPr>
              <a:spcAft>
                <a:spcPts val="700"/>
              </a:spcAft>
              <a:defRPr sz="1900" b="1">
                <a:solidFill>
                  <a:srgbClr val="245AD3"/>
                </a:solidFill>
                <a:latin typeface="DejaVu Sans"/>
              </a:defRPr>
            </a:pPr>
            <a:r>
              <a:t>Chọn form → chờ POST → kiểm request/response → kiểm card, rank, target, giá</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245A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75488" y="265176"/>
            <a:ext cx="10972800" cy="274320"/>
          </a:xfrm>
          <a:prstGeom prst="rect">
            <a:avLst/>
          </a:prstGeom>
          <a:noFill/>
        </p:spPr>
        <p:txBody>
          <a:bodyPr wrap="square" lIns="18288" rIns="18288" tIns="18288" bIns="18288">
            <a:spAutoFit/>
          </a:bodyPr>
          <a:lstStyle/>
          <a:p>
            <a:pPr>
              <a:spcAft>
                <a:spcPts val="700"/>
              </a:spcAft>
              <a:defRPr sz="1100" b="1">
                <a:solidFill>
                  <a:srgbClr val="087F83"/>
                </a:solidFill>
                <a:latin typeface="DejaVu Sans"/>
              </a:defRPr>
            </a:pPr>
            <a:r>
              <a:t>TRUY VẾT · KHÔNG ÁNH XẠ MỘT–MỘT</a:t>
            </a:r>
          </a:p>
        </p:txBody>
      </p:sp>
      <p:sp>
        <p:nvSpPr>
          <p:cNvPr id="4" name="TextBox 3"/>
          <p:cNvSpPr txBox="1"/>
          <p:nvPr/>
        </p:nvSpPr>
        <p:spPr>
          <a:xfrm>
            <a:off x="475488" y="740664"/>
            <a:ext cx="11201400" cy="640080"/>
          </a:xfrm>
          <a:prstGeom prst="rect">
            <a:avLst/>
          </a:prstGeom>
          <a:noFill/>
        </p:spPr>
        <p:txBody>
          <a:bodyPr wrap="square" lIns="18288" rIns="18288" tIns="18288" bIns="18288">
            <a:spAutoFit/>
          </a:bodyPr>
          <a:lstStyle/>
          <a:p>
            <a:pPr>
              <a:spcAft>
                <a:spcPts val="700"/>
              </a:spcAft>
              <a:defRPr sz="3000" b="1">
                <a:solidFill>
                  <a:srgbClr val="142B49"/>
                </a:solidFill>
                <a:latin typeface="DejaVu Sans"/>
              </a:defRPr>
            </a:pPr>
            <a:r>
              <a:t>Manual UI và Playwright có phần giao nhau</a:t>
            </a:r>
          </a:p>
        </p:txBody>
      </p:sp>
      <p:sp>
        <p:nvSpPr>
          <p:cNvPr id="5" name="Rectangle 4"/>
          <p:cNvSpPr/>
          <p:nvPr/>
        </p:nvSpPr>
        <p:spPr>
          <a:xfrm>
            <a:off x="502920" y="6419088"/>
            <a:ext cx="11155680" cy="10972"/>
          </a:xfrm>
          <a:prstGeom prst="rect">
            <a:avLst/>
          </a:prstGeom>
          <a:solidFill>
            <a:srgbClr val="DB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8229600" cy="182880"/>
          </a:xfrm>
          <a:prstGeom prst="rect">
            <a:avLst/>
          </a:prstGeom>
          <a:noFill/>
        </p:spPr>
        <p:txBody>
          <a:bodyPr wrap="square" lIns="18288" rIns="18288" tIns="18288" bIns="18288">
            <a:spAutoFit/>
          </a:bodyPr>
          <a:lstStyle/>
          <a:p>
            <a:pPr>
              <a:spcAft>
                <a:spcPts val="700"/>
              </a:spcAft>
              <a:defRPr sz="900" b="0">
                <a:solidFill>
                  <a:srgbClr val="5A6B7E"/>
                </a:solidFill>
                <a:latin typeface="DejaVu Sans"/>
              </a:defRPr>
            </a:pPr>
            <a:r>
              <a:t>NHÓM 11 · 23CN2  |  KIỂM THỬ &amp; ĐẢM BẢO CHẤT LƯỢNG PHẦN MỀM</a:t>
            </a:r>
          </a:p>
        </p:txBody>
      </p:sp>
      <p:sp>
        <p:nvSpPr>
          <p:cNvPr id="7" name="TextBox 6"/>
          <p:cNvSpPr txBox="1"/>
          <p:nvPr/>
        </p:nvSpPr>
        <p:spPr>
          <a:xfrm>
            <a:off x="11064240" y="6473952"/>
            <a:ext cx="548640" cy="228600"/>
          </a:xfrm>
          <a:prstGeom prst="rect">
            <a:avLst/>
          </a:prstGeom>
          <a:noFill/>
        </p:spPr>
        <p:txBody>
          <a:bodyPr wrap="square" lIns="18288" rIns="18288" tIns="18288" bIns="18288">
            <a:spAutoFit/>
          </a:bodyPr>
          <a:lstStyle/>
          <a:p>
            <a:pPr algn="r">
              <a:spcAft>
                <a:spcPts val="700"/>
              </a:spcAft>
              <a:defRPr sz="1200" b="1">
                <a:solidFill>
                  <a:srgbClr val="245AD3"/>
                </a:solidFill>
                <a:latin typeface="DejaVu Sans"/>
              </a:defRPr>
            </a:pPr>
            <a:r>
              <a:t>13</a:t>
            </a:r>
          </a:p>
        </p:txBody>
      </p:sp>
      <p:sp>
        <p:nvSpPr>
          <p:cNvPr id="8" name="TextBox 7"/>
          <p:cNvSpPr txBox="1"/>
          <p:nvPr/>
        </p:nvSpPr>
        <p:spPr>
          <a:xfrm>
            <a:off x="530352" y="6126480"/>
            <a:ext cx="10972800" cy="210312"/>
          </a:xfrm>
          <a:prstGeom prst="rect">
            <a:avLst/>
          </a:prstGeom>
          <a:noFill/>
        </p:spPr>
        <p:txBody>
          <a:bodyPr wrap="square" lIns="18288" rIns="18288" tIns="18288" bIns="18288">
            <a:spAutoFit/>
          </a:bodyPr>
          <a:lstStyle/>
          <a:p>
            <a:pPr>
              <a:spcAft>
                <a:spcPts val="700"/>
              </a:spcAft>
              <a:defRPr sz="900" b="0">
                <a:solidFill>
                  <a:srgbClr val="5A6B7E"/>
                </a:solidFill>
                <a:latin typeface="DejaVu Sans"/>
              </a:defRPr>
            </a:pPr>
            <a:r>
              <a:t>Nguồn: Word §4.5; yêu cầu dùng cột Related Manual TC của workbook</a:t>
            </a:r>
          </a:p>
        </p:txBody>
      </p:sp>
      <p:sp>
        <p:nvSpPr>
          <p:cNvPr id="9" name="Rounded Rectangle 8"/>
          <p:cNvSpPr/>
          <p:nvPr/>
        </p:nvSpPr>
        <p:spPr>
          <a:xfrm>
            <a:off x="566928" y="1746504"/>
            <a:ext cx="3767328" cy="2414016"/>
          </a:xfrm>
          <a:prstGeom prst="roundRect">
            <a:avLst>
              <a:gd name="adj" fmla="val 12000"/>
            </a:avLst>
          </a:prstGeom>
          <a:solidFill>
            <a:srgbClr val="FFFFFF"/>
          </a:solidFill>
          <a:ln>
            <a:solidFill>
              <a:srgbClr val="DB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1746504"/>
            <a:ext cx="59436" cy="2414016"/>
          </a:xfrm>
          <a:prstGeom prst="rect">
            <a:avLst/>
          </a:prstGeom>
          <a:solidFill>
            <a:srgbClr val="245A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1892807"/>
            <a:ext cx="3383280" cy="530352"/>
          </a:xfrm>
          <a:prstGeom prst="rect">
            <a:avLst/>
          </a:prstGeom>
          <a:noFill/>
        </p:spPr>
        <p:txBody>
          <a:bodyPr wrap="square" lIns="18288" rIns="18288" tIns="18288" bIns="18288">
            <a:spAutoFit/>
          </a:bodyPr>
          <a:lstStyle/>
          <a:p>
            <a:pPr>
              <a:spcAft>
                <a:spcPts val="700"/>
              </a:spcAft>
              <a:defRPr sz="2000" b="1">
                <a:solidFill>
                  <a:srgbClr val="245AD3"/>
                </a:solidFill>
                <a:latin typeface="DejaVu Sans"/>
              </a:defRPr>
            </a:pPr>
            <a:r>
              <a:t>Manual UI</a:t>
            </a:r>
          </a:p>
        </p:txBody>
      </p:sp>
      <p:sp>
        <p:nvSpPr>
          <p:cNvPr id="12" name="TextBox 11"/>
          <p:cNvSpPr txBox="1"/>
          <p:nvPr/>
        </p:nvSpPr>
        <p:spPr>
          <a:xfrm>
            <a:off x="768096" y="2532888"/>
            <a:ext cx="3383280" cy="1527048"/>
          </a:xfrm>
          <a:prstGeom prst="rect">
            <a:avLst/>
          </a:prstGeom>
          <a:noFill/>
        </p:spPr>
        <p:txBody>
          <a:bodyPr wrap="square" lIns="18288" rIns="18288" tIns="18288" bIns="18288">
            <a:spAutoFit/>
          </a:bodyPr>
          <a:lstStyle/>
          <a:p>
            <a:pPr>
              <a:spcAft>
                <a:spcPts val="700"/>
              </a:spcAft>
              <a:defRPr sz="2000" b="0">
                <a:solidFill>
                  <a:srgbClr val="23384F"/>
                </a:solidFill>
                <a:latin typeface="DejaVu Sans"/>
              </a:defRPr>
            </a:pPr>
            <a:r>
              <a:t>Quan sát hành vi</a:t>
            </a:r>
          </a:p>
          <a:p>
            <a:pPr>
              <a:spcAft>
                <a:spcPts val="700"/>
              </a:spcAft>
              <a:defRPr sz="2000" b="0">
                <a:solidFill>
                  <a:srgbClr val="23384F"/>
                </a:solidFill>
                <a:latin typeface="DejaVu Sans"/>
              </a:defRPr>
            </a:pPr>
            <a:r>
              <a:t>Giao diện và trạng thái lỗi</a:t>
            </a:r>
          </a:p>
        </p:txBody>
      </p:sp>
      <p:sp>
        <p:nvSpPr>
          <p:cNvPr id="13" name="TextBox 12"/>
          <p:cNvSpPr txBox="1"/>
          <p:nvPr/>
        </p:nvSpPr>
        <p:spPr>
          <a:xfrm>
            <a:off x="4526280" y="2587752"/>
            <a:ext cx="685800" cy="530352"/>
          </a:xfrm>
          <a:prstGeom prst="rect">
            <a:avLst/>
          </a:prstGeom>
          <a:noFill/>
        </p:spPr>
        <p:txBody>
          <a:bodyPr wrap="square" lIns="18288" rIns="18288" tIns="18288" bIns="18288">
            <a:spAutoFit/>
          </a:bodyPr>
          <a:lstStyle/>
          <a:p>
            <a:pPr>
              <a:spcAft>
                <a:spcPts val="700"/>
              </a:spcAft>
              <a:defRPr sz="3500" b="1">
                <a:solidFill>
                  <a:srgbClr val="087F83"/>
                </a:solidFill>
                <a:latin typeface="DejaVu Sans"/>
              </a:defRPr>
            </a:pPr>
            <a:r>
              <a:t>↔</a:t>
            </a:r>
          </a:p>
        </p:txBody>
      </p:sp>
      <p:sp>
        <p:nvSpPr>
          <p:cNvPr id="14" name="Rounded Rectangle 13"/>
          <p:cNvSpPr/>
          <p:nvPr/>
        </p:nvSpPr>
        <p:spPr>
          <a:xfrm>
            <a:off x="5358384" y="1746504"/>
            <a:ext cx="6245352" cy="2414016"/>
          </a:xfrm>
          <a:prstGeom prst="roundRect">
            <a:avLst>
              <a:gd name="adj" fmla="val 12000"/>
            </a:avLst>
          </a:prstGeom>
          <a:solidFill>
            <a:srgbClr val="FFFFFF"/>
          </a:solidFill>
          <a:ln>
            <a:solidFill>
              <a:srgbClr val="DB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358384" y="1746504"/>
            <a:ext cx="59436" cy="2414016"/>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559552" y="1892807"/>
            <a:ext cx="5861304" cy="530352"/>
          </a:xfrm>
          <a:prstGeom prst="rect">
            <a:avLst/>
          </a:prstGeom>
          <a:noFill/>
        </p:spPr>
        <p:txBody>
          <a:bodyPr wrap="square" lIns="18288" rIns="18288" tIns="18288" bIns="18288">
            <a:spAutoFit/>
          </a:bodyPr>
          <a:lstStyle/>
          <a:p>
            <a:pPr>
              <a:spcAft>
                <a:spcPts val="700"/>
              </a:spcAft>
              <a:defRPr sz="2000" b="1">
                <a:solidFill>
                  <a:srgbClr val="087F83"/>
                </a:solidFill>
                <a:latin typeface="DejaVu Sans"/>
              </a:defRPr>
            </a:pPr>
            <a:r>
              <a:t>Playwright</a:t>
            </a:r>
          </a:p>
        </p:txBody>
      </p:sp>
      <p:sp>
        <p:nvSpPr>
          <p:cNvPr id="17" name="TextBox 16"/>
          <p:cNvSpPr txBox="1"/>
          <p:nvPr/>
        </p:nvSpPr>
        <p:spPr>
          <a:xfrm>
            <a:off x="5559552" y="2532888"/>
            <a:ext cx="5861304" cy="1527048"/>
          </a:xfrm>
          <a:prstGeom prst="rect">
            <a:avLst/>
          </a:prstGeom>
          <a:noFill/>
        </p:spPr>
        <p:txBody>
          <a:bodyPr wrap="square" lIns="18288" rIns="18288" tIns="18288" bIns="18288">
            <a:spAutoFit/>
          </a:bodyPr>
          <a:lstStyle/>
          <a:p>
            <a:pPr>
              <a:spcAft>
                <a:spcPts val="700"/>
              </a:spcAft>
              <a:defRPr sz="2000" b="0">
                <a:solidFill>
                  <a:srgbClr val="23384F"/>
                </a:solidFill>
                <a:latin typeface="DejaVu Sans"/>
              </a:defRPr>
            </a:pPr>
            <a:r>
              <a:t>Tự động hóa một phần tình huống Manual</a:t>
            </a:r>
          </a:p>
          <a:p>
            <a:pPr>
              <a:spcAft>
                <a:spcPts val="700"/>
              </a:spcAft>
              <a:defRPr sz="2000" b="0">
                <a:solidFill>
                  <a:srgbClr val="23384F"/>
                </a:solidFill>
                <a:latin typeface="DejaVu Sans"/>
              </a:defRPr>
            </a:pPr>
            <a:r>
              <a:t>Mở rộng các tổ hợp nhu cầu × giá × Top</a:t>
            </a:r>
          </a:p>
        </p:txBody>
      </p:sp>
      <p:sp>
        <p:nvSpPr>
          <p:cNvPr id="18" name="Rounded Rectangle 17"/>
          <p:cNvSpPr/>
          <p:nvPr/>
        </p:nvSpPr>
        <p:spPr>
          <a:xfrm>
            <a:off x="566928" y="4526280"/>
            <a:ext cx="11045952" cy="804672"/>
          </a:xfrm>
          <a:prstGeom prst="roundRect">
            <a:avLst>
              <a:gd name="adj" fmla="val 12000"/>
            </a:avLst>
          </a:prstGeom>
          <a:solidFill>
            <a:srgbClr val="FFFFFF"/>
          </a:solidFill>
          <a:ln>
            <a:solidFill>
              <a:srgbClr val="DB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4764024"/>
            <a:ext cx="10561320" cy="329184"/>
          </a:xfrm>
          <a:prstGeom prst="rect">
            <a:avLst/>
          </a:prstGeom>
          <a:noFill/>
        </p:spPr>
        <p:txBody>
          <a:bodyPr wrap="square" lIns="18288" rIns="18288" tIns="18288" bIns="18288">
            <a:spAutoFit/>
          </a:bodyPr>
          <a:lstStyle/>
          <a:p>
            <a:pPr>
              <a:spcAft>
                <a:spcPts val="700"/>
              </a:spcAft>
              <a:defRPr sz="2200" b="1">
                <a:solidFill>
                  <a:srgbClr val="245AD3"/>
                </a:solidFill>
                <a:latin typeface="DejaVu Sans"/>
              </a:defRPr>
            </a:pPr>
            <a:r>
              <a:t>Playwright TC ID   →   Related Manual TC   →   Manual TC ID</a:t>
            </a:r>
          </a:p>
        </p:txBody>
      </p:sp>
      <p:sp>
        <p:nvSpPr>
          <p:cNvPr id="20" name="Rounded Rectangle 19"/>
          <p:cNvSpPr/>
          <p:nvPr/>
        </p:nvSpPr>
        <p:spPr>
          <a:xfrm>
            <a:off x="530352" y="5586984"/>
            <a:ext cx="11109960" cy="438912"/>
          </a:xfrm>
          <a:prstGeom prst="roundRect">
            <a:avLst>
              <a:gd name="adj" fmla="val 12000"/>
            </a:avLst>
          </a:prstGeom>
          <a:solidFill>
            <a:srgbClr val="FFF2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4944" y="5637276"/>
            <a:ext cx="10789920" cy="338328"/>
          </a:xfrm>
          <a:prstGeom prst="rect">
            <a:avLst/>
          </a:prstGeom>
          <a:noFill/>
        </p:spPr>
        <p:txBody>
          <a:bodyPr wrap="square" lIns="18288" rIns="18288" tIns="18288" bIns="18288">
            <a:spAutoFit/>
          </a:bodyPr>
          <a:lstStyle/>
          <a:p>
            <a:pPr>
              <a:spcAft>
                <a:spcPts val="700"/>
              </a:spcAft>
              <a:defRPr sz="1800" b="1">
                <a:solidFill>
                  <a:srgbClr val="9B6300"/>
                </a:solidFill>
                <a:latin typeface="DejaVu Sans"/>
              </a:defRPr>
            </a:pPr>
            <a:r>
              <a:t>Cần bổ sung các dòng Related Manual TC từ workbook gốc.</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245A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75488" y="265176"/>
            <a:ext cx="10972800" cy="274320"/>
          </a:xfrm>
          <a:prstGeom prst="rect">
            <a:avLst/>
          </a:prstGeom>
          <a:noFill/>
        </p:spPr>
        <p:txBody>
          <a:bodyPr wrap="square" lIns="18288" rIns="18288" tIns="18288" bIns="18288">
            <a:spAutoFit/>
          </a:bodyPr>
          <a:lstStyle/>
          <a:p>
            <a:pPr>
              <a:spcAft>
                <a:spcPts val="700"/>
              </a:spcAft>
              <a:defRPr sz="1100" b="1">
                <a:solidFill>
                  <a:srgbClr val="087F83"/>
                </a:solidFill>
                <a:latin typeface="DejaVu Sans"/>
              </a:defRPr>
            </a:pPr>
            <a:r>
              <a:t>KẾT QUẢ &amp; MỨC ĐỐI CHIẾU NGUỒN</a:t>
            </a:r>
          </a:p>
        </p:txBody>
      </p:sp>
      <p:sp>
        <p:nvSpPr>
          <p:cNvPr id="4" name="TextBox 3"/>
          <p:cNvSpPr txBox="1"/>
          <p:nvPr/>
        </p:nvSpPr>
        <p:spPr>
          <a:xfrm>
            <a:off x="475488" y="740664"/>
            <a:ext cx="11201400" cy="640080"/>
          </a:xfrm>
          <a:prstGeom prst="rect">
            <a:avLst/>
          </a:prstGeom>
          <a:noFill/>
        </p:spPr>
        <p:txBody>
          <a:bodyPr wrap="square" lIns="18288" rIns="18288" tIns="18288" bIns="18288">
            <a:spAutoFit/>
          </a:bodyPr>
          <a:lstStyle/>
          <a:p>
            <a:pPr>
              <a:spcAft>
                <a:spcPts val="700"/>
              </a:spcAft>
              <a:defRPr sz="3000" b="1">
                <a:solidFill>
                  <a:srgbClr val="142B49"/>
                </a:solidFill>
                <a:latin typeface="DejaVu Sans"/>
              </a:defRPr>
            </a:pPr>
            <a:r>
              <a:t>Tổng hợp riêng từng bộ kiểm thử</a:t>
            </a:r>
          </a:p>
        </p:txBody>
      </p:sp>
      <p:sp>
        <p:nvSpPr>
          <p:cNvPr id="5" name="Rectangle 4"/>
          <p:cNvSpPr/>
          <p:nvPr/>
        </p:nvSpPr>
        <p:spPr>
          <a:xfrm>
            <a:off x="502920" y="6419088"/>
            <a:ext cx="11155680" cy="10972"/>
          </a:xfrm>
          <a:prstGeom prst="rect">
            <a:avLst/>
          </a:prstGeom>
          <a:solidFill>
            <a:srgbClr val="DB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8229600" cy="182880"/>
          </a:xfrm>
          <a:prstGeom prst="rect">
            <a:avLst/>
          </a:prstGeom>
          <a:noFill/>
        </p:spPr>
        <p:txBody>
          <a:bodyPr wrap="square" lIns="18288" rIns="18288" tIns="18288" bIns="18288">
            <a:spAutoFit/>
          </a:bodyPr>
          <a:lstStyle/>
          <a:p>
            <a:pPr>
              <a:spcAft>
                <a:spcPts val="700"/>
              </a:spcAft>
              <a:defRPr sz="900" b="0">
                <a:solidFill>
                  <a:srgbClr val="5A6B7E"/>
                </a:solidFill>
                <a:latin typeface="DejaVu Sans"/>
              </a:defRPr>
            </a:pPr>
            <a:r>
              <a:t>NHÓM 11 · 23CN2  |  KIỂM THỬ &amp; ĐẢM BẢO CHẤT LƯỢNG PHẦN MỀM</a:t>
            </a:r>
          </a:p>
        </p:txBody>
      </p:sp>
      <p:sp>
        <p:nvSpPr>
          <p:cNvPr id="7" name="TextBox 6"/>
          <p:cNvSpPr txBox="1"/>
          <p:nvPr/>
        </p:nvSpPr>
        <p:spPr>
          <a:xfrm>
            <a:off x="11064240" y="6473952"/>
            <a:ext cx="548640" cy="228600"/>
          </a:xfrm>
          <a:prstGeom prst="rect">
            <a:avLst/>
          </a:prstGeom>
          <a:noFill/>
        </p:spPr>
        <p:txBody>
          <a:bodyPr wrap="square" lIns="18288" rIns="18288" tIns="18288" bIns="18288">
            <a:spAutoFit/>
          </a:bodyPr>
          <a:lstStyle/>
          <a:p>
            <a:pPr algn="r">
              <a:spcAft>
                <a:spcPts val="700"/>
              </a:spcAft>
              <a:defRPr sz="1200" b="1">
                <a:solidFill>
                  <a:srgbClr val="245AD3"/>
                </a:solidFill>
                <a:latin typeface="DejaVu Sans"/>
              </a:defRPr>
            </a:pPr>
            <a:r>
              <a:t>14</a:t>
            </a:r>
          </a:p>
        </p:txBody>
      </p:sp>
      <p:sp>
        <p:nvSpPr>
          <p:cNvPr id="8" name="TextBox 7"/>
          <p:cNvSpPr txBox="1"/>
          <p:nvPr/>
        </p:nvSpPr>
        <p:spPr>
          <a:xfrm>
            <a:off x="530352" y="6126480"/>
            <a:ext cx="10972800" cy="210312"/>
          </a:xfrm>
          <a:prstGeom prst="rect">
            <a:avLst/>
          </a:prstGeom>
          <a:noFill/>
        </p:spPr>
        <p:txBody>
          <a:bodyPr wrap="square" lIns="18288" rIns="18288" tIns="18288" bIns="18288">
            <a:spAutoFit/>
          </a:bodyPr>
          <a:lstStyle/>
          <a:p>
            <a:pPr>
              <a:spcAft>
                <a:spcPts val="700"/>
              </a:spcAft>
              <a:defRPr sz="900" b="0">
                <a:solidFill>
                  <a:srgbClr val="5A6B7E"/>
                </a:solidFill>
                <a:latin typeface="DejaVu Sans"/>
              </a:defRPr>
            </a:pPr>
            <a:r>
              <a:t>Nguồn: Excel/Runner/Newman Postman; UI và Playwright theo xác nhận mới nhất của nhóm</a:t>
            </a:r>
          </a:p>
        </p:txBody>
      </p:sp>
      <p:sp>
        <p:nvSpPr>
          <p:cNvPr id="9" name="Rectangle 8"/>
          <p:cNvSpPr/>
          <p:nvPr/>
        </p:nvSpPr>
        <p:spPr>
          <a:xfrm>
            <a:off x="539496" y="1755648"/>
            <a:ext cx="3108960" cy="749808"/>
          </a:xfrm>
          <a:prstGeom prst="rect">
            <a:avLst/>
          </a:prstGeom>
          <a:solidFill>
            <a:srgbClr val="142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865376"/>
            <a:ext cx="2907791" cy="612647"/>
          </a:xfrm>
          <a:prstGeom prst="rect">
            <a:avLst/>
          </a:prstGeom>
          <a:noFill/>
        </p:spPr>
        <p:txBody>
          <a:bodyPr wrap="square" lIns="18288" rIns="18288" tIns="18288" bIns="18288">
            <a:spAutoFit/>
          </a:bodyPr>
          <a:lstStyle/>
          <a:p>
            <a:pPr>
              <a:spcAft>
                <a:spcPts val="700"/>
              </a:spcAft>
              <a:defRPr sz="1900" b="1">
                <a:solidFill>
                  <a:srgbClr val="FFFFFF"/>
                </a:solidFill>
                <a:latin typeface="DejaVu Sans"/>
              </a:defRPr>
            </a:pPr>
            <a:r>
              <a:t>Bộ / hình thức</a:t>
            </a:r>
          </a:p>
        </p:txBody>
      </p:sp>
      <p:sp>
        <p:nvSpPr>
          <p:cNvPr id="11" name="Rectangle 10"/>
          <p:cNvSpPr/>
          <p:nvPr/>
        </p:nvSpPr>
        <p:spPr>
          <a:xfrm>
            <a:off x="3648456" y="1755648"/>
            <a:ext cx="1371600" cy="749808"/>
          </a:xfrm>
          <a:prstGeom prst="rect">
            <a:avLst/>
          </a:prstGeom>
          <a:solidFill>
            <a:srgbClr val="142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58183" y="1865376"/>
            <a:ext cx="1170432" cy="612647"/>
          </a:xfrm>
          <a:prstGeom prst="rect">
            <a:avLst/>
          </a:prstGeom>
          <a:noFill/>
        </p:spPr>
        <p:txBody>
          <a:bodyPr wrap="square" lIns="18288" rIns="18288" tIns="18288" bIns="18288">
            <a:spAutoFit/>
          </a:bodyPr>
          <a:lstStyle/>
          <a:p>
            <a:pPr>
              <a:spcAft>
                <a:spcPts val="700"/>
              </a:spcAft>
              <a:defRPr sz="1900" b="1">
                <a:solidFill>
                  <a:srgbClr val="FFFFFF"/>
                </a:solidFill>
                <a:latin typeface="DejaVu Sans"/>
              </a:defRPr>
            </a:pPr>
            <a:r>
              <a:t>Số ca</a:t>
            </a:r>
          </a:p>
        </p:txBody>
      </p:sp>
      <p:sp>
        <p:nvSpPr>
          <p:cNvPr id="13" name="Rectangle 12"/>
          <p:cNvSpPr/>
          <p:nvPr/>
        </p:nvSpPr>
        <p:spPr>
          <a:xfrm>
            <a:off x="5020056" y="1755648"/>
            <a:ext cx="3291840" cy="749808"/>
          </a:xfrm>
          <a:prstGeom prst="rect">
            <a:avLst/>
          </a:prstGeom>
          <a:solidFill>
            <a:srgbClr val="142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29784" y="1865376"/>
            <a:ext cx="3090672" cy="612647"/>
          </a:xfrm>
          <a:prstGeom prst="rect">
            <a:avLst/>
          </a:prstGeom>
          <a:noFill/>
        </p:spPr>
        <p:txBody>
          <a:bodyPr wrap="square" lIns="18288" rIns="18288" tIns="18288" bIns="18288">
            <a:spAutoFit/>
          </a:bodyPr>
          <a:lstStyle/>
          <a:p>
            <a:pPr>
              <a:spcAft>
                <a:spcPts val="700"/>
              </a:spcAft>
              <a:defRPr sz="1900" b="1">
                <a:solidFill>
                  <a:srgbClr val="FFFFFF"/>
                </a:solidFill>
                <a:latin typeface="DejaVu Sans"/>
              </a:defRPr>
            </a:pPr>
            <a:r>
              <a:t>Kết quả</a:t>
            </a:r>
          </a:p>
        </p:txBody>
      </p:sp>
      <p:sp>
        <p:nvSpPr>
          <p:cNvPr id="15" name="Rectangle 14"/>
          <p:cNvSpPr/>
          <p:nvPr/>
        </p:nvSpPr>
        <p:spPr>
          <a:xfrm>
            <a:off x="8311896" y="1755648"/>
            <a:ext cx="3337560" cy="749808"/>
          </a:xfrm>
          <a:prstGeom prst="rect">
            <a:avLst/>
          </a:prstGeom>
          <a:solidFill>
            <a:srgbClr val="142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21624" y="1865376"/>
            <a:ext cx="3136391" cy="612647"/>
          </a:xfrm>
          <a:prstGeom prst="rect">
            <a:avLst/>
          </a:prstGeom>
          <a:noFill/>
        </p:spPr>
        <p:txBody>
          <a:bodyPr wrap="square" lIns="18288" rIns="18288" tIns="18288" bIns="18288">
            <a:spAutoFit/>
          </a:bodyPr>
          <a:lstStyle/>
          <a:p>
            <a:pPr>
              <a:spcAft>
                <a:spcPts val="700"/>
              </a:spcAft>
              <a:defRPr sz="1900" b="1">
                <a:solidFill>
                  <a:srgbClr val="FFFFFF"/>
                </a:solidFill>
                <a:latin typeface="DejaVu Sans"/>
              </a:defRPr>
            </a:pPr>
            <a:r>
              <a:t>Căn cứ</a:t>
            </a:r>
          </a:p>
        </p:txBody>
      </p:sp>
      <p:sp>
        <p:nvSpPr>
          <p:cNvPr id="17" name="Rectangle 16"/>
          <p:cNvSpPr/>
          <p:nvPr/>
        </p:nvSpPr>
        <p:spPr>
          <a:xfrm>
            <a:off x="539496" y="2505456"/>
            <a:ext cx="3108960" cy="749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 y="2615184"/>
            <a:ext cx="2907791" cy="612647"/>
          </a:xfrm>
          <a:prstGeom prst="rect">
            <a:avLst/>
          </a:prstGeom>
          <a:noFill/>
        </p:spPr>
        <p:txBody>
          <a:bodyPr wrap="square" lIns="18288" rIns="18288" tIns="18288" bIns="18288">
            <a:spAutoFit/>
          </a:bodyPr>
          <a:lstStyle/>
          <a:p>
            <a:pPr>
              <a:spcAft>
                <a:spcPts val="700"/>
              </a:spcAft>
              <a:defRPr sz="1900" b="1">
                <a:solidFill>
                  <a:srgbClr val="23384F"/>
                </a:solidFill>
                <a:latin typeface="DejaVu Sans"/>
              </a:defRPr>
            </a:pPr>
            <a:r>
              <a:t>Manual UI</a:t>
            </a:r>
          </a:p>
        </p:txBody>
      </p:sp>
      <p:sp>
        <p:nvSpPr>
          <p:cNvPr id="19" name="Rectangle 18"/>
          <p:cNvSpPr/>
          <p:nvPr/>
        </p:nvSpPr>
        <p:spPr>
          <a:xfrm>
            <a:off x="3648456" y="2505456"/>
            <a:ext cx="1371600" cy="749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58183" y="2615184"/>
            <a:ext cx="1170432" cy="612647"/>
          </a:xfrm>
          <a:prstGeom prst="rect">
            <a:avLst/>
          </a:prstGeom>
          <a:noFill/>
        </p:spPr>
        <p:txBody>
          <a:bodyPr wrap="square" lIns="18288" rIns="18288" tIns="18288" bIns="18288">
            <a:spAutoFit/>
          </a:bodyPr>
          <a:lstStyle/>
          <a:p>
            <a:pPr>
              <a:spcAft>
                <a:spcPts val="700"/>
              </a:spcAft>
              <a:defRPr sz="1900" b="0">
                <a:solidFill>
                  <a:srgbClr val="23384F"/>
                </a:solidFill>
                <a:latin typeface="DejaVu Sans"/>
              </a:defRPr>
            </a:pPr>
            <a:r>
              <a:t>79</a:t>
            </a:r>
          </a:p>
        </p:txBody>
      </p:sp>
      <p:sp>
        <p:nvSpPr>
          <p:cNvPr id="21" name="Rectangle 20"/>
          <p:cNvSpPr/>
          <p:nvPr/>
        </p:nvSpPr>
        <p:spPr>
          <a:xfrm>
            <a:off x="5020056" y="2505456"/>
            <a:ext cx="3291840" cy="749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29784" y="2615184"/>
            <a:ext cx="3090672" cy="612647"/>
          </a:xfrm>
          <a:prstGeom prst="rect">
            <a:avLst/>
          </a:prstGeom>
          <a:noFill/>
        </p:spPr>
        <p:txBody>
          <a:bodyPr wrap="square" lIns="18288" rIns="18288" tIns="18288" bIns="18288">
            <a:spAutoFit/>
          </a:bodyPr>
          <a:lstStyle/>
          <a:p>
            <a:pPr>
              <a:spcAft>
                <a:spcPts val="700"/>
              </a:spcAft>
              <a:defRPr sz="1900" b="0">
                <a:solidFill>
                  <a:srgbClr val="23384F"/>
                </a:solidFill>
                <a:latin typeface="DejaVu Sans"/>
              </a:defRPr>
            </a:pPr>
            <a:r>
              <a:t>77 Pass · 2 Fail</a:t>
            </a:r>
          </a:p>
        </p:txBody>
      </p:sp>
      <p:sp>
        <p:nvSpPr>
          <p:cNvPr id="23" name="Rectangle 22"/>
          <p:cNvSpPr/>
          <p:nvPr/>
        </p:nvSpPr>
        <p:spPr>
          <a:xfrm>
            <a:off x="8311896" y="2505456"/>
            <a:ext cx="3337560" cy="749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21624" y="2615184"/>
            <a:ext cx="3136391" cy="612647"/>
          </a:xfrm>
          <a:prstGeom prst="rect">
            <a:avLst/>
          </a:prstGeom>
          <a:noFill/>
        </p:spPr>
        <p:txBody>
          <a:bodyPr wrap="square" lIns="18288" rIns="18288" tIns="18288" bIns="18288">
            <a:spAutoFit/>
          </a:bodyPr>
          <a:lstStyle/>
          <a:p>
            <a:pPr>
              <a:spcAft>
                <a:spcPts val="700"/>
              </a:spcAft>
              <a:defRPr sz="1900" b="0">
                <a:solidFill>
                  <a:srgbClr val="23384F"/>
                </a:solidFill>
                <a:latin typeface="DejaVu Sans"/>
              </a:defRPr>
            </a:pPr>
            <a:r>
              <a:t>Nhóm xác nhận¹</a:t>
            </a:r>
          </a:p>
        </p:txBody>
      </p:sp>
      <p:sp>
        <p:nvSpPr>
          <p:cNvPr id="25" name="Rectangle 24"/>
          <p:cNvSpPr/>
          <p:nvPr/>
        </p:nvSpPr>
        <p:spPr>
          <a:xfrm>
            <a:off x="539496" y="3255263"/>
            <a:ext cx="3108960" cy="749808"/>
          </a:xfrm>
          <a:prstGeom prst="rect">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 y="3364991"/>
            <a:ext cx="2907791" cy="612647"/>
          </a:xfrm>
          <a:prstGeom prst="rect">
            <a:avLst/>
          </a:prstGeom>
          <a:noFill/>
        </p:spPr>
        <p:txBody>
          <a:bodyPr wrap="square" lIns="18288" rIns="18288" tIns="18288" bIns="18288">
            <a:spAutoFit/>
          </a:bodyPr>
          <a:lstStyle/>
          <a:p>
            <a:pPr>
              <a:spcAft>
                <a:spcPts val="700"/>
              </a:spcAft>
              <a:defRPr sz="1900" b="1">
                <a:solidFill>
                  <a:srgbClr val="23384F"/>
                </a:solidFill>
                <a:latin typeface="DejaVu Sans"/>
              </a:defRPr>
            </a:pPr>
            <a:r>
              <a:t>Postman thủ công</a:t>
            </a:r>
          </a:p>
        </p:txBody>
      </p:sp>
      <p:sp>
        <p:nvSpPr>
          <p:cNvPr id="27" name="Rectangle 26"/>
          <p:cNvSpPr/>
          <p:nvPr/>
        </p:nvSpPr>
        <p:spPr>
          <a:xfrm>
            <a:off x="3648456" y="3255263"/>
            <a:ext cx="1371600" cy="749808"/>
          </a:xfrm>
          <a:prstGeom prst="rect">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758183" y="3364991"/>
            <a:ext cx="1170432" cy="612647"/>
          </a:xfrm>
          <a:prstGeom prst="rect">
            <a:avLst/>
          </a:prstGeom>
          <a:noFill/>
        </p:spPr>
        <p:txBody>
          <a:bodyPr wrap="square" lIns="18288" rIns="18288" tIns="18288" bIns="18288">
            <a:spAutoFit/>
          </a:bodyPr>
          <a:lstStyle/>
          <a:p>
            <a:pPr>
              <a:spcAft>
                <a:spcPts val="700"/>
              </a:spcAft>
              <a:defRPr sz="1900" b="0">
                <a:solidFill>
                  <a:srgbClr val="23384F"/>
                </a:solidFill>
                <a:latin typeface="DejaVu Sans"/>
              </a:defRPr>
            </a:pPr>
            <a:r>
              <a:t>50</a:t>
            </a:r>
          </a:p>
        </p:txBody>
      </p:sp>
      <p:sp>
        <p:nvSpPr>
          <p:cNvPr id="29" name="Rectangle 28"/>
          <p:cNvSpPr/>
          <p:nvPr/>
        </p:nvSpPr>
        <p:spPr>
          <a:xfrm>
            <a:off x="5020056" y="3255263"/>
            <a:ext cx="3291840" cy="749808"/>
          </a:xfrm>
          <a:prstGeom prst="rect">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129784" y="3364991"/>
            <a:ext cx="3090672" cy="612647"/>
          </a:xfrm>
          <a:prstGeom prst="rect">
            <a:avLst/>
          </a:prstGeom>
          <a:noFill/>
        </p:spPr>
        <p:txBody>
          <a:bodyPr wrap="square" lIns="18288" rIns="18288" tIns="18288" bIns="18288">
            <a:spAutoFit/>
          </a:bodyPr>
          <a:lstStyle/>
          <a:p>
            <a:pPr>
              <a:spcAft>
                <a:spcPts val="700"/>
              </a:spcAft>
              <a:defRPr sz="1900" b="0">
                <a:solidFill>
                  <a:srgbClr val="23384F"/>
                </a:solidFill>
                <a:latin typeface="DejaVu Sans"/>
              </a:defRPr>
            </a:pPr>
            <a:r>
              <a:t>50 Pass</a:t>
            </a:r>
          </a:p>
        </p:txBody>
      </p:sp>
      <p:sp>
        <p:nvSpPr>
          <p:cNvPr id="31" name="Rectangle 30"/>
          <p:cNvSpPr/>
          <p:nvPr/>
        </p:nvSpPr>
        <p:spPr>
          <a:xfrm>
            <a:off x="8311896" y="3255263"/>
            <a:ext cx="3337560" cy="749808"/>
          </a:xfrm>
          <a:prstGeom prst="rect">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21624" y="3364991"/>
            <a:ext cx="3136391" cy="612647"/>
          </a:xfrm>
          <a:prstGeom prst="rect">
            <a:avLst/>
          </a:prstGeom>
          <a:noFill/>
        </p:spPr>
        <p:txBody>
          <a:bodyPr wrap="square" lIns="18288" rIns="18288" tIns="18288" bIns="18288">
            <a:spAutoFit/>
          </a:bodyPr>
          <a:lstStyle/>
          <a:p>
            <a:pPr>
              <a:spcAft>
                <a:spcPts val="700"/>
              </a:spcAft>
              <a:defRPr sz="1900" b="0">
                <a:solidFill>
                  <a:srgbClr val="23384F"/>
                </a:solidFill>
                <a:latin typeface="DejaVu Sans"/>
              </a:defRPr>
            </a:pPr>
            <a:r>
              <a:t>Excel: trạng thái thủ công</a:t>
            </a:r>
          </a:p>
        </p:txBody>
      </p:sp>
      <p:sp>
        <p:nvSpPr>
          <p:cNvPr id="33" name="Rectangle 32"/>
          <p:cNvSpPr/>
          <p:nvPr/>
        </p:nvSpPr>
        <p:spPr>
          <a:xfrm>
            <a:off x="539496" y="4005072"/>
            <a:ext cx="3108960" cy="749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9224" y="4114800"/>
            <a:ext cx="2907791" cy="612647"/>
          </a:xfrm>
          <a:prstGeom prst="rect">
            <a:avLst/>
          </a:prstGeom>
          <a:noFill/>
        </p:spPr>
        <p:txBody>
          <a:bodyPr wrap="square" lIns="18288" rIns="18288" tIns="18288" bIns="18288">
            <a:spAutoFit/>
          </a:bodyPr>
          <a:lstStyle/>
          <a:p>
            <a:pPr>
              <a:spcAft>
                <a:spcPts val="700"/>
              </a:spcAft>
              <a:defRPr sz="1900" b="1">
                <a:solidFill>
                  <a:srgbClr val="23384F"/>
                </a:solidFill>
                <a:latin typeface="DejaVu Sans"/>
              </a:defRPr>
            </a:pPr>
            <a:r>
              <a:t>Postman tự động</a:t>
            </a:r>
          </a:p>
        </p:txBody>
      </p:sp>
      <p:sp>
        <p:nvSpPr>
          <p:cNvPr id="35" name="Rectangle 34"/>
          <p:cNvSpPr/>
          <p:nvPr/>
        </p:nvSpPr>
        <p:spPr>
          <a:xfrm>
            <a:off x="3648456" y="4005072"/>
            <a:ext cx="1371600" cy="749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758183" y="4114800"/>
            <a:ext cx="1170432" cy="612647"/>
          </a:xfrm>
          <a:prstGeom prst="rect">
            <a:avLst/>
          </a:prstGeom>
          <a:noFill/>
        </p:spPr>
        <p:txBody>
          <a:bodyPr wrap="square" lIns="18288" rIns="18288" tIns="18288" bIns="18288">
            <a:spAutoFit/>
          </a:bodyPr>
          <a:lstStyle/>
          <a:p>
            <a:pPr>
              <a:spcAft>
                <a:spcPts val="700"/>
              </a:spcAft>
              <a:defRPr sz="1900" b="0">
                <a:solidFill>
                  <a:srgbClr val="23384F"/>
                </a:solidFill>
                <a:latin typeface="DejaVu Sans"/>
              </a:defRPr>
            </a:pPr>
            <a:r>
              <a:t>Cùng 50</a:t>
            </a:r>
          </a:p>
        </p:txBody>
      </p:sp>
      <p:sp>
        <p:nvSpPr>
          <p:cNvPr id="37" name="Rectangle 36"/>
          <p:cNvSpPr/>
          <p:nvPr/>
        </p:nvSpPr>
        <p:spPr>
          <a:xfrm>
            <a:off x="5020056" y="4005072"/>
            <a:ext cx="3291840" cy="749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129784" y="4114800"/>
            <a:ext cx="3090672" cy="612647"/>
          </a:xfrm>
          <a:prstGeom prst="rect">
            <a:avLst/>
          </a:prstGeom>
          <a:noFill/>
        </p:spPr>
        <p:txBody>
          <a:bodyPr wrap="square" lIns="18288" rIns="18288" tIns="18288" bIns="18288">
            <a:spAutoFit/>
          </a:bodyPr>
          <a:lstStyle/>
          <a:p>
            <a:pPr>
              <a:spcAft>
                <a:spcPts val="700"/>
              </a:spcAft>
              <a:defRPr sz="1900" b="0">
                <a:solidFill>
                  <a:srgbClr val="23384F"/>
                </a:solidFill>
                <a:latin typeface="DejaVu Sans"/>
              </a:defRPr>
            </a:pPr>
            <a:r>
              <a:t>257 phép kiểm tra Pass</a:t>
            </a:r>
          </a:p>
        </p:txBody>
      </p:sp>
      <p:sp>
        <p:nvSpPr>
          <p:cNvPr id="39" name="Rectangle 38"/>
          <p:cNvSpPr/>
          <p:nvPr/>
        </p:nvSpPr>
        <p:spPr>
          <a:xfrm>
            <a:off x="8311896" y="4005072"/>
            <a:ext cx="3337560" cy="749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21624" y="4114800"/>
            <a:ext cx="3136391" cy="612647"/>
          </a:xfrm>
          <a:prstGeom prst="rect">
            <a:avLst/>
          </a:prstGeom>
          <a:noFill/>
        </p:spPr>
        <p:txBody>
          <a:bodyPr wrap="square" lIns="18288" rIns="18288" tIns="18288" bIns="18288">
            <a:spAutoFit/>
          </a:bodyPr>
          <a:lstStyle/>
          <a:p>
            <a:pPr>
              <a:spcAft>
                <a:spcPts val="700"/>
              </a:spcAft>
              <a:defRPr sz="1900" b="0">
                <a:solidFill>
                  <a:srgbClr val="23384F"/>
                </a:solidFill>
                <a:latin typeface="DejaVu Sans"/>
              </a:defRPr>
            </a:pPr>
            <a:r>
              <a:t>Runner; Newman riêng</a:t>
            </a:r>
          </a:p>
        </p:txBody>
      </p:sp>
      <p:sp>
        <p:nvSpPr>
          <p:cNvPr id="41" name="Rectangle 40"/>
          <p:cNvSpPr/>
          <p:nvPr/>
        </p:nvSpPr>
        <p:spPr>
          <a:xfrm>
            <a:off x="539496" y="4754879"/>
            <a:ext cx="3108960" cy="749808"/>
          </a:xfrm>
          <a:prstGeom prst="rect">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9224" y="4864607"/>
            <a:ext cx="2907791" cy="612647"/>
          </a:xfrm>
          <a:prstGeom prst="rect">
            <a:avLst/>
          </a:prstGeom>
          <a:noFill/>
        </p:spPr>
        <p:txBody>
          <a:bodyPr wrap="square" lIns="18288" rIns="18288" tIns="18288" bIns="18288">
            <a:spAutoFit/>
          </a:bodyPr>
          <a:lstStyle/>
          <a:p>
            <a:pPr>
              <a:spcAft>
                <a:spcPts val="700"/>
              </a:spcAft>
              <a:defRPr sz="1900" b="1">
                <a:solidFill>
                  <a:srgbClr val="23384F"/>
                </a:solidFill>
                <a:latin typeface="DejaVu Sans"/>
              </a:defRPr>
            </a:pPr>
            <a:r>
              <a:t>Playwright</a:t>
            </a:r>
          </a:p>
        </p:txBody>
      </p:sp>
      <p:sp>
        <p:nvSpPr>
          <p:cNvPr id="43" name="Rectangle 42"/>
          <p:cNvSpPr/>
          <p:nvPr/>
        </p:nvSpPr>
        <p:spPr>
          <a:xfrm>
            <a:off x="3648456" y="4754879"/>
            <a:ext cx="1371600" cy="749808"/>
          </a:xfrm>
          <a:prstGeom prst="rect">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758183" y="4864607"/>
            <a:ext cx="1170432" cy="612647"/>
          </a:xfrm>
          <a:prstGeom prst="rect">
            <a:avLst/>
          </a:prstGeom>
          <a:noFill/>
        </p:spPr>
        <p:txBody>
          <a:bodyPr wrap="square" lIns="18288" rIns="18288" tIns="18288" bIns="18288">
            <a:spAutoFit/>
          </a:bodyPr>
          <a:lstStyle/>
          <a:p>
            <a:pPr>
              <a:spcAft>
                <a:spcPts val="700"/>
              </a:spcAft>
              <a:defRPr sz="1900" b="0">
                <a:solidFill>
                  <a:srgbClr val="23384F"/>
                </a:solidFill>
                <a:latin typeface="DejaVu Sans"/>
              </a:defRPr>
            </a:pPr>
            <a:r>
              <a:t>50</a:t>
            </a:r>
          </a:p>
        </p:txBody>
      </p:sp>
      <p:sp>
        <p:nvSpPr>
          <p:cNvPr id="45" name="Rectangle 44"/>
          <p:cNvSpPr/>
          <p:nvPr/>
        </p:nvSpPr>
        <p:spPr>
          <a:xfrm>
            <a:off x="5020056" y="4754879"/>
            <a:ext cx="3291840" cy="749808"/>
          </a:xfrm>
          <a:prstGeom prst="rect">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29784" y="4864607"/>
            <a:ext cx="3090672" cy="612647"/>
          </a:xfrm>
          <a:prstGeom prst="rect">
            <a:avLst/>
          </a:prstGeom>
          <a:noFill/>
        </p:spPr>
        <p:txBody>
          <a:bodyPr wrap="square" lIns="18288" rIns="18288" tIns="18288" bIns="18288">
            <a:spAutoFit/>
          </a:bodyPr>
          <a:lstStyle/>
          <a:p>
            <a:pPr>
              <a:spcAft>
                <a:spcPts val="700"/>
              </a:spcAft>
              <a:defRPr sz="1900" b="0">
                <a:solidFill>
                  <a:srgbClr val="23384F"/>
                </a:solidFill>
                <a:latin typeface="DejaVu Sans"/>
              </a:defRPr>
            </a:pPr>
            <a:r>
              <a:t>50 Pass</a:t>
            </a:r>
          </a:p>
        </p:txBody>
      </p:sp>
      <p:sp>
        <p:nvSpPr>
          <p:cNvPr id="47" name="Rectangle 46"/>
          <p:cNvSpPr/>
          <p:nvPr/>
        </p:nvSpPr>
        <p:spPr>
          <a:xfrm>
            <a:off x="8311896" y="4754879"/>
            <a:ext cx="3337560" cy="749808"/>
          </a:xfrm>
          <a:prstGeom prst="rect">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421624" y="4864607"/>
            <a:ext cx="3136391" cy="612647"/>
          </a:xfrm>
          <a:prstGeom prst="rect">
            <a:avLst/>
          </a:prstGeom>
          <a:noFill/>
        </p:spPr>
        <p:txBody>
          <a:bodyPr wrap="square" lIns="18288" rIns="18288" tIns="18288" bIns="18288">
            <a:spAutoFit/>
          </a:bodyPr>
          <a:lstStyle/>
          <a:p>
            <a:pPr>
              <a:spcAft>
                <a:spcPts val="700"/>
              </a:spcAft>
              <a:defRPr sz="1900" b="0">
                <a:solidFill>
                  <a:srgbClr val="23384F"/>
                </a:solidFill>
                <a:latin typeface="DejaVu Sans"/>
              </a:defRPr>
            </a:pPr>
            <a:r>
              <a:t>Nhóm xác nhận¹</a:t>
            </a:r>
          </a:p>
        </p:txBody>
      </p:sp>
      <p:sp>
        <p:nvSpPr>
          <p:cNvPr id="49" name="TextBox 48"/>
          <p:cNvSpPr txBox="1"/>
          <p:nvPr/>
        </p:nvSpPr>
        <p:spPr>
          <a:xfrm>
            <a:off x="566928" y="5650992"/>
            <a:ext cx="10972800" cy="329184"/>
          </a:xfrm>
          <a:prstGeom prst="rect">
            <a:avLst/>
          </a:prstGeom>
          <a:noFill/>
        </p:spPr>
        <p:txBody>
          <a:bodyPr wrap="square" lIns="18288" rIns="18288" tIns="18288" bIns="18288">
            <a:spAutoFit/>
          </a:bodyPr>
          <a:lstStyle/>
          <a:p>
            <a:pPr>
              <a:spcAft>
                <a:spcPts val="700"/>
              </a:spcAft>
              <a:defRPr sz="1600" b="0">
                <a:solidFill>
                  <a:srgbClr val="9B6300"/>
                </a:solidFill>
                <a:latin typeface="DejaVu Sans"/>
              </a:defRPr>
            </a:pPr>
            <a:r>
              <a:t>¹ Nhóm đã xác nhận; cần đối chiếu thêm workbook UI và report Playwright gốc.</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245A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75488" y="265176"/>
            <a:ext cx="10972800" cy="274320"/>
          </a:xfrm>
          <a:prstGeom prst="rect">
            <a:avLst/>
          </a:prstGeom>
          <a:noFill/>
        </p:spPr>
        <p:txBody>
          <a:bodyPr wrap="square" lIns="18288" rIns="18288" tIns="18288" bIns="18288">
            <a:spAutoFit/>
          </a:bodyPr>
          <a:lstStyle/>
          <a:p>
            <a:pPr>
              <a:spcAft>
                <a:spcPts val="700"/>
              </a:spcAft>
              <a:defRPr sz="1100" b="1">
                <a:solidFill>
                  <a:srgbClr val="087F83"/>
                </a:solidFill>
                <a:latin typeface="DejaVu Sans"/>
              </a:defRPr>
            </a:pPr>
            <a:r>
              <a:t>LỖI GHI NHẬN · XỬ LÝ · RETEST</a:t>
            </a:r>
          </a:p>
        </p:txBody>
      </p:sp>
      <p:sp>
        <p:nvSpPr>
          <p:cNvPr id="4" name="TextBox 3"/>
          <p:cNvSpPr txBox="1"/>
          <p:nvPr/>
        </p:nvSpPr>
        <p:spPr>
          <a:xfrm>
            <a:off x="475488" y="740664"/>
            <a:ext cx="11201400" cy="640080"/>
          </a:xfrm>
          <a:prstGeom prst="rect">
            <a:avLst/>
          </a:prstGeom>
          <a:noFill/>
        </p:spPr>
        <p:txBody>
          <a:bodyPr wrap="square" lIns="18288" rIns="18288" tIns="18288" bIns="18288">
            <a:spAutoFit/>
          </a:bodyPr>
          <a:lstStyle/>
          <a:p>
            <a:pPr>
              <a:spcAft>
                <a:spcPts val="700"/>
              </a:spcAft>
              <a:defRPr sz="3000" b="1">
                <a:solidFill>
                  <a:srgbClr val="142B49"/>
                </a:solidFill>
                <a:latin typeface="DejaVu Sans"/>
              </a:defRPr>
            </a:pPr>
            <a:r>
              <a:t>Hai ca Manual Fail vẫn cần theo dõi</a:t>
            </a:r>
          </a:p>
        </p:txBody>
      </p:sp>
      <p:sp>
        <p:nvSpPr>
          <p:cNvPr id="5" name="Rectangle 4"/>
          <p:cNvSpPr/>
          <p:nvPr/>
        </p:nvSpPr>
        <p:spPr>
          <a:xfrm>
            <a:off x="502920" y="6419088"/>
            <a:ext cx="11155680" cy="10972"/>
          </a:xfrm>
          <a:prstGeom prst="rect">
            <a:avLst/>
          </a:prstGeom>
          <a:solidFill>
            <a:srgbClr val="DB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8229600" cy="182880"/>
          </a:xfrm>
          <a:prstGeom prst="rect">
            <a:avLst/>
          </a:prstGeom>
          <a:noFill/>
        </p:spPr>
        <p:txBody>
          <a:bodyPr wrap="square" lIns="18288" rIns="18288" tIns="18288" bIns="18288">
            <a:spAutoFit/>
          </a:bodyPr>
          <a:lstStyle/>
          <a:p>
            <a:pPr>
              <a:spcAft>
                <a:spcPts val="700"/>
              </a:spcAft>
              <a:defRPr sz="900" b="0">
                <a:solidFill>
                  <a:srgbClr val="5A6B7E"/>
                </a:solidFill>
                <a:latin typeface="DejaVu Sans"/>
              </a:defRPr>
            </a:pPr>
            <a:r>
              <a:t>NHÓM 11 · 23CN2  |  KIỂM THỬ &amp; ĐẢM BẢO CHẤT LƯỢNG PHẦN MỀM</a:t>
            </a:r>
          </a:p>
        </p:txBody>
      </p:sp>
      <p:sp>
        <p:nvSpPr>
          <p:cNvPr id="7" name="TextBox 6"/>
          <p:cNvSpPr txBox="1"/>
          <p:nvPr/>
        </p:nvSpPr>
        <p:spPr>
          <a:xfrm>
            <a:off x="11064240" y="6473952"/>
            <a:ext cx="548640" cy="228600"/>
          </a:xfrm>
          <a:prstGeom prst="rect">
            <a:avLst/>
          </a:prstGeom>
          <a:noFill/>
        </p:spPr>
        <p:txBody>
          <a:bodyPr wrap="square" lIns="18288" rIns="18288" tIns="18288" bIns="18288">
            <a:spAutoFit/>
          </a:bodyPr>
          <a:lstStyle/>
          <a:p>
            <a:pPr algn="r">
              <a:spcAft>
                <a:spcPts val="700"/>
              </a:spcAft>
              <a:defRPr sz="1200" b="1">
                <a:solidFill>
                  <a:srgbClr val="245AD3"/>
                </a:solidFill>
                <a:latin typeface="DejaVu Sans"/>
              </a:defRPr>
            </a:pPr>
            <a:r>
              <a:t>15</a:t>
            </a:r>
          </a:p>
        </p:txBody>
      </p:sp>
      <p:sp>
        <p:nvSpPr>
          <p:cNvPr id="8" name="TextBox 7"/>
          <p:cNvSpPr txBox="1"/>
          <p:nvPr/>
        </p:nvSpPr>
        <p:spPr>
          <a:xfrm>
            <a:off x="530352" y="6126480"/>
            <a:ext cx="10972800" cy="210312"/>
          </a:xfrm>
          <a:prstGeom prst="rect">
            <a:avLst/>
          </a:prstGeom>
          <a:noFill/>
        </p:spPr>
        <p:txBody>
          <a:bodyPr wrap="square" lIns="18288" rIns="18288" tIns="18288" bIns="18288">
            <a:spAutoFit/>
          </a:bodyPr>
          <a:lstStyle/>
          <a:p>
            <a:pPr>
              <a:spcAft>
                <a:spcPts val="700"/>
              </a:spcAft>
              <a:defRPr sz="900" b="0">
                <a:solidFill>
                  <a:srgbClr val="5A6B7E"/>
                </a:solidFill>
                <a:latin typeface="DejaVu Sans"/>
              </a:defRPr>
            </a:pPr>
            <a:r>
              <a:t>Nguồn: hai mã testcase và trạng thái do nhóm cung cấp, xác nhận chưa có retest</a:t>
            </a:r>
          </a:p>
        </p:txBody>
      </p:sp>
      <p:sp>
        <p:nvSpPr>
          <p:cNvPr id="9" name="Rectangle 8"/>
          <p:cNvSpPr/>
          <p:nvPr/>
        </p:nvSpPr>
        <p:spPr>
          <a:xfrm>
            <a:off x="548640" y="1755648"/>
            <a:ext cx="3383280" cy="722376"/>
          </a:xfrm>
          <a:prstGeom prst="rect">
            <a:avLst/>
          </a:prstGeom>
          <a:solidFill>
            <a:srgbClr val="142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865376"/>
            <a:ext cx="3182112" cy="585216"/>
          </a:xfrm>
          <a:prstGeom prst="rect">
            <a:avLst/>
          </a:prstGeom>
          <a:noFill/>
        </p:spPr>
        <p:txBody>
          <a:bodyPr wrap="square" lIns="18288" rIns="18288" tIns="18288" bIns="18288">
            <a:spAutoFit/>
          </a:bodyPr>
          <a:lstStyle/>
          <a:p>
            <a:pPr>
              <a:spcAft>
                <a:spcPts val="700"/>
              </a:spcAft>
              <a:defRPr sz="2100" b="1">
                <a:solidFill>
                  <a:srgbClr val="FFFFFF"/>
                </a:solidFill>
                <a:latin typeface="DejaVu Sans"/>
              </a:defRPr>
            </a:pPr>
            <a:r>
              <a:t>Testcase</a:t>
            </a:r>
          </a:p>
        </p:txBody>
      </p:sp>
      <p:sp>
        <p:nvSpPr>
          <p:cNvPr id="11" name="Rectangle 10"/>
          <p:cNvSpPr/>
          <p:nvPr/>
        </p:nvSpPr>
        <p:spPr>
          <a:xfrm>
            <a:off x="3931920" y="1755648"/>
            <a:ext cx="2834640" cy="722376"/>
          </a:xfrm>
          <a:prstGeom prst="rect">
            <a:avLst/>
          </a:prstGeom>
          <a:solidFill>
            <a:srgbClr val="142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41648" y="1865376"/>
            <a:ext cx="2633472" cy="585216"/>
          </a:xfrm>
          <a:prstGeom prst="rect">
            <a:avLst/>
          </a:prstGeom>
          <a:noFill/>
        </p:spPr>
        <p:txBody>
          <a:bodyPr wrap="square" lIns="18288" rIns="18288" tIns="18288" bIns="18288">
            <a:spAutoFit/>
          </a:bodyPr>
          <a:lstStyle/>
          <a:p>
            <a:pPr>
              <a:spcAft>
                <a:spcPts val="700"/>
              </a:spcAft>
              <a:defRPr sz="2100" b="1">
                <a:solidFill>
                  <a:srgbClr val="FFFFFF"/>
                </a:solidFill>
                <a:latin typeface="DejaVu Sans"/>
              </a:defRPr>
            </a:pPr>
            <a:r>
              <a:t>Kết quả hiện có</a:t>
            </a:r>
          </a:p>
        </p:txBody>
      </p:sp>
      <p:sp>
        <p:nvSpPr>
          <p:cNvPr id="13" name="Rectangle 12"/>
          <p:cNvSpPr/>
          <p:nvPr/>
        </p:nvSpPr>
        <p:spPr>
          <a:xfrm>
            <a:off x="6766560" y="1755648"/>
            <a:ext cx="4892040" cy="722376"/>
          </a:xfrm>
          <a:prstGeom prst="rect">
            <a:avLst/>
          </a:prstGeom>
          <a:solidFill>
            <a:srgbClr val="142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76288" y="1865376"/>
            <a:ext cx="4690872" cy="585216"/>
          </a:xfrm>
          <a:prstGeom prst="rect">
            <a:avLst/>
          </a:prstGeom>
          <a:noFill/>
        </p:spPr>
        <p:txBody>
          <a:bodyPr wrap="square" lIns="18288" rIns="18288" tIns="18288" bIns="18288">
            <a:spAutoFit/>
          </a:bodyPr>
          <a:lstStyle/>
          <a:p>
            <a:pPr>
              <a:spcAft>
                <a:spcPts val="700"/>
              </a:spcAft>
              <a:defRPr sz="2100" b="1">
                <a:solidFill>
                  <a:srgbClr val="FFFFFF"/>
                </a:solidFill>
                <a:latin typeface="DejaVu Sans"/>
              </a:defRPr>
            </a:pPr>
            <a:r>
              <a:t>Trạng thái xử lý</a:t>
            </a:r>
          </a:p>
        </p:txBody>
      </p:sp>
      <p:sp>
        <p:nvSpPr>
          <p:cNvPr id="15" name="Rectangle 14"/>
          <p:cNvSpPr/>
          <p:nvPr/>
        </p:nvSpPr>
        <p:spPr>
          <a:xfrm>
            <a:off x="548640" y="2478024"/>
            <a:ext cx="3383280" cy="722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2587752"/>
            <a:ext cx="3182112" cy="585216"/>
          </a:xfrm>
          <a:prstGeom prst="rect">
            <a:avLst/>
          </a:prstGeom>
          <a:noFill/>
        </p:spPr>
        <p:txBody>
          <a:bodyPr wrap="square" lIns="18288" rIns="18288" tIns="18288" bIns="18288">
            <a:spAutoFit/>
          </a:bodyPr>
          <a:lstStyle/>
          <a:p>
            <a:pPr>
              <a:spcAft>
                <a:spcPts val="700"/>
              </a:spcAft>
              <a:defRPr sz="2100" b="1">
                <a:solidFill>
                  <a:srgbClr val="23384F"/>
                </a:solidFill>
                <a:latin typeface="DejaVu Sans"/>
              </a:defRPr>
            </a:pPr>
            <a:r>
              <a:t>TC-STATE-001</a:t>
            </a:r>
          </a:p>
        </p:txBody>
      </p:sp>
      <p:sp>
        <p:nvSpPr>
          <p:cNvPr id="17" name="Rectangle 16"/>
          <p:cNvSpPr/>
          <p:nvPr/>
        </p:nvSpPr>
        <p:spPr>
          <a:xfrm>
            <a:off x="3931920" y="2478024"/>
            <a:ext cx="2834640" cy="722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41648" y="2587752"/>
            <a:ext cx="2633472" cy="585216"/>
          </a:xfrm>
          <a:prstGeom prst="rect">
            <a:avLst/>
          </a:prstGeom>
          <a:noFill/>
        </p:spPr>
        <p:txBody>
          <a:bodyPr wrap="square" lIns="18288" rIns="18288" tIns="18288" bIns="18288">
            <a:spAutoFit/>
          </a:bodyPr>
          <a:lstStyle/>
          <a:p>
            <a:pPr>
              <a:spcAft>
                <a:spcPts val="700"/>
              </a:spcAft>
              <a:defRPr sz="2100" b="0">
                <a:solidFill>
                  <a:srgbClr val="23384F"/>
                </a:solidFill>
                <a:latin typeface="DejaVu Sans"/>
              </a:defRPr>
            </a:pPr>
            <a:r>
              <a:t>Fail</a:t>
            </a:r>
          </a:p>
        </p:txBody>
      </p:sp>
      <p:sp>
        <p:nvSpPr>
          <p:cNvPr id="19" name="Rectangle 18"/>
          <p:cNvSpPr/>
          <p:nvPr/>
        </p:nvSpPr>
        <p:spPr>
          <a:xfrm>
            <a:off x="6766560" y="2478024"/>
            <a:ext cx="4892040" cy="722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76288" y="2587752"/>
            <a:ext cx="4690872" cy="585216"/>
          </a:xfrm>
          <a:prstGeom prst="rect">
            <a:avLst/>
          </a:prstGeom>
          <a:noFill/>
        </p:spPr>
        <p:txBody>
          <a:bodyPr wrap="square" lIns="18288" rIns="18288" tIns="18288" bIns="18288">
            <a:spAutoFit/>
          </a:bodyPr>
          <a:lstStyle/>
          <a:p>
            <a:pPr>
              <a:spcAft>
                <a:spcPts val="700"/>
              </a:spcAft>
              <a:defRPr sz="2100" b="0">
                <a:solidFill>
                  <a:srgbClr val="23384F"/>
                </a:solidFill>
                <a:latin typeface="DejaVu Sans"/>
              </a:defRPr>
            </a:pPr>
            <a:r>
              <a:t>Còn mở · chưa có retest</a:t>
            </a:r>
          </a:p>
        </p:txBody>
      </p:sp>
      <p:sp>
        <p:nvSpPr>
          <p:cNvPr id="21" name="Rectangle 20"/>
          <p:cNvSpPr/>
          <p:nvPr/>
        </p:nvSpPr>
        <p:spPr>
          <a:xfrm>
            <a:off x="548640" y="3200400"/>
            <a:ext cx="3383280" cy="722376"/>
          </a:xfrm>
          <a:prstGeom prst="rect">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 y="3310128"/>
            <a:ext cx="3182112" cy="585216"/>
          </a:xfrm>
          <a:prstGeom prst="rect">
            <a:avLst/>
          </a:prstGeom>
          <a:noFill/>
        </p:spPr>
        <p:txBody>
          <a:bodyPr wrap="square" lIns="18288" rIns="18288" tIns="18288" bIns="18288">
            <a:spAutoFit/>
          </a:bodyPr>
          <a:lstStyle/>
          <a:p>
            <a:pPr>
              <a:spcAft>
                <a:spcPts val="700"/>
              </a:spcAft>
              <a:defRPr sz="2100" b="1">
                <a:solidFill>
                  <a:srgbClr val="23384F"/>
                </a:solidFill>
                <a:latin typeface="DejaVu Sans"/>
              </a:defRPr>
            </a:pPr>
            <a:r>
              <a:t>TC-UI-006</a:t>
            </a:r>
          </a:p>
        </p:txBody>
      </p:sp>
      <p:sp>
        <p:nvSpPr>
          <p:cNvPr id="23" name="Rectangle 22"/>
          <p:cNvSpPr/>
          <p:nvPr/>
        </p:nvSpPr>
        <p:spPr>
          <a:xfrm>
            <a:off x="3931920" y="3200400"/>
            <a:ext cx="2834640" cy="722376"/>
          </a:xfrm>
          <a:prstGeom prst="rect">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041648" y="3310128"/>
            <a:ext cx="2633472" cy="585216"/>
          </a:xfrm>
          <a:prstGeom prst="rect">
            <a:avLst/>
          </a:prstGeom>
          <a:noFill/>
        </p:spPr>
        <p:txBody>
          <a:bodyPr wrap="square" lIns="18288" rIns="18288" tIns="18288" bIns="18288">
            <a:spAutoFit/>
          </a:bodyPr>
          <a:lstStyle/>
          <a:p>
            <a:pPr>
              <a:spcAft>
                <a:spcPts val="700"/>
              </a:spcAft>
              <a:defRPr sz="2100" b="0">
                <a:solidFill>
                  <a:srgbClr val="23384F"/>
                </a:solidFill>
                <a:latin typeface="DejaVu Sans"/>
              </a:defRPr>
            </a:pPr>
            <a:r>
              <a:t>Fail</a:t>
            </a:r>
          </a:p>
        </p:txBody>
      </p:sp>
      <p:sp>
        <p:nvSpPr>
          <p:cNvPr id="25" name="Rectangle 24"/>
          <p:cNvSpPr/>
          <p:nvPr/>
        </p:nvSpPr>
        <p:spPr>
          <a:xfrm>
            <a:off x="6766560" y="3200400"/>
            <a:ext cx="4892040" cy="722376"/>
          </a:xfrm>
          <a:prstGeom prst="rect">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76288" y="3310128"/>
            <a:ext cx="4690872" cy="585216"/>
          </a:xfrm>
          <a:prstGeom prst="rect">
            <a:avLst/>
          </a:prstGeom>
          <a:noFill/>
        </p:spPr>
        <p:txBody>
          <a:bodyPr wrap="square" lIns="18288" rIns="18288" tIns="18288" bIns="18288">
            <a:spAutoFit/>
          </a:bodyPr>
          <a:lstStyle/>
          <a:p>
            <a:pPr>
              <a:spcAft>
                <a:spcPts val="700"/>
              </a:spcAft>
              <a:defRPr sz="2100" b="0">
                <a:solidFill>
                  <a:srgbClr val="23384F"/>
                </a:solidFill>
                <a:latin typeface="DejaVu Sans"/>
              </a:defRPr>
            </a:pPr>
            <a:r>
              <a:t>Còn mở · chưa có retest</a:t>
            </a:r>
          </a:p>
        </p:txBody>
      </p:sp>
      <p:sp>
        <p:nvSpPr>
          <p:cNvPr id="27" name="TextBox 26"/>
          <p:cNvSpPr txBox="1"/>
          <p:nvPr/>
        </p:nvSpPr>
        <p:spPr>
          <a:xfrm>
            <a:off x="566928" y="4297680"/>
            <a:ext cx="10972800" cy="640080"/>
          </a:xfrm>
          <a:prstGeom prst="rect">
            <a:avLst/>
          </a:prstGeom>
          <a:noFill/>
        </p:spPr>
        <p:txBody>
          <a:bodyPr wrap="square" lIns="18288" rIns="18288" tIns="18288" bIns="18288">
            <a:spAutoFit/>
          </a:bodyPr>
          <a:lstStyle/>
          <a:p>
            <a:pPr>
              <a:spcAft>
                <a:spcPts val="700"/>
              </a:spcAft>
              <a:defRPr sz="2000" b="1">
                <a:solidFill>
                  <a:srgbClr val="142B49"/>
                </a:solidFill>
                <a:latin typeface="DejaVu Sans"/>
              </a:defRPr>
            </a:pPr>
            <a:r>
              <a:t>Bổ sung minh chứng → Xử lý → Chạy lại đúng ca → Cập nhật trạng thái</a:t>
            </a:r>
          </a:p>
        </p:txBody>
      </p:sp>
      <p:sp>
        <p:nvSpPr>
          <p:cNvPr id="28" name="Rounded Rectangle 27"/>
          <p:cNvSpPr/>
          <p:nvPr/>
        </p:nvSpPr>
        <p:spPr>
          <a:xfrm>
            <a:off x="530352" y="5367528"/>
            <a:ext cx="11109960" cy="438912"/>
          </a:xfrm>
          <a:prstGeom prst="roundRect">
            <a:avLst>
              <a:gd name="adj" fmla="val 12000"/>
            </a:avLst>
          </a:prstGeom>
          <a:solidFill>
            <a:srgbClr val="FBEC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4944" y="5417820"/>
            <a:ext cx="10789920" cy="338328"/>
          </a:xfrm>
          <a:prstGeom prst="rect">
            <a:avLst/>
          </a:prstGeom>
          <a:noFill/>
        </p:spPr>
        <p:txBody>
          <a:bodyPr wrap="square" lIns="18288" rIns="18288" tIns="18288" bIns="18288">
            <a:spAutoFit/>
          </a:bodyPr>
          <a:lstStyle/>
          <a:p>
            <a:pPr>
              <a:spcAft>
                <a:spcPts val="700"/>
              </a:spcAft>
              <a:defRPr sz="2000" b="1">
                <a:solidFill>
                  <a:srgbClr val="B33D49"/>
                </a:solidFill>
                <a:latin typeface="DejaVu Sans"/>
              </a:defRPr>
            </a:pPr>
            <a:r>
              <a:t>Playwright Pass không thay thế retest của một ca Manual Fail.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245A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75488" y="265176"/>
            <a:ext cx="10972800" cy="274320"/>
          </a:xfrm>
          <a:prstGeom prst="rect">
            <a:avLst/>
          </a:prstGeom>
          <a:noFill/>
        </p:spPr>
        <p:txBody>
          <a:bodyPr wrap="square" lIns="18288" rIns="18288" tIns="18288" bIns="18288">
            <a:spAutoFit/>
          </a:bodyPr>
          <a:lstStyle/>
          <a:p>
            <a:pPr>
              <a:spcAft>
                <a:spcPts val="700"/>
              </a:spcAft>
              <a:defRPr sz="1100" b="1">
                <a:solidFill>
                  <a:srgbClr val="087F83"/>
                </a:solidFill>
                <a:latin typeface="DejaVu Sans"/>
              </a:defRPr>
            </a:pPr>
            <a:r>
              <a:t>CÁC ĐIỂM LỆCH ĐÃ PHÁT HIỆN</a:t>
            </a:r>
          </a:p>
        </p:txBody>
      </p:sp>
      <p:sp>
        <p:nvSpPr>
          <p:cNvPr id="4" name="TextBox 3"/>
          <p:cNvSpPr txBox="1"/>
          <p:nvPr/>
        </p:nvSpPr>
        <p:spPr>
          <a:xfrm>
            <a:off x="475488" y="740664"/>
            <a:ext cx="11201400" cy="640080"/>
          </a:xfrm>
          <a:prstGeom prst="rect">
            <a:avLst/>
          </a:prstGeom>
          <a:noFill/>
        </p:spPr>
        <p:txBody>
          <a:bodyPr wrap="square" lIns="18288" rIns="18288" tIns="18288" bIns="18288">
            <a:spAutoFit/>
          </a:bodyPr>
          <a:lstStyle/>
          <a:p>
            <a:pPr>
              <a:spcAft>
                <a:spcPts val="700"/>
              </a:spcAft>
              <a:defRPr sz="3000" b="1">
                <a:solidFill>
                  <a:srgbClr val="142B49"/>
                </a:solidFill>
                <a:latin typeface="DejaVu Sans"/>
              </a:defRPr>
            </a:pPr>
            <a:r>
              <a:t>Đồng bộ tài liệu trước khi bảo vệ</a:t>
            </a:r>
          </a:p>
        </p:txBody>
      </p:sp>
      <p:sp>
        <p:nvSpPr>
          <p:cNvPr id="5" name="Rectangle 4"/>
          <p:cNvSpPr/>
          <p:nvPr/>
        </p:nvSpPr>
        <p:spPr>
          <a:xfrm>
            <a:off x="502920" y="6419088"/>
            <a:ext cx="11155680" cy="10972"/>
          </a:xfrm>
          <a:prstGeom prst="rect">
            <a:avLst/>
          </a:prstGeom>
          <a:solidFill>
            <a:srgbClr val="DB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8229600" cy="182880"/>
          </a:xfrm>
          <a:prstGeom prst="rect">
            <a:avLst/>
          </a:prstGeom>
          <a:noFill/>
        </p:spPr>
        <p:txBody>
          <a:bodyPr wrap="square" lIns="18288" rIns="18288" tIns="18288" bIns="18288">
            <a:spAutoFit/>
          </a:bodyPr>
          <a:lstStyle/>
          <a:p>
            <a:pPr>
              <a:spcAft>
                <a:spcPts val="700"/>
              </a:spcAft>
              <a:defRPr sz="900" b="0">
                <a:solidFill>
                  <a:srgbClr val="5A6B7E"/>
                </a:solidFill>
                <a:latin typeface="DejaVu Sans"/>
              </a:defRPr>
            </a:pPr>
            <a:r>
              <a:t>NHÓM 11 · 23CN2  |  KIỂM THỬ &amp; ĐẢM BẢO CHẤT LƯỢNG PHẦN MỀM</a:t>
            </a:r>
          </a:p>
        </p:txBody>
      </p:sp>
      <p:sp>
        <p:nvSpPr>
          <p:cNvPr id="7" name="TextBox 6"/>
          <p:cNvSpPr txBox="1"/>
          <p:nvPr/>
        </p:nvSpPr>
        <p:spPr>
          <a:xfrm>
            <a:off x="11064240" y="6473952"/>
            <a:ext cx="548640" cy="228600"/>
          </a:xfrm>
          <a:prstGeom prst="rect">
            <a:avLst/>
          </a:prstGeom>
          <a:noFill/>
        </p:spPr>
        <p:txBody>
          <a:bodyPr wrap="square" lIns="18288" rIns="18288" tIns="18288" bIns="18288">
            <a:spAutoFit/>
          </a:bodyPr>
          <a:lstStyle/>
          <a:p>
            <a:pPr algn="r">
              <a:spcAft>
                <a:spcPts val="700"/>
              </a:spcAft>
              <a:defRPr sz="1200" b="1">
                <a:solidFill>
                  <a:srgbClr val="245AD3"/>
                </a:solidFill>
                <a:latin typeface="DejaVu Sans"/>
              </a:defRPr>
            </a:pPr>
            <a:r>
              <a:t>16</a:t>
            </a:r>
          </a:p>
        </p:txBody>
      </p:sp>
      <p:sp>
        <p:nvSpPr>
          <p:cNvPr id="8" name="TextBox 7"/>
          <p:cNvSpPr txBox="1"/>
          <p:nvPr/>
        </p:nvSpPr>
        <p:spPr>
          <a:xfrm>
            <a:off x="530352" y="6126480"/>
            <a:ext cx="10972800" cy="210312"/>
          </a:xfrm>
          <a:prstGeom prst="rect">
            <a:avLst/>
          </a:prstGeom>
          <a:noFill/>
        </p:spPr>
        <p:txBody>
          <a:bodyPr wrap="square" lIns="18288" rIns="18288" tIns="18288" bIns="18288">
            <a:spAutoFit/>
          </a:bodyPr>
          <a:lstStyle/>
          <a:p>
            <a:pPr>
              <a:spcAft>
                <a:spcPts val="700"/>
              </a:spcAft>
              <a:defRPr sz="900" b="0">
                <a:solidFill>
                  <a:srgbClr val="5A6B7E"/>
                </a:solidFill>
                <a:latin typeface="DejaVu Sans"/>
              </a:defRPr>
            </a:pPr>
            <a:r>
              <a:t>Nguồn: đối chiếu Word, Excel, ảnh nhúng và xác nhận của nhóm</a:t>
            </a:r>
          </a:p>
        </p:txBody>
      </p:sp>
      <p:sp>
        <p:nvSpPr>
          <p:cNvPr id="9" name="Rectangle 8"/>
          <p:cNvSpPr/>
          <p:nvPr/>
        </p:nvSpPr>
        <p:spPr>
          <a:xfrm>
            <a:off x="548640" y="1773936"/>
            <a:ext cx="2423160" cy="630936"/>
          </a:xfrm>
          <a:prstGeom prst="rect">
            <a:avLst/>
          </a:prstGeom>
          <a:solidFill>
            <a:srgbClr val="142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883664"/>
            <a:ext cx="2221991" cy="493775"/>
          </a:xfrm>
          <a:prstGeom prst="rect">
            <a:avLst/>
          </a:prstGeom>
          <a:noFill/>
        </p:spPr>
        <p:txBody>
          <a:bodyPr wrap="square" lIns="18288" rIns="18288" tIns="18288" bIns="18288">
            <a:spAutoFit/>
          </a:bodyPr>
          <a:lstStyle/>
          <a:p>
            <a:pPr>
              <a:spcAft>
                <a:spcPts val="700"/>
              </a:spcAft>
              <a:defRPr sz="1700" b="1">
                <a:solidFill>
                  <a:srgbClr val="FFFFFF"/>
                </a:solidFill>
                <a:latin typeface="DejaVu Sans"/>
              </a:defRPr>
            </a:pPr>
            <a:r>
              <a:t>Nội dung</a:t>
            </a:r>
          </a:p>
        </p:txBody>
      </p:sp>
      <p:sp>
        <p:nvSpPr>
          <p:cNvPr id="11" name="Rectangle 10"/>
          <p:cNvSpPr/>
          <p:nvPr/>
        </p:nvSpPr>
        <p:spPr>
          <a:xfrm>
            <a:off x="2971800" y="1773936"/>
            <a:ext cx="3749039" cy="630936"/>
          </a:xfrm>
          <a:prstGeom prst="rect">
            <a:avLst/>
          </a:prstGeom>
          <a:solidFill>
            <a:srgbClr val="142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81528" y="1883664"/>
            <a:ext cx="3547871" cy="493775"/>
          </a:xfrm>
          <a:prstGeom prst="rect">
            <a:avLst/>
          </a:prstGeom>
          <a:noFill/>
        </p:spPr>
        <p:txBody>
          <a:bodyPr wrap="square" lIns="18288" rIns="18288" tIns="18288" bIns="18288">
            <a:spAutoFit/>
          </a:bodyPr>
          <a:lstStyle/>
          <a:p>
            <a:pPr>
              <a:spcAft>
                <a:spcPts val="700"/>
              </a:spcAft>
              <a:defRPr sz="1700" b="1">
                <a:solidFill>
                  <a:srgbClr val="FFFFFF"/>
                </a:solidFill>
                <a:latin typeface="DejaVu Sans"/>
              </a:defRPr>
            </a:pPr>
            <a:r>
              <a:t>Tài liệu đang ghi</a:t>
            </a:r>
          </a:p>
        </p:txBody>
      </p:sp>
      <p:sp>
        <p:nvSpPr>
          <p:cNvPr id="13" name="Rectangle 12"/>
          <p:cNvSpPr/>
          <p:nvPr/>
        </p:nvSpPr>
        <p:spPr>
          <a:xfrm>
            <a:off x="6720840" y="1773936"/>
            <a:ext cx="4937760" cy="630936"/>
          </a:xfrm>
          <a:prstGeom prst="rect">
            <a:avLst/>
          </a:prstGeom>
          <a:solidFill>
            <a:srgbClr val="142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0568" y="1883664"/>
            <a:ext cx="4736592" cy="493775"/>
          </a:xfrm>
          <a:prstGeom prst="rect">
            <a:avLst/>
          </a:prstGeom>
          <a:noFill/>
        </p:spPr>
        <p:txBody>
          <a:bodyPr wrap="square" lIns="18288" rIns="18288" tIns="18288" bIns="18288">
            <a:spAutoFit/>
          </a:bodyPr>
          <a:lstStyle/>
          <a:p>
            <a:pPr>
              <a:spcAft>
                <a:spcPts val="700"/>
              </a:spcAft>
              <a:defRPr sz="1700" b="1">
                <a:solidFill>
                  <a:srgbClr val="FFFFFF"/>
                </a:solidFill>
                <a:latin typeface="DejaVu Sans"/>
              </a:defRPr>
            </a:pPr>
            <a:r>
              <a:t>Cách trình bày đã chốt</a:t>
            </a:r>
          </a:p>
        </p:txBody>
      </p:sp>
      <p:sp>
        <p:nvSpPr>
          <p:cNvPr id="15" name="Rectangle 14"/>
          <p:cNvSpPr/>
          <p:nvPr/>
        </p:nvSpPr>
        <p:spPr>
          <a:xfrm>
            <a:off x="548640" y="2404872"/>
            <a:ext cx="2423160" cy="6309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2514600"/>
            <a:ext cx="2221991" cy="493775"/>
          </a:xfrm>
          <a:prstGeom prst="rect">
            <a:avLst/>
          </a:prstGeom>
          <a:noFill/>
        </p:spPr>
        <p:txBody>
          <a:bodyPr wrap="square" lIns="18288" rIns="18288" tIns="18288" bIns="18288">
            <a:spAutoFit/>
          </a:bodyPr>
          <a:lstStyle/>
          <a:p>
            <a:pPr>
              <a:spcAft>
                <a:spcPts val="700"/>
              </a:spcAft>
              <a:defRPr sz="1700" b="1">
                <a:solidFill>
                  <a:srgbClr val="23384F"/>
                </a:solidFill>
                <a:latin typeface="DejaVu Sans"/>
              </a:defRPr>
            </a:pPr>
            <a:r>
              <a:t>Manual UI</a:t>
            </a:r>
          </a:p>
        </p:txBody>
      </p:sp>
      <p:sp>
        <p:nvSpPr>
          <p:cNvPr id="17" name="Rectangle 16"/>
          <p:cNvSpPr/>
          <p:nvPr/>
        </p:nvSpPr>
        <p:spPr>
          <a:xfrm>
            <a:off x="2971800" y="2404872"/>
            <a:ext cx="3749039" cy="6309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81528" y="2514600"/>
            <a:ext cx="3547871" cy="493775"/>
          </a:xfrm>
          <a:prstGeom prst="rect">
            <a:avLst/>
          </a:prstGeom>
          <a:noFill/>
        </p:spPr>
        <p:txBody>
          <a:bodyPr wrap="square" lIns="18288" rIns="18288" tIns="18288" bIns="18288">
            <a:spAutoFit/>
          </a:bodyPr>
          <a:lstStyle/>
          <a:p>
            <a:pPr>
              <a:spcAft>
                <a:spcPts val="700"/>
              </a:spcAft>
              <a:defRPr sz="1700" b="0">
                <a:solidFill>
                  <a:srgbClr val="23384F"/>
                </a:solidFill>
                <a:latin typeface="DejaVu Sans"/>
              </a:defRPr>
            </a:pPr>
            <a:r>
              <a:t>Word: 80/80 Pass</a:t>
            </a:r>
          </a:p>
        </p:txBody>
      </p:sp>
      <p:sp>
        <p:nvSpPr>
          <p:cNvPr id="19" name="Rectangle 18"/>
          <p:cNvSpPr/>
          <p:nvPr/>
        </p:nvSpPr>
        <p:spPr>
          <a:xfrm>
            <a:off x="6720840" y="2404872"/>
            <a:ext cx="4937760" cy="6309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0568" y="2514600"/>
            <a:ext cx="4736592" cy="493775"/>
          </a:xfrm>
          <a:prstGeom prst="rect">
            <a:avLst/>
          </a:prstGeom>
          <a:noFill/>
        </p:spPr>
        <p:txBody>
          <a:bodyPr wrap="square" lIns="18288" rIns="18288" tIns="18288" bIns="18288">
            <a:spAutoFit/>
          </a:bodyPr>
          <a:lstStyle/>
          <a:p>
            <a:pPr>
              <a:spcAft>
                <a:spcPts val="700"/>
              </a:spcAft>
              <a:defRPr sz="1700" b="0">
                <a:solidFill>
                  <a:srgbClr val="23384F"/>
                </a:solidFill>
                <a:latin typeface="DejaVu Sans"/>
              </a:defRPr>
            </a:pPr>
            <a:r>
              <a:t>Nhóm xác nhận: 79 ca; 77 Pass, 2 Fail</a:t>
            </a:r>
          </a:p>
        </p:txBody>
      </p:sp>
      <p:sp>
        <p:nvSpPr>
          <p:cNvPr id="21" name="Rectangle 20"/>
          <p:cNvSpPr/>
          <p:nvPr/>
        </p:nvSpPr>
        <p:spPr>
          <a:xfrm>
            <a:off x="548640" y="3035808"/>
            <a:ext cx="2423160" cy="630936"/>
          </a:xfrm>
          <a:prstGeom prst="rect">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 y="3145536"/>
            <a:ext cx="2221991" cy="493775"/>
          </a:xfrm>
          <a:prstGeom prst="rect">
            <a:avLst/>
          </a:prstGeom>
          <a:noFill/>
        </p:spPr>
        <p:txBody>
          <a:bodyPr wrap="square" lIns="18288" rIns="18288" tIns="18288" bIns="18288">
            <a:spAutoFit/>
          </a:bodyPr>
          <a:lstStyle/>
          <a:p>
            <a:pPr>
              <a:spcAft>
                <a:spcPts val="700"/>
              </a:spcAft>
              <a:defRPr sz="1700" b="1">
                <a:solidFill>
                  <a:srgbClr val="23384F"/>
                </a:solidFill>
                <a:latin typeface="DejaVu Sans"/>
              </a:defRPr>
            </a:pPr>
            <a:r>
              <a:t>Playwright</a:t>
            </a:r>
          </a:p>
        </p:txBody>
      </p:sp>
      <p:sp>
        <p:nvSpPr>
          <p:cNvPr id="23" name="Rectangle 22"/>
          <p:cNvSpPr/>
          <p:nvPr/>
        </p:nvSpPr>
        <p:spPr>
          <a:xfrm>
            <a:off x="2971800" y="3035808"/>
            <a:ext cx="3749039" cy="630936"/>
          </a:xfrm>
          <a:prstGeom prst="rect">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81528" y="3145536"/>
            <a:ext cx="3547871" cy="493775"/>
          </a:xfrm>
          <a:prstGeom prst="rect">
            <a:avLst/>
          </a:prstGeom>
          <a:noFill/>
        </p:spPr>
        <p:txBody>
          <a:bodyPr wrap="square" lIns="18288" rIns="18288" tIns="18288" bIns="18288">
            <a:spAutoFit/>
          </a:bodyPr>
          <a:lstStyle/>
          <a:p>
            <a:pPr>
              <a:spcAft>
                <a:spcPts val="700"/>
              </a:spcAft>
              <a:defRPr sz="1700" b="0">
                <a:solidFill>
                  <a:srgbClr val="23384F"/>
                </a:solidFill>
                <a:latin typeface="DejaVu Sans"/>
              </a:defRPr>
            </a:pPr>
            <a:r>
              <a:t>Word: vừa chưa chạy, vừa 50 Pass</a:t>
            </a:r>
          </a:p>
        </p:txBody>
      </p:sp>
      <p:sp>
        <p:nvSpPr>
          <p:cNvPr id="25" name="Rectangle 24"/>
          <p:cNvSpPr/>
          <p:nvPr/>
        </p:nvSpPr>
        <p:spPr>
          <a:xfrm>
            <a:off x="6720840" y="3035808"/>
            <a:ext cx="4937760" cy="630936"/>
          </a:xfrm>
          <a:prstGeom prst="rect">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0568" y="3145536"/>
            <a:ext cx="4736592" cy="493775"/>
          </a:xfrm>
          <a:prstGeom prst="rect">
            <a:avLst/>
          </a:prstGeom>
          <a:noFill/>
        </p:spPr>
        <p:txBody>
          <a:bodyPr wrap="square" lIns="18288" rIns="18288" tIns="18288" bIns="18288">
            <a:spAutoFit/>
          </a:bodyPr>
          <a:lstStyle/>
          <a:p>
            <a:pPr>
              <a:spcAft>
                <a:spcPts val="700"/>
              </a:spcAft>
              <a:defRPr sz="1700" b="0">
                <a:solidFill>
                  <a:srgbClr val="23384F"/>
                </a:solidFill>
                <a:latin typeface="DejaVu Sans"/>
              </a:defRPr>
            </a:pPr>
            <a:r>
              <a:t>Nhóm xác nhận 50 Pass; cần report</a:t>
            </a:r>
          </a:p>
        </p:txBody>
      </p:sp>
      <p:sp>
        <p:nvSpPr>
          <p:cNvPr id="27" name="Rectangle 26"/>
          <p:cNvSpPr/>
          <p:nvPr/>
        </p:nvSpPr>
        <p:spPr>
          <a:xfrm>
            <a:off x="548640" y="3666744"/>
            <a:ext cx="2423160" cy="6309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 y="3776472"/>
            <a:ext cx="2221991" cy="493775"/>
          </a:xfrm>
          <a:prstGeom prst="rect">
            <a:avLst/>
          </a:prstGeom>
          <a:noFill/>
        </p:spPr>
        <p:txBody>
          <a:bodyPr wrap="square" lIns="18288" rIns="18288" tIns="18288" bIns="18288">
            <a:spAutoFit/>
          </a:bodyPr>
          <a:lstStyle/>
          <a:p>
            <a:pPr>
              <a:spcAft>
                <a:spcPts val="700"/>
              </a:spcAft>
              <a:defRPr sz="1700" b="1">
                <a:solidFill>
                  <a:srgbClr val="23384F"/>
                </a:solidFill>
                <a:latin typeface="DejaVu Sans"/>
              </a:defRPr>
            </a:pPr>
            <a:r>
              <a:t>Lỗi mở</a:t>
            </a:r>
          </a:p>
        </p:txBody>
      </p:sp>
      <p:sp>
        <p:nvSpPr>
          <p:cNvPr id="29" name="Rectangle 28"/>
          <p:cNvSpPr/>
          <p:nvPr/>
        </p:nvSpPr>
        <p:spPr>
          <a:xfrm>
            <a:off x="2971800" y="3666744"/>
            <a:ext cx="3749039" cy="6309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81528" y="3776472"/>
            <a:ext cx="3547871" cy="493775"/>
          </a:xfrm>
          <a:prstGeom prst="rect">
            <a:avLst/>
          </a:prstGeom>
          <a:noFill/>
        </p:spPr>
        <p:txBody>
          <a:bodyPr wrap="square" lIns="18288" rIns="18288" tIns="18288" bIns="18288">
            <a:spAutoFit/>
          </a:bodyPr>
          <a:lstStyle/>
          <a:p>
            <a:pPr>
              <a:spcAft>
                <a:spcPts val="700"/>
              </a:spcAft>
              <a:defRPr sz="1700" b="0">
                <a:solidFill>
                  <a:srgbClr val="23384F"/>
                </a:solidFill>
                <a:latin typeface="DejaVu Sans"/>
              </a:defRPr>
            </a:pPr>
            <a:r>
              <a:t>Word: đã xử lý hết</a:t>
            </a:r>
          </a:p>
        </p:txBody>
      </p:sp>
      <p:sp>
        <p:nvSpPr>
          <p:cNvPr id="31" name="Rectangle 30"/>
          <p:cNvSpPr/>
          <p:nvPr/>
        </p:nvSpPr>
        <p:spPr>
          <a:xfrm>
            <a:off x="6720840" y="3666744"/>
            <a:ext cx="4937760" cy="6309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30568" y="3776472"/>
            <a:ext cx="4736592" cy="493775"/>
          </a:xfrm>
          <a:prstGeom prst="rect">
            <a:avLst/>
          </a:prstGeom>
          <a:noFill/>
        </p:spPr>
        <p:txBody>
          <a:bodyPr wrap="square" lIns="18288" rIns="18288" tIns="18288" bIns="18288">
            <a:spAutoFit/>
          </a:bodyPr>
          <a:lstStyle/>
          <a:p>
            <a:pPr>
              <a:spcAft>
                <a:spcPts val="700"/>
              </a:spcAft>
              <a:defRPr sz="1700" b="0">
                <a:solidFill>
                  <a:srgbClr val="23384F"/>
                </a:solidFill>
                <a:latin typeface="DejaVu Sans"/>
              </a:defRPr>
            </a:pPr>
            <a:r>
              <a:t>Giữ 2 ca Fail; chưa có retest</a:t>
            </a:r>
          </a:p>
        </p:txBody>
      </p:sp>
      <p:sp>
        <p:nvSpPr>
          <p:cNvPr id="33" name="Rectangle 32"/>
          <p:cNvSpPr/>
          <p:nvPr/>
        </p:nvSpPr>
        <p:spPr>
          <a:xfrm>
            <a:off x="548640" y="4297679"/>
            <a:ext cx="2423160" cy="630936"/>
          </a:xfrm>
          <a:prstGeom prst="rect">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4407407"/>
            <a:ext cx="2221991" cy="493775"/>
          </a:xfrm>
          <a:prstGeom prst="rect">
            <a:avLst/>
          </a:prstGeom>
          <a:noFill/>
        </p:spPr>
        <p:txBody>
          <a:bodyPr wrap="square" lIns="18288" rIns="18288" tIns="18288" bIns="18288">
            <a:spAutoFit/>
          </a:bodyPr>
          <a:lstStyle/>
          <a:p>
            <a:pPr>
              <a:spcAft>
                <a:spcPts val="700"/>
              </a:spcAft>
              <a:defRPr sz="1700" b="1">
                <a:solidFill>
                  <a:srgbClr val="23384F"/>
                </a:solidFill>
                <a:latin typeface="DejaVu Sans"/>
              </a:defRPr>
            </a:pPr>
            <a:r>
              <a:t>Ảnh Playwright</a:t>
            </a:r>
          </a:p>
        </p:txBody>
      </p:sp>
      <p:sp>
        <p:nvSpPr>
          <p:cNvPr id="35" name="Rectangle 34"/>
          <p:cNvSpPr/>
          <p:nvPr/>
        </p:nvSpPr>
        <p:spPr>
          <a:xfrm>
            <a:off x="2971800" y="4297679"/>
            <a:ext cx="3749039" cy="630936"/>
          </a:xfrm>
          <a:prstGeom prst="rect">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081528" y="4407407"/>
            <a:ext cx="3547871" cy="493775"/>
          </a:xfrm>
          <a:prstGeom prst="rect">
            <a:avLst/>
          </a:prstGeom>
          <a:noFill/>
        </p:spPr>
        <p:txBody>
          <a:bodyPr wrap="square" lIns="18288" rIns="18288" tIns="18288" bIns="18288">
            <a:spAutoFit/>
          </a:bodyPr>
          <a:lstStyle/>
          <a:p>
            <a:pPr>
              <a:spcAft>
                <a:spcPts val="700"/>
              </a:spcAft>
              <a:defRPr sz="1700" b="0">
                <a:solidFill>
                  <a:srgbClr val="23384F"/>
                </a:solidFill>
                <a:latin typeface="DejaVu Sans"/>
              </a:defRPr>
            </a:pPr>
            <a:r>
              <a:t>Word: 6 bài example.spec.js</a:t>
            </a:r>
          </a:p>
        </p:txBody>
      </p:sp>
      <p:sp>
        <p:nvSpPr>
          <p:cNvPr id="37" name="Rectangle 36"/>
          <p:cNvSpPr/>
          <p:nvPr/>
        </p:nvSpPr>
        <p:spPr>
          <a:xfrm>
            <a:off x="6720840" y="4297679"/>
            <a:ext cx="4937760" cy="630936"/>
          </a:xfrm>
          <a:prstGeom prst="rect">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30568" y="4407407"/>
            <a:ext cx="4736592" cy="493775"/>
          </a:xfrm>
          <a:prstGeom prst="rect">
            <a:avLst/>
          </a:prstGeom>
          <a:noFill/>
        </p:spPr>
        <p:txBody>
          <a:bodyPr wrap="square" lIns="18288" rIns="18288" tIns="18288" bIns="18288">
            <a:spAutoFit/>
          </a:bodyPr>
          <a:lstStyle/>
          <a:p>
            <a:pPr>
              <a:spcAft>
                <a:spcPts val="700"/>
              </a:spcAft>
              <a:defRPr sz="1700" b="0">
                <a:solidFill>
                  <a:srgbClr val="23384F"/>
                </a:solidFill>
                <a:latin typeface="DejaVu Sans"/>
              </a:defRPr>
            </a:pPr>
            <a:r>
              <a:t>Không dùng chứng minh 50 ca</a:t>
            </a:r>
          </a:p>
        </p:txBody>
      </p:sp>
      <p:sp>
        <p:nvSpPr>
          <p:cNvPr id="39" name="Rectangle 38"/>
          <p:cNvSpPr/>
          <p:nvPr/>
        </p:nvSpPr>
        <p:spPr>
          <a:xfrm>
            <a:off x="548640" y="4928616"/>
            <a:ext cx="2423160" cy="6309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58368" y="5038344"/>
            <a:ext cx="2221991" cy="493775"/>
          </a:xfrm>
          <a:prstGeom prst="rect">
            <a:avLst/>
          </a:prstGeom>
          <a:noFill/>
        </p:spPr>
        <p:txBody>
          <a:bodyPr wrap="square" lIns="18288" rIns="18288" tIns="18288" bIns="18288">
            <a:spAutoFit/>
          </a:bodyPr>
          <a:lstStyle/>
          <a:p>
            <a:pPr>
              <a:spcAft>
                <a:spcPts val="700"/>
              </a:spcAft>
              <a:defRPr sz="1700" b="1">
                <a:solidFill>
                  <a:srgbClr val="23384F"/>
                </a:solidFill>
                <a:latin typeface="DejaVu Sans"/>
              </a:defRPr>
            </a:pPr>
            <a:r>
              <a:t>Truy vết Manual ↔ PW</a:t>
            </a:r>
          </a:p>
        </p:txBody>
      </p:sp>
      <p:sp>
        <p:nvSpPr>
          <p:cNvPr id="41" name="Rectangle 40"/>
          <p:cNvSpPr/>
          <p:nvPr/>
        </p:nvSpPr>
        <p:spPr>
          <a:xfrm>
            <a:off x="2971800" y="4928616"/>
            <a:ext cx="3749039" cy="6309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081528" y="5038344"/>
            <a:ext cx="3547871" cy="493775"/>
          </a:xfrm>
          <a:prstGeom prst="rect">
            <a:avLst/>
          </a:prstGeom>
          <a:noFill/>
        </p:spPr>
        <p:txBody>
          <a:bodyPr wrap="square" lIns="18288" rIns="18288" tIns="18288" bIns="18288">
            <a:spAutoFit/>
          </a:bodyPr>
          <a:lstStyle/>
          <a:p>
            <a:pPr>
              <a:spcAft>
                <a:spcPts val="700"/>
              </a:spcAft>
              <a:defRPr sz="1700" b="0">
                <a:solidFill>
                  <a:srgbClr val="23384F"/>
                </a:solidFill>
                <a:latin typeface="DejaVu Sans"/>
              </a:defRPr>
            </a:pPr>
            <a:r>
              <a:t>Chưa đọc được workbook</a:t>
            </a:r>
          </a:p>
        </p:txBody>
      </p:sp>
      <p:sp>
        <p:nvSpPr>
          <p:cNvPr id="43" name="Rectangle 42"/>
          <p:cNvSpPr/>
          <p:nvPr/>
        </p:nvSpPr>
        <p:spPr>
          <a:xfrm>
            <a:off x="6720840" y="4928616"/>
            <a:ext cx="4937760" cy="6309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830568" y="5038344"/>
            <a:ext cx="4736592" cy="493775"/>
          </a:xfrm>
          <a:prstGeom prst="rect">
            <a:avLst/>
          </a:prstGeom>
          <a:noFill/>
        </p:spPr>
        <p:txBody>
          <a:bodyPr wrap="square" lIns="18288" rIns="18288" tIns="18288" bIns="18288">
            <a:spAutoFit/>
          </a:bodyPr>
          <a:lstStyle/>
          <a:p>
            <a:pPr>
              <a:spcAft>
                <a:spcPts val="700"/>
              </a:spcAft>
              <a:defRPr sz="1700" b="0">
                <a:solidFill>
                  <a:srgbClr val="23384F"/>
                </a:solidFill>
                <a:latin typeface="DejaVu Sans"/>
              </a:defRPr>
            </a:pPr>
            <a:r>
              <a:t>Bổ sung Related Manual TC thật</a:t>
            </a:r>
          </a:p>
        </p:txBody>
      </p:sp>
      <p:sp>
        <p:nvSpPr>
          <p:cNvPr id="45" name="Rounded Rectangle 44"/>
          <p:cNvSpPr/>
          <p:nvPr/>
        </p:nvSpPr>
        <p:spPr>
          <a:xfrm>
            <a:off x="530352" y="5632704"/>
            <a:ext cx="11109960" cy="438912"/>
          </a:xfrm>
          <a:prstGeom prst="roundRect">
            <a:avLst>
              <a:gd name="adj" fmla="val 12000"/>
            </a:avLst>
          </a:prstGeom>
          <a:solidFill>
            <a:srgbClr val="FFF2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94944" y="5682996"/>
            <a:ext cx="10789920" cy="338328"/>
          </a:xfrm>
          <a:prstGeom prst="rect">
            <a:avLst/>
          </a:prstGeom>
          <a:noFill/>
        </p:spPr>
        <p:txBody>
          <a:bodyPr wrap="square" lIns="18288" rIns="18288" tIns="18288" bIns="18288">
            <a:spAutoFit/>
          </a:bodyPr>
          <a:lstStyle/>
          <a:p>
            <a:pPr>
              <a:spcAft>
                <a:spcPts val="700"/>
              </a:spcAft>
              <a:defRPr sz="1700" b="1">
                <a:solidFill>
                  <a:srgbClr val="9B6300"/>
                </a:solidFill>
                <a:latin typeface="DejaVu Sans"/>
              </a:defRPr>
            </a:pPr>
            <a:r>
              <a:t>Ảnh cần bổ sung: report Playwright · dòng truy vết · hai ca Fail.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245A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75488" y="265176"/>
            <a:ext cx="10972800" cy="274320"/>
          </a:xfrm>
          <a:prstGeom prst="rect">
            <a:avLst/>
          </a:prstGeom>
          <a:noFill/>
        </p:spPr>
        <p:txBody>
          <a:bodyPr wrap="square" lIns="18288" rIns="18288" tIns="18288" bIns="18288">
            <a:spAutoFit/>
          </a:bodyPr>
          <a:lstStyle/>
          <a:p>
            <a:pPr>
              <a:spcAft>
                <a:spcPts val="700"/>
              </a:spcAft>
              <a:defRPr sz="1100" b="1">
                <a:solidFill>
                  <a:srgbClr val="087F83"/>
                </a:solidFill>
                <a:latin typeface="DejaVu Sans"/>
              </a:defRPr>
            </a:pPr>
            <a:r>
              <a:t>HẠN CHẾ &amp; HƯỚNG PHÁT TRIỂN</a:t>
            </a:r>
          </a:p>
        </p:txBody>
      </p:sp>
      <p:sp>
        <p:nvSpPr>
          <p:cNvPr id="4" name="TextBox 3"/>
          <p:cNvSpPr txBox="1"/>
          <p:nvPr/>
        </p:nvSpPr>
        <p:spPr>
          <a:xfrm>
            <a:off x="475488" y="740664"/>
            <a:ext cx="11201400" cy="640080"/>
          </a:xfrm>
          <a:prstGeom prst="rect">
            <a:avLst/>
          </a:prstGeom>
          <a:noFill/>
        </p:spPr>
        <p:txBody>
          <a:bodyPr wrap="square" lIns="18288" rIns="18288" tIns="18288" bIns="18288">
            <a:spAutoFit/>
          </a:bodyPr>
          <a:lstStyle/>
          <a:p>
            <a:pPr>
              <a:spcAft>
                <a:spcPts val="700"/>
              </a:spcAft>
              <a:defRPr sz="3000" b="1">
                <a:solidFill>
                  <a:srgbClr val="142B49"/>
                </a:solidFill>
                <a:latin typeface="DejaVu Sans"/>
              </a:defRPr>
            </a:pPr>
            <a:r>
              <a:t>Pass có giới hạn về phạm vi và dữ liệu</a:t>
            </a:r>
          </a:p>
        </p:txBody>
      </p:sp>
      <p:sp>
        <p:nvSpPr>
          <p:cNvPr id="5" name="Rectangle 4"/>
          <p:cNvSpPr/>
          <p:nvPr/>
        </p:nvSpPr>
        <p:spPr>
          <a:xfrm>
            <a:off x="502920" y="6419088"/>
            <a:ext cx="11155680" cy="10972"/>
          </a:xfrm>
          <a:prstGeom prst="rect">
            <a:avLst/>
          </a:prstGeom>
          <a:solidFill>
            <a:srgbClr val="DB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8229600" cy="182880"/>
          </a:xfrm>
          <a:prstGeom prst="rect">
            <a:avLst/>
          </a:prstGeom>
          <a:noFill/>
        </p:spPr>
        <p:txBody>
          <a:bodyPr wrap="square" lIns="18288" rIns="18288" tIns="18288" bIns="18288">
            <a:spAutoFit/>
          </a:bodyPr>
          <a:lstStyle/>
          <a:p>
            <a:pPr>
              <a:spcAft>
                <a:spcPts val="700"/>
              </a:spcAft>
              <a:defRPr sz="900" b="0">
                <a:solidFill>
                  <a:srgbClr val="5A6B7E"/>
                </a:solidFill>
                <a:latin typeface="DejaVu Sans"/>
              </a:defRPr>
            </a:pPr>
            <a:r>
              <a:t>NHÓM 11 · 23CN2  |  KIỂM THỬ &amp; ĐẢM BẢO CHẤT LƯỢNG PHẦN MỀM</a:t>
            </a:r>
          </a:p>
        </p:txBody>
      </p:sp>
      <p:sp>
        <p:nvSpPr>
          <p:cNvPr id="7" name="TextBox 6"/>
          <p:cNvSpPr txBox="1"/>
          <p:nvPr/>
        </p:nvSpPr>
        <p:spPr>
          <a:xfrm>
            <a:off x="11064240" y="6473952"/>
            <a:ext cx="548640" cy="228600"/>
          </a:xfrm>
          <a:prstGeom prst="rect">
            <a:avLst/>
          </a:prstGeom>
          <a:noFill/>
        </p:spPr>
        <p:txBody>
          <a:bodyPr wrap="square" lIns="18288" rIns="18288" tIns="18288" bIns="18288">
            <a:spAutoFit/>
          </a:bodyPr>
          <a:lstStyle/>
          <a:p>
            <a:pPr algn="r">
              <a:spcAft>
                <a:spcPts val="700"/>
              </a:spcAft>
              <a:defRPr sz="1200" b="1">
                <a:solidFill>
                  <a:srgbClr val="245AD3"/>
                </a:solidFill>
                <a:latin typeface="DejaVu Sans"/>
              </a:defRPr>
            </a:pPr>
            <a:r>
              <a:t>17</a:t>
            </a:r>
          </a:p>
        </p:txBody>
      </p:sp>
      <p:sp>
        <p:nvSpPr>
          <p:cNvPr id="8" name="TextBox 7"/>
          <p:cNvSpPr txBox="1"/>
          <p:nvPr/>
        </p:nvSpPr>
        <p:spPr>
          <a:xfrm>
            <a:off x="530352" y="6126480"/>
            <a:ext cx="10972800" cy="210312"/>
          </a:xfrm>
          <a:prstGeom prst="rect">
            <a:avLst/>
          </a:prstGeom>
          <a:noFill/>
        </p:spPr>
        <p:txBody>
          <a:bodyPr wrap="square" lIns="18288" rIns="18288" tIns="18288" bIns="18288">
            <a:spAutoFit/>
          </a:bodyPr>
          <a:lstStyle/>
          <a:p>
            <a:pPr>
              <a:spcAft>
                <a:spcPts val="700"/>
              </a:spcAft>
              <a:defRPr sz="900" b="0">
                <a:solidFill>
                  <a:srgbClr val="5A6B7E"/>
                </a:solidFill>
                <a:latin typeface="DejaVu Sans"/>
              </a:defRPr>
            </a:pPr>
            <a:r>
              <a:t>Nguồn: Word §4.4.7, §4.9 và kết luận</a:t>
            </a:r>
          </a:p>
        </p:txBody>
      </p:sp>
      <p:sp>
        <p:nvSpPr>
          <p:cNvPr id="9" name="Rounded Rectangle 8"/>
          <p:cNvSpPr/>
          <p:nvPr/>
        </p:nvSpPr>
        <p:spPr>
          <a:xfrm>
            <a:off x="557784" y="1810512"/>
            <a:ext cx="5385816" cy="3310128"/>
          </a:xfrm>
          <a:prstGeom prst="roundRect">
            <a:avLst>
              <a:gd name="adj" fmla="val 12000"/>
            </a:avLst>
          </a:prstGeom>
          <a:solidFill>
            <a:srgbClr val="FFFFFF"/>
          </a:solidFill>
          <a:ln>
            <a:solidFill>
              <a:srgbClr val="DB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7784" y="1810512"/>
            <a:ext cx="59436" cy="3310128"/>
          </a:xfrm>
          <a:prstGeom prst="rect">
            <a:avLst/>
          </a:prstGeom>
          <a:solidFill>
            <a:srgbClr val="9B6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1956816"/>
            <a:ext cx="5001768" cy="530352"/>
          </a:xfrm>
          <a:prstGeom prst="rect">
            <a:avLst/>
          </a:prstGeom>
          <a:noFill/>
        </p:spPr>
        <p:txBody>
          <a:bodyPr wrap="square" lIns="18288" rIns="18288" tIns="18288" bIns="18288">
            <a:spAutoFit/>
          </a:bodyPr>
          <a:lstStyle/>
          <a:p>
            <a:pPr>
              <a:spcAft>
                <a:spcPts val="700"/>
              </a:spcAft>
              <a:defRPr sz="2000" b="1">
                <a:solidFill>
                  <a:srgbClr val="9B6300"/>
                </a:solidFill>
                <a:latin typeface="DejaVu Sans"/>
              </a:defRPr>
            </a:pPr>
            <a:r>
              <a:t>Giới hạn kết luận</a:t>
            </a:r>
          </a:p>
        </p:txBody>
      </p:sp>
      <p:sp>
        <p:nvSpPr>
          <p:cNvPr id="12" name="TextBox 11"/>
          <p:cNvSpPr txBox="1"/>
          <p:nvPr/>
        </p:nvSpPr>
        <p:spPr>
          <a:xfrm>
            <a:off x="758952" y="2596896"/>
            <a:ext cx="5001768" cy="2423160"/>
          </a:xfrm>
          <a:prstGeom prst="rect">
            <a:avLst/>
          </a:prstGeom>
          <a:noFill/>
        </p:spPr>
        <p:txBody>
          <a:bodyPr wrap="square" lIns="18288" rIns="18288" tIns="18288" bIns="18288">
            <a:spAutoFit/>
          </a:bodyPr>
          <a:lstStyle/>
          <a:p>
            <a:pPr>
              <a:spcAft>
                <a:spcPts val="700"/>
              </a:spcAft>
              <a:defRPr sz="2000" b="0">
                <a:solidFill>
                  <a:srgbClr val="23384F"/>
                </a:solidFill>
                <a:latin typeface="DejaVu Sans"/>
              </a:defRPr>
            </a:pPr>
            <a:r>
              <a:t>Chỉ xác nhận điều kiện đã kiểm tra</a:t>
            </a:r>
          </a:p>
          <a:p>
            <a:pPr>
              <a:spcAft>
                <a:spcPts val="700"/>
              </a:spcAft>
              <a:defRPr sz="2000" b="0">
                <a:solidFill>
                  <a:srgbClr val="23384F"/>
                </a:solidFill>
                <a:latin typeface="DejaVu Sans"/>
              </a:defRPr>
            </a:pPr>
            <a:r>
              <a:t>Phụ thuộc phiên bản và snapshot</a:t>
            </a:r>
          </a:p>
          <a:p>
            <a:pPr>
              <a:spcAft>
                <a:spcPts val="700"/>
              </a:spcAft>
              <a:defRPr sz="2000" b="0">
                <a:solidFill>
                  <a:srgbClr val="23384F"/>
                </a:solidFill>
                <a:latin typeface="DejaVu Sans"/>
              </a:defRPr>
            </a:pPr>
            <a:r>
              <a:t>Không chứng minh chính xác benchmark</a:t>
            </a:r>
          </a:p>
          <a:p>
            <a:pPr>
              <a:spcAft>
                <a:spcPts val="700"/>
              </a:spcAft>
              <a:defRPr sz="2000" b="0">
                <a:solidFill>
                  <a:srgbClr val="23384F"/>
                </a:solidFill>
                <a:latin typeface="DejaVu Sans"/>
              </a:defRPr>
            </a:pPr>
            <a:r>
              <a:t>Chưa có bằng chứng tải / bảo mật sâu</a:t>
            </a:r>
          </a:p>
        </p:txBody>
      </p:sp>
      <p:sp>
        <p:nvSpPr>
          <p:cNvPr id="13" name="Rounded Rectangle 12"/>
          <p:cNvSpPr/>
          <p:nvPr/>
        </p:nvSpPr>
        <p:spPr>
          <a:xfrm>
            <a:off x="6208776" y="1810512"/>
            <a:ext cx="5385816" cy="3310128"/>
          </a:xfrm>
          <a:prstGeom prst="roundRect">
            <a:avLst>
              <a:gd name="adj" fmla="val 12000"/>
            </a:avLst>
          </a:prstGeom>
          <a:solidFill>
            <a:srgbClr val="FFFFFF"/>
          </a:solidFill>
          <a:ln>
            <a:solidFill>
              <a:srgbClr val="DB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08776" y="1810512"/>
            <a:ext cx="59436" cy="3310128"/>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956816"/>
            <a:ext cx="5001768" cy="530352"/>
          </a:xfrm>
          <a:prstGeom prst="rect">
            <a:avLst/>
          </a:prstGeom>
          <a:noFill/>
        </p:spPr>
        <p:txBody>
          <a:bodyPr wrap="square" lIns="18288" rIns="18288" tIns="18288" bIns="18288">
            <a:spAutoFit/>
          </a:bodyPr>
          <a:lstStyle/>
          <a:p>
            <a:pPr>
              <a:spcAft>
                <a:spcPts val="700"/>
              </a:spcAft>
              <a:defRPr sz="2000" b="1">
                <a:solidFill>
                  <a:srgbClr val="087F83"/>
                </a:solidFill>
                <a:latin typeface="DejaVu Sans"/>
              </a:defRPr>
            </a:pPr>
            <a:r>
              <a:t>Bước tiếp theo</a:t>
            </a:r>
          </a:p>
        </p:txBody>
      </p:sp>
      <p:sp>
        <p:nvSpPr>
          <p:cNvPr id="16" name="TextBox 15"/>
          <p:cNvSpPr txBox="1"/>
          <p:nvPr/>
        </p:nvSpPr>
        <p:spPr>
          <a:xfrm>
            <a:off x="6409944" y="2596896"/>
            <a:ext cx="5001768" cy="2423160"/>
          </a:xfrm>
          <a:prstGeom prst="rect">
            <a:avLst/>
          </a:prstGeom>
          <a:noFill/>
        </p:spPr>
        <p:txBody>
          <a:bodyPr wrap="square" lIns="18288" rIns="18288" tIns="18288" bIns="18288">
            <a:spAutoFit/>
          </a:bodyPr>
          <a:lstStyle/>
          <a:p>
            <a:pPr>
              <a:spcAft>
                <a:spcPts val="700"/>
              </a:spcAft>
              <a:defRPr sz="2000" b="0">
                <a:solidFill>
                  <a:srgbClr val="23384F"/>
                </a:solidFill>
                <a:latin typeface="DejaVu Sans"/>
              </a:defRPr>
            </a:pPr>
            <a:r>
              <a:t>Retest hai ca Manual Fail</a:t>
            </a:r>
          </a:p>
          <a:p>
            <a:pPr>
              <a:spcAft>
                <a:spcPts val="700"/>
              </a:spcAft>
              <a:defRPr sz="2000" b="0">
                <a:solidFill>
                  <a:srgbClr val="23384F"/>
                </a:solidFill>
                <a:latin typeface="DejaVu Sans"/>
              </a:defRPr>
            </a:pPr>
            <a:r>
              <a:t>Đồng bộ Excel, ảnh và báo cáo</a:t>
            </a:r>
          </a:p>
          <a:p>
            <a:pPr>
              <a:spcAft>
                <a:spcPts val="700"/>
              </a:spcAft>
              <a:defRPr sz="2000" b="0">
                <a:solidFill>
                  <a:srgbClr val="23384F"/>
                </a:solidFill>
                <a:latin typeface="DejaVu Sans"/>
              </a:defRPr>
            </a:pPr>
            <a:r>
              <a:t>Thêm fixture biên / lỗi dữ liệu</a:t>
            </a:r>
          </a:p>
          <a:p>
            <a:pPr>
              <a:spcAft>
                <a:spcPts val="700"/>
              </a:spcAft>
              <a:defRPr sz="2000" b="0">
                <a:solidFill>
                  <a:srgbClr val="23384F"/>
                </a:solidFill>
                <a:latin typeface="DejaVu Sans"/>
              </a:defRPr>
            </a:pPr>
            <a:r>
              <a:t>Mở rộng môi trường và hồi quy</a:t>
            </a:r>
          </a:p>
        </p:txBody>
      </p:sp>
      <p:sp>
        <p:nvSpPr>
          <p:cNvPr id="17" name="Rounded Rectangle 16"/>
          <p:cNvSpPr/>
          <p:nvPr/>
        </p:nvSpPr>
        <p:spPr>
          <a:xfrm>
            <a:off x="530352" y="5559552"/>
            <a:ext cx="11109960" cy="438912"/>
          </a:xfrm>
          <a:prstGeom prst="roundRect">
            <a:avLst>
              <a:gd name="adj" fmla="val 12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4944" y="5609844"/>
            <a:ext cx="10789920" cy="338328"/>
          </a:xfrm>
          <a:prstGeom prst="rect">
            <a:avLst/>
          </a:prstGeom>
          <a:noFill/>
        </p:spPr>
        <p:txBody>
          <a:bodyPr wrap="square" lIns="18288" rIns="18288" tIns="18288" bIns="18288">
            <a:spAutoFit/>
          </a:bodyPr>
          <a:lstStyle/>
          <a:p>
            <a:pPr>
              <a:spcAft>
                <a:spcPts val="700"/>
              </a:spcAft>
              <a:defRPr sz="2000" b="1">
                <a:solidFill>
                  <a:srgbClr val="087F83"/>
                </a:solidFill>
                <a:latin typeface="DejaVu Sans"/>
              </a:defRPr>
            </a:pPr>
            <a:r>
              <a:t>Kết quả Pass không đồng nghĩa phần mềm hoàn toàn không có lỗi.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245A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75488" y="265176"/>
            <a:ext cx="10972800" cy="274320"/>
          </a:xfrm>
          <a:prstGeom prst="rect">
            <a:avLst/>
          </a:prstGeom>
          <a:noFill/>
        </p:spPr>
        <p:txBody>
          <a:bodyPr wrap="square" lIns="18288" rIns="18288" tIns="18288" bIns="18288">
            <a:spAutoFit/>
          </a:bodyPr>
          <a:lstStyle/>
          <a:p>
            <a:pPr>
              <a:spcAft>
                <a:spcPts val="700"/>
              </a:spcAft>
              <a:defRPr sz="1100" b="1">
                <a:solidFill>
                  <a:srgbClr val="087F83"/>
                </a:solidFill>
                <a:latin typeface="DejaVu Sans"/>
              </a:defRPr>
            </a:pPr>
            <a:r>
              <a:t>KIỂM THỬ GIÚP ĐÁNH GIÁ CÓ CĂN CỨ</a:t>
            </a:r>
          </a:p>
        </p:txBody>
      </p:sp>
      <p:sp>
        <p:nvSpPr>
          <p:cNvPr id="4" name="TextBox 3"/>
          <p:cNvSpPr txBox="1"/>
          <p:nvPr/>
        </p:nvSpPr>
        <p:spPr>
          <a:xfrm>
            <a:off x="475488" y="740664"/>
            <a:ext cx="11201400" cy="640080"/>
          </a:xfrm>
          <a:prstGeom prst="rect">
            <a:avLst/>
          </a:prstGeom>
          <a:noFill/>
        </p:spPr>
        <p:txBody>
          <a:bodyPr wrap="square" lIns="18288" rIns="18288" tIns="18288" bIns="18288">
            <a:spAutoFit/>
          </a:bodyPr>
          <a:lstStyle/>
          <a:p>
            <a:pPr>
              <a:spcAft>
                <a:spcPts val="700"/>
              </a:spcAft>
              <a:defRPr sz="3000" b="1">
                <a:solidFill>
                  <a:srgbClr val="142B49"/>
                </a:solidFill>
                <a:latin typeface="DejaVu Sans"/>
              </a:defRPr>
            </a:pPr>
            <a:r>
              <a:t>Kết luận · chuyển sang demo và hỏi đáp</a:t>
            </a:r>
          </a:p>
        </p:txBody>
      </p:sp>
      <p:sp>
        <p:nvSpPr>
          <p:cNvPr id="5" name="Rectangle 4"/>
          <p:cNvSpPr/>
          <p:nvPr/>
        </p:nvSpPr>
        <p:spPr>
          <a:xfrm>
            <a:off x="502920" y="6419088"/>
            <a:ext cx="11155680" cy="10972"/>
          </a:xfrm>
          <a:prstGeom prst="rect">
            <a:avLst/>
          </a:prstGeom>
          <a:solidFill>
            <a:srgbClr val="DB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8229600" cy="182880"/>
          </a:xfrm>
          <a:prstGeom prst="rect">
            <a:avLst/>
          </a:prstGeom>
          <a:noFill/>
        </p:spPr>
        <p:txBody>
          <a:bodyPr wrap="square" lIns="18288" rIns="18288" tIns="18288" bIns="18288">
            <a:spAutoFit/>
          </a:bodyPr>
          <a:lstStyle/>
          <a:p>
            <a:pPr>
              <a:spcAft>
                <a:spcPts val="700"/>
              </a:spcAft>
              <a:defRPr sz="900" b="0">
                <a:solidFill>
                  <a:srgbClr val="5A6B7E"/>
                </a:solidFill>
                <a:latin typeface="DejaVu Sans"/>
              </a:defRPr>
            </a:pPr>
            <a:r>
              <a:t>NHÓM 11 · 23CN2  |  KIỂM THỬ &amp; ĐẢM BẢO CHẤT LƯỢNG PHẦN MỀM</a:t>
            </a:r>
          </a:p>
        </p:txBody>
      </p:sp>
      <p:sp>
        <p:nvSpPr>
          <p:cNvPr id="7" name="TextBox 6"/>
          <p:cNvSpPr txBox="1"/>
          <p:nvPr/>
        </p:nvSpPr>
        <p:spPr>
          <a:xfrm>
            <a:off x="11064240" y="6473952"/>
            <a:ext cx="548640" cy="228600"/>
          </a:xfrm>
          <a:prstGeom prst="rect">
            <a:avLst/>
          </a:prstGeom>
          <a:noFill/>
        </p:spPr>
        <p:txBody>
          <a:bodyPr wrap="square" lIns="18288" rIns="18288" tIns="18288" bIns="18288">
            <a:spAutoFit/>
          </a:bodyPr>
          <a:lstStyle/>
          <a:p>
            <a:pPr algn="r">
              <a:spcAft>
                <a:spcPts val="700"/>
              </a:spcAft>
              <a:defRPr sz="1200" b="1">
                <a:solidFill>
                  <a:srgbClr val="245AD3"/>
                </a:solidFill>
                <a:latin typeface="DejaVu Sans"/>
              </a:defRPr>
            </a:pPr>
            <a:r>
              <a:t>18</a:t>
            </a:r>
          </a:p>
        </p:txBody>
      </p:sp>
      <p:sp>
        <p:nvSpPr>
          <p:cNvPr id="8" name="TextBox 7"/>
          <p:cNvSpPr txBox="1"/>
          <p:nvPr/>
        </p:nvSpPr>
        <p:spPr>
          <a:xfrm>
            <a:off x="594360" y="1700784"/>
            <a:ext cx="10972800" cy="1828800"/>
          </a:xfrm>
          <a:prstGeom prst="rect">
            <a:avLst/>
          </a:prstGeom>
          <a:noFill/>
        </p:spPr>
        <p:txBody>
          <a:bodyPr wrap="square" lIns="18288" rIns="18288" tIns="18288" bIns="18288">
            <a:spAutoFit/>
          </a:bodyPr>
          <a:lstStyle/>
          <a:p>
            <a:pPr>
              <a:spcAft>
                <a:spcPts val="700"/>
              </a:spcAft>
              <a:defRPr sz="3000" b="1">
                <a:solidFill>
                  <a:srgbClr val="142B49"/>
                </a:solidFill>
                <a:latin typeface="DejaVu Sans"/>
              </a:defRPr>
            </a:pPr>
            <a:r>
              <a:t>Thiết kế rõ kỳ vọng</a:t>
            </a:r>
          </a:p>
          <a:p>
            <a:pPr>
              <a:spcAft>
                <a:spcPts val="700"/>
              </a:spcAft>
              <a:defRPr sz="3000" b="1">
                <a:solidFill>
                  <a:srgbClr val="142B49"/>
                </a:solidFill>
                <a:latin typeface="DejaVu Sans"/>
              </a:defRPr>
            </a:pPr>
            <a:r>
              <a:t>Kết hợp thủ công và tự động</a:t>
            </a:r>
          </a:p>
          <a:p>
            <a:pPr>
              <a:spcAft>
                <a:spcPts val="700"/>
              </a:spcAft>
              <a:defRPr sz="3000" b="1">
                <a:solidFill>
                  <a:srgbClr val="142B49"/>
                </a:solidFill>
                <a:latin typeface="DejaVu Sans"/>
              </a:defRPr>
            </a:pPr>
            <a:r>
              <a:t>Giữ kết luận gắn với minh chứng</a:t>
            </a:r>
          </a:p>
        </p:txBody>
      </p:sp>
      <p:sp>
        <p:nvSpPr>
          <p:cNvPr id="9" name="Rounded Rectangle 8"/>
          <p:cNvSpPr/>
          <p:nvPr/>
        </p:nvSpPr>
        <p:spPr>
          <a:xfrm>
            <a:off x="576072" y="3931920"/>
            <a:ext cx="11036808" cy="1353312"/>
          </a:xfrm>
          <a:prstGeom prst="roundRect">
            <a:avLst>
              <a:gd name="adj" fmla="val 12000"/>
            </a:avLst>
          </a:prstGeom>
          <a:solidFill>
            <a:srgbClr val="FFFFFF"/>
          </a:solidFill>
          <a:ln>
            <a:solidFill>
              <a:srgbClr val="DB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4105656"/>
            <a:ext cx="2743200" cy="384048"/>
          </a:xfrm>
          <a:prstGeom prst="rect">
            <a:avLst/>
          </a:prstGeom>
          <a:noFill/>
        </p:spPr>
        <p:txBody>
          <a:bodyPr wrap="square" lIns="18288" rIns="18288" tIns="18288" bIns="18288">
            <a:spAutoFit/>
          </a:bodyPr>
          <a:lstStyle/>
          <a:p>
            <a:pPr>
              <a:spcAft>
                <a:spcPts val="700"/>
              </a:spcAft>
              <a:defRPr sz="2300" b="1">
                <a:solidFill>
                  <a:srgbClr val="087F83"/>
                </a:solidFill>
                <a:latin typeface="DejaVu Sans"/>
              </a:defRPr>
            </a:pPr>
            <a:r>
              <a:t>Demo gợi ý</a:t>
            </a:r>
          </a:p>
        </p:txBody>
      </p:sp>
      <p:sp>
        <p:nvSpPr>
          <p:cNvPr id="11" name="TextBox 10"/>
          <p:cNvSpPr txBox="1"/>
          <p:nvPr/>
        </p:nvSpPr>
        <p:spPr>
          <a:xfrm>
            <a:off x="786384" y="4572000"/>
            <a:ext cx="10424160" cy="685800"/>
          </a:xfrm>
          <a:prstGeom prst="rect">
            <a:avLst/>
          </a:prstGeom>
          <a:noFill/>
        </p:spPr>
        <p:txBody>
          <a:bodyPr wrap="square" lIns="18288" rIns="18288" tIns="18288" bIns="18288">
            <a:spAutoFit/>
          </a:bodyPr>
          <a:lstStyle/>
          <a:p>
            <a:pPr>
              <a:spcAft>
                <a:spcPts val="700"/>
              </a:spcAft>
              <a:defRPr sz="1800" b="0">
                <a:solidFill>
                  <a:srgbClr val="23384F"/>
                </a:solidFill>
                <a:latin typeface="DejaVu Sans"/>
              </a:defRPr>
            </a:pPr>
            <a:r>
              <a:t>PM-029: gửi request và đối chiếu tiền còn lại</a:t>
            </a:r>
          </a:p>
          <a:p>
            <a:pPr>
              <a:spcAft>
                <a:spcPts val="700"/>
              </a:spcAft>
              <a:defRPr sz="1800" b="0">
                <a:solidFill>
                  <a:srgbClr val="23384F"/>
                </a:solidFill>
                <a:latin typeface="DejaVu Sans"/>
              </a:defRPr>
            </a:pPr>
            <a:r>
              <a:t>Mở Runner / report Playwright đúng bộ PC-DSS</a:t>
            </a:r>
          </a:p>
        </p:txBody>
      </p:sp>
      <p:sp>
        <p:nvSpPr>
          <p:cNvPr id="12" name="TextBox 11"/>
          <p:cNvSpPr txBox="1"/>
          <p:nvPr/>
        </p:nvSpPr>
        <p:spPr>
          <a:xfrm>
            <a:off x="603504" y="5559552"/>
            <a:ext cx="10972800" cy="448056"/>
          </a:xfrm>
          <a:prstGeom prst="rect">
            <a:avLst/>
          </a:prstGeom>
          <a:noFill/>
        </p:spPr>
        <p:txBody>
          <a:bodyPr wrap="square" lIns="18288" rIns="18288" tIns="18288" bIns="18288">
            <a:spAutoFit/>
          </a:bodyPr>
          <a:lstStyle/>
          <a:p>
            <a:pPr>
              <a:spcAft>
                <a:spcPts val="700"/>
              </a:spcAft>
              <a:defRPr sz="2800" b="1">
                <a:solidFill>
                  <a:srgbClr val="245AD3"/>
                </a:solidFill>
                <a:latin typeface="DejaVu Sans"/>
              </a:defRPr>
            </a:pPr>
            <a:r>
              <a:t>Cảm ơn cô và các bạn!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Nhóm 11 – Kiểm thử PC-DSS với Postman và Playwright</dc:title>
  <dc:subject>Kiểm thử và Đảm bảo chất lượng phần mềm · 23CN2</dc:subject>
  <dc:creator>Nhóm 11 – 23CN2</dc:creator>
  <cp:keywords>Postman, Playwright, Manual UI, PC-DSS, kiểm thử</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